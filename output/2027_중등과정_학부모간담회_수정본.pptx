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26" r:id="rId77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Relationship Id="rId77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F8AA9-5AFA-40F1-A2E0-E53F11D79677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DFAF13-71E0-4043-BC23-6E1FFB6E06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16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인사</a:t>
            </a:r>
            <a:r>
              <a:rPr lang="en-US" altLang="ko-KR"/>
              <a:t>. </a:t>
            </a:r>
            <a:r>
              <a:rPr lang="ko-KR" altLang="en-US"/>
              <a:t>오늘 </a:t>
            </a:r>
            <a:r>
              <a:rPr lang="en-US" altLang="ko-KR"/>
              <a:t>60~90</a:t>
            </a:r>
            <a:r>
              <a:rPr lang="ko-KR" altLang="en-US"/>
              <a:t>분</a:t>
            </a:r>
            <a:r>
              <a:rPr lang="en-US" altLang="ko-KR"/>
              <a:t>. 1</a:t>
            </a:r>
            <a:r>
              <a:rPr lang="ko-KR" altLang="en-US"/>
              <a:t>부 입시 제도</a:t>
            </a:r>
            <a:r>
              <a:rPr lang="en-US" altLang="ko-KR"/>
              <a:t>, 2</a:t>
            </a:r>
            <a:r>
              <a:rPr lang="ko-KR" altLang="en-US"/>
              <a:t>부 우리 학원이 하는 일</a:t>
            </a:r>
            <a:r>
              <a:rPr lang="en-US" altLang="ko-KR"/>
              <a:t>. </a:t>
            </a:r>
            <a:r>
              <a:rPr lang="ko-KR" altLang="en-US"/>
              <a:t>질문은 중간에도 받겠다고 안내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87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'</a:t>
            </a:r>
            <a:r>
              <a:rPr lang="ko-KR" altLang="en-US"/>
              <a:t>앞의 다섯은 제도 이야기</a:t>
            </a:r>
            <a:r>
              <a:rPr lang="en-US" altLang="ko-KR"/>
              <a:t>, </a:t>
            </a:r>
            <a:r>
              <a:rPr lang="ko-KR" altLang="en-US"/>
              <a:t>마지막이 저희 이야기입니다</a:t>
            </a:r>
            <a:r>
              <a:rPr lang="en-US" altLang="ko-KR"/>
              <a:t>. </a:t>
            </a:r>
            <a:r>
              <a:rPr lang="ko-KR" altLang="en-US"/>
              <a:t>제도를 먼저 아셔야 저희가 왜 그렇게 하는지 이해되실 겁니다</a:t>
            </a:r>
            <a:r>
              <a:rPr lang="en-US" altLang="ko-KR"/>
              <a:t>.'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603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오늘 첫 장부터 표를 보여 드리는 이유가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표에서 내 아이 줄을 못 찾으면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오늘 제가 드리는 말씀이 전부 남의 이야기가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잠깐 시간을 드릴 테니 우리 아이 줄을 찾아 주세요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학년에서 고등학교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학년이 되는 해를 세고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거기서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년을 더하면 대입 연도가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2026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 기준으로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대입 연도는 수능 보는 해가 아니라 그 다음 해입니다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2027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수능을 보면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 대입입니다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학부모들이 가장 많이 헷갈리는 지점입니다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입시 뉴스가 두 가지가 섞여서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하나는 이미 확정된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다른 하나는 아직 논의 중인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2033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 아이가 어느 쪽인지 모르면 필요 없는 걱정을 하거나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반대로 대비해야 할 것을 놓칩니다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표를 보시면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학년부터 새 제도가 적용됩니다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우리 아이가 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년에서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뒤입니다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 사이에 제도는 한 번 더 바뀝니다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오늘 저는 확정된 것과 아직 정해지지 않은 것을 나눠서 말씀드리겠습니다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아이는 아직 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인데 지금부터 입시를 알아야 하나요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입시를 준비하시라는 게 아니라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방향을 아시라는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중학교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동안 쌓이는 것이 고등학교에서 그대로 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특히 출결과 공부 습관은 지금 만들어집니다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학년도라는 말이 헷갈립니다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대학에 입학하는 해입니다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2027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수능을 보고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입학하면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 대입입니다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보는 해보다 한 해 뒤라고 기억하시면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444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요즘 입시 이야기가 어지러운 이유가 여기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개편이 하나가 아니라 둘입니다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왼쪽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개편은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 교육부가 확정 발표한 안입니다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2025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입학생부터 적용되고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 수능은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이건 끝난 이야기입니다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오른쪽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2033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개편은 국가교육위원회가 지금 논의 중인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2026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 말 시안을 공개하고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공론화를 거쳐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최종안을 확정합니다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아직 아무것도 정해지지 않았습니다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2028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개편이 시행되기도 전에 다음 개편 논의가 시작된 것을 두고 입시업계에서도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시기상조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라는 말이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정부가 바뀌면서 대입 방향을 다시 잡으려는 흐름 때문입니다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학부모 입장에서는 혼란스럽지만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방향 자체는 두 개편이 크게 다르지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왼쪽은 확정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오른쪽은 논의 중입니다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오늘 제 슬라이드 왼쪽 위를 보시면 초록색으로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이라고 쓰여 있거나 주황색으로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검토 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이라고 쓰여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 표시를 보고 들어 주십시오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섞어서 들으시면 불필요하게 불안해집니다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그럼 우리 아이 때는 또 바뀌는 건가요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큰 골격은 이어집니다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선택과목 없이 다 같은 시험을 보는 것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내신을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등급으로 하는 것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서술형을 늘리는 것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방향은 두 개편이 같습니다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세부만 달라집니다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2837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한 장에 정리했습니다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왼쪽이 확정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오른쪽이 논의 중입니다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과목은 선택과목이 폐지되어 통합형으로 확정됐고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논의 중인 것은 전 과목 절대평가 전환입니다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문항은 지금처럼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지선다가 확정이고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서술형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논술형 도입이 논의 중입니다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고교 내신은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등급에서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상대평가로 확정됐고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이걸 절대평가로 바꾸는 것이 논의 중입니다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전형 시기는 수시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80.8%,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19.2%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확정된 숫자이고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수시와 정시를 통합하는 것이 논의 중입니다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영어는 절대평가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그대로 유지됩니다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오른쪽 내용이 기사에 크게 났었습니다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국가교육위원회가 지난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직접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확정된 바 없다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 밝혔습니다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저는 확정되지 않은 것을 확정된 것처럼 말씀드리지 않겠습니다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방향은 읽어 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뉴스에서는 다 정해진 것처럼 나오던데요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언론이 시안 초안을 먼저 보도한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국교위가 바로 다음 날 해명 자료를 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10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 말에 공식 시안이 나오면 그때 정확히 말씀드리겠습니다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665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오늘 세 가지를 보시게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제도가 어디로 가는지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 안에서 영어가 어디 있는지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중등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동안 무엇을 쌓아야 하는지입니다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결론을 미리 말씀드리겠습니다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지금은 바꿀 때가 아니라 쌓을 때입니다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제도가 흔들릴 때 학원을 옮기거나 과목을 바꾸는 분들이 계신데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대개 손해를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오늘 제 이야기의 결론은 그겁니다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873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2028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개편의 핵심은 이 한 장입니다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모든 학생이 같은 시험을 보게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국어는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문항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선택과목이 없어집니다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지금까지 있던 화법과작문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언어와매체 선택이 폐지됩니다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수학은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문항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확률과통계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미적분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기하 선택이 폐지됩니다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탐구는 사회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과목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과학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과목 중에서 두 개를 고르던 방식이 없어지고 통합사회와 통합과학을 모두 필수로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문항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문항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70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구조가 바뀌지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선택과목 때문에 생기는 유불리 문제가 컸습니다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같은 실력이어도 어느 과목을 골랐느냐에 따라 표준점수가 달라져서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과목 선택이 전략이 되어 버렸습니다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특히 수학에서 미적분을 고른 학생이 확률과통계를 고른 학생보다 유리한 구조가 논란이었습니다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모두 같은 시험을 보게 만든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지금까지는 어떤 과목을 고르느냐가 점수를 좌우했습니다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중학교 때부터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이과 갈 거니까 미적분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하는 이야기가 나왔죠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그게 없어집니다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모두 같은 시험을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표에서 영어 줄을 보시면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영어만 구조가 그대로입니다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탐구를 둘 다 봐야 하면 공부량이 늘어나는 것 아닌가요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범위는 통합사회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통합과학이라 지금 선택과목보다 얕습니다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대신 넓어집니다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깊게 두 과목이 아니라 얕게 두 영역이라고 보시면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012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수능만 바뀌는 게 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학교에서 배우는 내용 자체가 바뀌었습니다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2022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개정 교육과정입니다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핵심은 학생이 스스로 진로와 학업을 설계하도록 바꾸는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초등은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학년부터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학년까지 선택 교과목이 도입됩니다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중등은 자유학기제가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년에서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학기로 줄었습니다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고등은 고교학점제가 시행됩니다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전 과정 공통으로 정보 교육이 강화됩니다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시행 시기는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1·2, 2025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3·4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와 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1, 2026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5·6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 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2, 2027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전 학년입니다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지금까지 교육과정은 모든 학생이 같은 것을 같은 순서로 배우는 구조였습니다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진로가 다양해지고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지식 전달을 대신하게 되면서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무엇을 아느냐보다 무엇을 할 수 있느냐로 평가 기준이 옮겨가고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학생이 직접 고르게 만든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아이는 이미 적용 대상입니다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올해 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새 교육과정으로 배우고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형 누나 때 이야기를 그대로 들으시면 안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자유학기제가 줄었다는 건 좋은 건가요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동안 시험이 없던 것이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학기로 줄었습니다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학력 저하 지적이 많았기 때문입니다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학부모 입장에서는 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1 2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학기부터 시험이 시작되니 대비 기간이 짧아진 셈입니다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527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장이 오늘 가장 중요한 제도 변화입니다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고등학교가 대학처럼 바뀝니다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고교학점제는 학생이 진로와 적성에 따라 과목을 골라 듣고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이수 학점이 졸업 기준에 도달하면 졸업을 인정하는 제도입니다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2025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부터 전면 시행됐습니다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과거에는 출석 일수만 채우면 졸업이었습니다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이제는 출석에 더해 학점을 따야 졸업합니다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과목별로 출석률과 성취율 기준을 넘지 못하면 미이수가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수업도 학급별 시간표에서 학생 개인별 시간표로 바뀝니다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소속 학교 교사 수업만 듣던 것에서 다른 학교 수업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온라인 수업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 밖 전문가 수업까지 들을 수 있게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고등학교를 다양화하려던 정책이 오히려 서열화를 낳았다는 반성이 있었습니다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학교를 나누는 대신 한 학교 안에서 학생별 맞춤 교육을 하자는 것이 고교학점제의 취지입니다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지금까지는 학교만 다니면 졸업이 됐습니다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이제는 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과목마다 기준을 넘어야 학점이 나오고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학점이 모자라면 졸업이 안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중학교 때 공부 습관이 안 잡힌 아이는 고등학교에서 바로 드러납니다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예전에는 버틸 수 있었는데 이제는 버틸 수가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그럼 유급이 생기는 건가요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미이수가 나오면 보충 과정을 이수해서 채웁니다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온라인으로 학점을 딸 수 있는 플랫폼도 마련됐고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2026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학년도부터는 선택 과목의 경우 출석률만 충족하면 이수로 인정하도록 기준이 완화됐습니다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초기의 미이수 공포는 많이 줄었습니다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과목을 아이가 고른다는데 잘 고를 수 있을까요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중학교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동안 진로를 탐색하게 하는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학교에 진로 상담 교사가 있고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때 담임과 함께 설계합니다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부모님이 대신 골라 주시면 안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학생부에 그 흔적이 남습니다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0863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 과목이 네 종류로 나뉩니다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표는 외우실 필요 없고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 줄만 보시면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공통과목은 모든 학생이 듣습니다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국어는 공통국어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1·2,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수학은 공통수학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1·2,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영어는 공통영어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1·2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주로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때 듣습니다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일반선택은 학문 영역별 주요 내용입니다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영어는 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Ⅰ·Ⅱ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와 영어 독해와 작문입니다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수능에 나오는 범위가 여기까지입니다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진로선택은 심화 과목입니다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영미문학읽기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심화 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영어발표와 토론이 여기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융합선택은 실생활 응용입니다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실생활 영어 회화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미디어 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세계 문화와 영어입니다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영어는 공통영어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1·2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기준선입니다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때 이걸 못 따라가면 그 위로 올라갈 수가 없고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선택의 폭이 좁아집니다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대학이 학생부를 볼 때 어떤 과목을 골랐는지를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심화 영어를 들은 학생과 실생활 회화만 들은 학생은 다르게 읽힙니다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어떤 과목을 골라야 유리한가요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진로에 맞는 과목을 고르는 것이 원칙입니다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영어는 어느 진로든 공통영어와 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Ⅰ·Ⅱ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까지는 확실히 해 두셔야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그게 수능 범위입니다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650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앞 장의 네 종류 중에서 수능에 나오는 것은 어디까지인가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장이 답입니다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수능에 나오는 것은 공통과목과 일반선택까지입니다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진로선택과 융합선택은 수능에 나오지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그럼 진로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융합은 왜 듣느냐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학생부로 평가받습니다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대학이 학종에서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학생이 자기 진로를 위해 무엇을 골라 들었나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를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수능에 안 나온다고 진로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융합 과목을 대충 들으면 안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수능으로 가는 문은 전체의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나머지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는 학생부를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진로 과목에서 무엇을 했는지가 그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의 재료입니다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478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장은 천천히 보시겠습니다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오늘 숫자 중에 가장 중요한 표입니다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지금까지 고교 내신은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상위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4%, 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11%, 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23%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였습니다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2028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개편부터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10%, 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등급까지 누적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34%, 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등급까지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66%, 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등급까지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90%, 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함께 바뀌는 것이 세 가지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1·2·3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전 학년 전 과목이 같은 체제가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 성취도와 상대평가 등급을 함께 표기합니다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논술형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서술형 평가가 확대됩니다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면 한 반에 한 명입니다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학교가 작으면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아예 안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내신 때문에 작은 학교를 피하고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아이들끼리 필기를 안 빌려주는 일까지 벌어졌습니다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경쟁을 완화하려고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폭을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로 넓힌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넓어지면 변별이 줄어듭니다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내신만으로 줄을 세울 수 없게 되니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대학은 다른 것을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그게 세특이고 학생부입니다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연결을 말씀하셔야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받기가 쉬워진 것처럼 보이시죠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반대로 생각해 보셔야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열 명 중 한 명이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등급끼리는 구분이 안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그러면 대학은 무엇으로 뽑을까요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학생부를 읽습니다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내신 등급보다 선생님이 써 주는 세특이 더 중요해졌습니다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그럼 내신 공부를 덜 해도 되나요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안에 들어가야 하는 건 똑같습니다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등급을 받은 뒤가 달라졌습니다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예전에는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곧 경쟁력이었는데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이제는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등급은 입장권이고 그 다음이 승부입니다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절대평가와 상대평가를 같이 쓴다는 게 무슨 뜻인가요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성적표에 두 가지가 다 찍힙니다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 이상이면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라는 성취도가 하나 나오고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반에서 몇 등인지에 따른 등급이 또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대학은 둘 다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847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앞에서 말씀드린 등급이 실제로 성적표에 어떻게 찍히는지 보여 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보통교과는 원점수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성취도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부터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E,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석차등급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통계정보가 모두 기재됩니다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사회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과학 융합선택 과목은 석차등급이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성취도만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체육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예술과 과학탐구실험은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A·B·C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 단계만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교양 과목은 이수 여부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P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만 표시됩니다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융합선택 과목에 등급이 없다는 것이 전략이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부담 없이 진로 관련 과목을 들을 수 있다는 뜻입니다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여기 보시면 융합선택은 등급이 안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그러니까 내신 부담 없이 관심 있는 과목을 들을 수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어떤 과목을 고르느냐가 그 자체로 전략이 되는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때 담임 선생님과 상담하실 때 이 표를 기억하십시오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467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여기서부터는 아직 확정되지 않은 이야기입니다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우리 아이에게는 이쪽이 진짜입니다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국가교육위원회가 새 대입 제도를 논의하고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적용 시점으로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초등학교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학년이 치르는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유력하게 거론되고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내신 절대평가는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고교 진학자부터 논의되고 있는데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정확히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2030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년에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여기서 목소리를 낮추고 한 박자 쉬십시오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학부모가 가장 집중하는 대목입니다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반드시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아직 확정되지 않았습니다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를 붙이십시오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2028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안은 형들 제도입니다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만들어지고 있는 것이 우리 아이 제도입니다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아직 확정된 것은 하나도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윤곽이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7592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논의되는 것은 크게 세 가지입니다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전 과목 절대평가입니다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지금은 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한국사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외국어만 절대평가인데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탐구까지 넓히고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 이상을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등급으로 하는 안이 거론됩니다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둘째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수능에 서술형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논술형 문항을 도입하는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고교 내신은 이미 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논술형이 최대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까지 반영되고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셋째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수시와 정시 시기를 통합하는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AI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시대에 답을 고르는 능력은 의미가 줄었다는 문제의식입니다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문제를 정의하고 근거를 들어 자기 생각을 설명하는 능력을 봐야 한다는 것이 찬성 측 논리입니다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셋 다 한 방향을 가리킵니다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고르는 시험에서 쓰는 시험으로 가는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이건 확정이든 아니든 방향은 이미 정해진 것으로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내신에서는 이미 서술형이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까지 왔으니까요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수능을 논술로 본다는 게 가능한가요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채점은 어떻게 하나요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그게 가장 큰 쟁점입니다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50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만 명 답안을 채점하려면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를 써야 하는데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찬성하는 쪽조차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"AI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는 보조 수단이지 신뢰의 전부가 될 수 없다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 선을 긋고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저는 전면 도입보다는 일부 과목에 낮은 비중으로 시작할 가능성이 높다고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1993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일정만 보시면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 단계입니다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2026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 말에 국가교육위원회가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2028~2037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국가교육발전계획 시안을 공개합니다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 뒤 하반기에 대국민 공론화를 거치고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2027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최종안을 확정합니다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국교위는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대입 개편안은 확정된 바 없다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 공식 해명했습니다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지금은 학원을 옮기거나 과목을 바꾸실 때가 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윤곽이 나오면 제가 다시 자리를 만들어 말씀드리겠습니다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오늘 이 자리가 그런 자리입니다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매번 바뀔 때마다 모시겠습니다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10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 말 시안이 나오면 알려 주시나요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나오는 대로 정리해서 밴드에 올리고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필요하면 다시 모시겠습니다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1037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논의가 순탄하지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교육계가 둘로 갈렸습니다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찬성 쪽은 교육의봄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사교육걱정없는세상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좋은교사운동 같은 단체들입니다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AI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시대에는 근거를 들어 자기 생각을 설명하는 능력이 중요하고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 수업에 기반한 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논술형이면 공교육 중심 대입이 가능하다는 논리입니다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반대 쪽은 교원단체가 중심입니다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중등교사노조는 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논술형 자체를 반대하는 것이 아니라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이를 작동시킬 조건과 채점 신뢰성이 먼저 논의돼야 한다는 입장입니다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가장 많이 나오는 우려는 이겁니다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수능이 변별을 못 하면 대학이 논술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면접을 강화하고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사교육이 그쪽으로 옮겨간다는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본고사 부활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", 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일반고 황폐화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라는 표현까지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어느 쪽 편도 들지 마십시오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학원 원장이 정책에 대해 편을 들면 신뢰를 잃습니다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저는 이 우려에는 동의합니다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정도가 적당합니다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어느 쪽이 맞다고 제가 말씀드릴 수는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마지막 우려에는 저도 동의합니다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수능이 변별을 못 하면 그 역할이 어디론가 옮겨갑니다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없어지지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4871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결론이 뭐냐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 가지는 어느 쪽이 되든 남습니다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하나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논술형은 방향으로 굳어졌습니다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속도만 문제입니다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내신은 이미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까지 와 있고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개편에도 논서술형 확대가 들어가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 확대도 방향입니다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전 과목이냐 일부냐의 문제입니다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셋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변별은 어딘가로 옮겨갑니다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수능이 못 하면 내신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학생부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대학별고사가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없어지지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제도를 쫓아가면 늘 늦습니다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제도에 맞춰 준비해도 우리 아이 때는 바뀌어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그러니 어떤 제도가 와도 통하는 것을 쌓아야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읽고 이해해서 자기 말로 쓰는 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그게 전부입니다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5210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여기서부터는 저희 과목 이야기입니다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영어학원 원장이 하는 말이니 걸러 들으셔도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좋은 이야기만 드리지는 않겠습니다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여기서 톤을 한 번 바꾸십시오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앞은 제도 설명이었고 여기부터는 원장의 관점이 들어갑니다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물 한 모금 드시고 시작하시면 좋습니다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걸러 들으셔도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라는 말이 오히려 신뢰를 만듭니다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0962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영어는 다른 과목과 계산 방식이 완전히 다릅니다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이것부터 아셔야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영어는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학년도부터 절대평가입니다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원점수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 이상이면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80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 이상이면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이렇게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 단위로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등급까지 내려갑니다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다른 아이와 비교하지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정원이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이론상 전국 수험생 전원이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등급을 받을 수도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 사교육 과열을 잡으려는 목적이었습니다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상대평가에서는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라서 끝없이 경쟁했는데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점만 넘으면 되게 바꾸면 과열이 잡힐 거라고 본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정원이 없다는 말은 이런 뜻입니다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우리 반 스무 명이 다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점을 넘으면 스무 명이 다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좋은 일 같지요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뒤집어 보면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남들이 다 받는 걸 우리 아이만 못 받으면 그게 곧 감점입니다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등급은 목표가 아니라 기본값이 됐습니다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점만 넘으면 되면 영어는 좀 수월한 거 아닌가요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그게 함정입니다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다음 장에서 보여 드리겠지만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상위권 대학은 수능 영어 말고 다른 데서 영어를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8144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장이 오늘 영어 파트에서 가장 중요합니다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영어가 전부가 아니라는 증거입니다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서울대학교 면접 및 구술고사에서 영어 또는 한자 활용이 가능한 모집단위가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사회과학대학 전 모집단위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간호대학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경영대학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농경제사회학부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사범대학 어문계열과 체육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소비자아동학부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의류학과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자유전공학부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의과대학입니다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여기서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활용 가능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은 영어 지문이 제시되거나 영어로 답할 수 있다는 뜻입니다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의과대학이 포함돼 있다는 점을 짚으면 학부모 반응이 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의대를 생각하는 집이 많기 때문입니다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목록을 보시면 의과대학이 들어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의대 면접에서 영어 지문을 줍니다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영어가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 넘으면 끝이라고 생각하고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에 영어를 놓으면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정작 면접에서 막힙니다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대학은 영어를 점수로만 보지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읽고 말할 수 있느냐를 직접 확인합니다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그건 서울대 이야기 아닌가요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아이가 거기 갈지도 모르는데요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맞습니다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최상위 대학이 무엇을 보느냐가 그 아래 대학의 기준이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지금 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대학 갈 때는 더 많은 대학이 자체 평가를 할 가능성이 큽니다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아까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쪽에서 말씀드린 대학별고사 우려가 그 이야기입니다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8978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이과 최상위도 마찬가지입니다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카이스트는 수업 자체를 영어로 진행하는 과목이 많고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입학 전형에서도 영어 능력을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이공계라서 영어가 덜 중요할 거라고 생각하시면 반대입니다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이과라서 영어를 덜 해도 된다는 말은 사실이 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논문도 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교재도 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수업도 영어입니다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상위권 대학일수록 영어를 점수가 아니라 도구로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원서를 읽고 발표할 수 있느냐입니다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4562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그럼 언제까지 무엇을 해야 하느냐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저희가 잡고 있는 기준입니다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중등은 두 가지입니다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까지 수능 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즉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수준까지 학습합니다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실용영어를 강화합니다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 영역에 독해력을 더하는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고등도 두 가지입니다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모의고사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 이상을 목표로 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자주 틀리는 분야의 배경지식을 쌓습니다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상위권 대학을 목표로 한다면 대학별고사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즉 영어 면접과 구술을 대비하고 원서 수업을 준비합니다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고등학교에 가면 국어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탐구에 시간을 다 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영어에 쓸 시간이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영어는 단기간에 올라가지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수학은 고등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년으로 끌어올리는 아이가 있지만 영어는 어렵습니다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중등에서 끝내 놓는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96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점이 아니라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점이 목표 아니냐고 하실 수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커트라인인데 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점이냐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시험 난도가 출렁이기 때문입니다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점을 목표로 하면 어려운 해에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점이 안전장치입니다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까지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수준이 가능한가요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매일 하면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저희가 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하루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135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분으로 운영하는 이유가 그겁니다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실제로 저희 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학생들이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모의고사를 풀고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뒤에 성적표로 보여 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8325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여기서 솔직한 말씀을 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영어학원 원장이 하기 어려운 이야기입니다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2027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 모의평가에서 영어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비율이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18~19%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대로 예상됐습니다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국어와 수학은 변별력이 유지됐는데 영어만 크게 쉬워졌습니다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반대로 지난해에는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비율이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대까지 떨어져서 평가원이 유감을 표명한 적도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즉 난도가 시험마다 크게 출렁이고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장이 오늘 발표에서 신뢰를 결정합니다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학원 원장이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 비중 줄어듭니다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라고 먼저 말하면 학부모는 나머지 말도 믿습니다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반대로 좋은 말만 하면 다 광고로 들립니다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정직하게 말씀드리겠습니다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수능에서 영어 점수의 무게는 줄어들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18%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면 변별이 거의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 입장에서 영어는 깔고 가는 과목이 됐습니다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그것이 영어를 덜 해도 된다는 뜻은 전혀 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오히려 반대입니다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그럼 영어에 쓰는 돈과 시간을 수학으로 돌려야 하는 것 아닌가요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순서의 문제입니다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영어를 중등에 끝내 놓고 고등에서 수학에 집중하는 것이 일반적인 순서입니다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영어를 놓으면 고등학교 가서 둘 다 해야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그게 제일 나쁜 경우입니다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2519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앞 장이 나쁜 소식이었다면 이 장이 답입니다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 가지입니다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하나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등급은 훈장이 아니라 기본값입니다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18~19%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받는다면 못 받는 것이 곧 감점입니다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앞으로의 시험은 읽고 쓰는 시험입니다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영어를 그렇게 배운 아이는 국어도 사회도 그렇게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셋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수능이 변별을 못 하면 대학이 직접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그때 영어는 반드시 들어갑니다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서울대와 카이스트가 이미 그렇게 하고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문장이 오늘 영어 파트의 결론입니다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천천히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또박또박 말씀하십시오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영어는 점수를 따는 과목이 아니라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중등에서 끝내 놓고 고등학교에서 다른 걸 할 시간을 버는 과목입니다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저는 영어를 그렇게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3758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이제 실제로 대학에 어떻게 들어가는지 보겠습니다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여기가 학부모님들이 가장 궁금해하시는 부분일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5688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숫자 하나만 기억하셔도 오늘 오신 보람이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2028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 기준 수시가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80.8%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281,895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정시가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19.2%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66,894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명입니다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2027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학년도는 수시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80.3%,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19.7%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였습니다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즉 수시가 오히려 늘었습니다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수시는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3 9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원서를 넣고 학생부와 내신을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정시는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 말에 수능 점수로 넣습니다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학부모 세대는 대부분 학력고사나 수능 위주로 대학에 갔습니다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잘 보면 되지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라고 생각하기 쉽습니다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지금은 다섯 명 중 네 명이 수능 이전에 이미 합격이 정해집니다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정시만 보고 준비한다는 것은 다섯 개 문 중에 한 개만 두드리겠다는 뜻입니다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나머지 네 개는 학생부와 내신으로 열립니다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그 학생부는 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부터 쌓입니다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중학교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년은 그 준비 기간입니다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수시가 불공정하다는 말도 있던데요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 논란이 있었고 그래서 자기소개서가 폐지되고 수상경력이 대입에 제공되지 않게 됐습니다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 안에서 한 것만 남기자는 방향입니다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학생부는 예전보다 훨씬 단순해졌습니다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아이는 내신이 약한데 정시로 가면 안 되나요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가능합니다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20%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안에 들어야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다음 장에서 보시겠지만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정시에서도 학교 성적을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6834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정시로 가면 학교 성적은 안 본다고 생각하시는데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그렇지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서울대 지역균형전형은 수능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에 교과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일반전형은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단계에서 수능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배수를 뽑고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단계에서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단계 점수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에 교과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를 더합니다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2028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학년도부터는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단계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에 교과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로 바뀝니다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교과 비중이 두 배가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교과평가는 평가자 두 명이 독립적으로 평가한 등급을 조합해 점수를 매깁니다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A·A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면 지역균형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일반전형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A·B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B·B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B·C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1.5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C·C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2028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부터는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A, A+, B, B+, C, C+, D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일곱 단계로 더 세분화됩니다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정시는 수능만 본다는 말이 옛말이 됐습니다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서울대는 정시에서도 학교 성적을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40%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까지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그러니까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정시로 가겠다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 해서 고등학교 내신을 포기하면 안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문이 좁아질 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8728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수시의 핵심인 학생부종합전형을 세 장에 나눠서 보겠습니다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첫째는 학업능력입니다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대학이 보는 것은 전공 과목 이수능력입니다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내신 등급과 세부능력 및 특기사항으로 평가합니다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통용되는 내신 기준은 이렇습니다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 대학은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1.8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이내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 대학은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2.5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이내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인서울은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이내입니다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함께 보는 것은 수업 참여도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과제 집착력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자기주도학습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지적 탐구능력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과목 능력과 진로의 연계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리더십과 인성입니다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등급 기준은 절대적인 선이 아니라 통용되는 참고치입니다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학교와 전형에 따라 다릅니다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대략 이 정도 선이 이야기됩니다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라고 완충해서 말씀하십시오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내신 등급은 고등학교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년이 만드는 것 같지만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실제로는 중등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년의 공부 습관이 만듭니다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1 3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월에 갑자기 공부하는 아이는 거의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1.8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등급이면 전교 몇 등쯤인가요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 규모에 따라 다릅니다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한 학년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명이면 대략 상위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10%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안쪽입니다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등급제로 바뀌면 이 숫자 자체가 달라집니다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기준으로 이해만 해 두시면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4999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둘째는 진로활동입니다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여기가 학부모님들이 가장 막막해하시는 부분입니다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대학이 보는 것은 탐구심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호기심 해결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도전정신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목적의식입니다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진로활동에서는 희망 진로에 대한 탐색을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생명공학자를 희망한다면 인체 각 기관과 역할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관련 질병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치료 가능 여부를 조사한 기록 같은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동아리활동에서는 진로 관련 지속 활동을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독서에서는 관심 분야 심화를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행동특성에서는 담임 선생님의 관찰 기록을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모든 항목이 하나의 흐름을 따릅니다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수업에서 관심이 생겼다 → 관련 책을 찾아 읽었다 → 추가로 학습했다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세 단계가 기록에 남아야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거창한 활동을 하라는 게 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수업 시간에 생긴 궁금증을 책으로 해결한 기록이면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이게 중학교 때 습관이 안 되면 고등학교에서 갑자기 못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중학교 독서활동을 가볍게 보시면 안 되는 이유입니다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진로를 아직 못 정했는데 어떡하나요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괜찮습니다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40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쪽에서 말씀드리겠지만 문이과 통합으로 진로를 일찍 정할 필요가 없어졌습니다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 관심 있는 것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은 있어야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바뀌어도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바뀐 과정 자체가 기록이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153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셋째는 인성입니다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추상적으로 들리시겠지만 아주 구체적인 숫자가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자율활동에서는 학교 교육활동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체육대회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축제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임원활동에 얼마나 적극적이었는지를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행동특성 및 종합의견에는 인성과 품성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학교생활 전반에 대한 담임의 평가가 들어갑니다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봉사활동은 교내 봉사 중심입니다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외부 봉사는 예전만큼 중요하지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출결입니다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미인정 지각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결과가 합해서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회가 되면 미인정 결석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일로 처리됩니다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학교에 따라 미인정 지각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결과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회당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0.1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점씩 감점하는 곳도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가장 기본이 출결입니다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지각 세 번이면 결석 하루가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이게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쌓이면 무시할 수 없는 숫자가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아이가 아파서 병원 가는 것은 질병으로 처리되니 괜찮습니다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문제는 늦잠입니다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병결도 감점되나요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질병으로 처리된 것은 감점되지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감점되는 것은 미인정입니다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아프면 반드시 진료확인서를 받아 학교에 내셔야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9252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수시로 간다고 해서 수능을 아예 안 보는 게 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최저기준이라는 것이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 최저학력기준은 수시로 합격하더라도 수능에서 일정 성적을 넘어야 최종 합격시키는 조건입니다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2026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학년도 기준으로 고려대는 국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 합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에 한국사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경희대는 국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탐 중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 합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중앙대 논술은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 합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이화여대는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 합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우리 지역 대학을 보면 전남대 지역인재는 국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 중 수학 포함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 합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조선대는 수학 포함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 합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"3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 합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는 세 과목 등급을 더해서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이하라는 뜻입니다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둘에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 하나면 합이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학부모가 잘 모르는 표현이니 반드시 풀어 주십시오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표를 보시면 어느 대학이든 영어가 빠지지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등급은 최저기준을 맞추는 가장 안전한 카드입니다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절대평가라서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점만 넘으면 되니까요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다른 과목은 상대평가라 등급을 장담할 수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최저를 못 맞추면 어떻게 되나요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수시에 합격했어도 탈락합니다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실제로 수시 합격자 중 최저 미충족으로 떨어지는 경우가 매년 상당수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수시로 간다고 수능 공부를 놓으면 안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0346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지금까지가 고등학교와 대학 이야기였습니다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이제 우리 아이가 지금 있는 자리로 내려오겠습니다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3577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중학교 생활기록부는 고교 입시에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 생활기록부는 대입에 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틀은 같습니다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특목고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자사고 선발은 서류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즉 학생부와 면접으로 이뤄집니다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대입 학종도 같은 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평가 요소는 네 가지입니다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교과능력은 내신 성취도와 세특에서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지적활동은 교과 동아리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독서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체험학습에서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도전정신은 진로 활동과 독서에서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인성은 출결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임원활동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행사 참여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봉사에서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학생부를 잘 쓴다는 것은 활동을 많이 하는 게 아닙니다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하나를 해도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왜 하게 됐고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무엇을 알았고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뭘 더 했는지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남는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활동 열 개보다 제대로 된 흐름 하나가 낫습니다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3787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항목별로 무엇을 관리해야 하는지 정리했습니다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출결은 미인정 지각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결과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회가 미인정 결석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가장 기본입니다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수상경력은 대입에 제공되지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특목고는 지역에 따라 다르니 학교 방문 시 확인해야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자율활동은 학교가 주최한 활동에서의 역할을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학급 반장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총무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학생회 임원 같은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동아리활동은 교과 또는 진로 동아리가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순위입니다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없으면 기타 동아리에서 자기 역할이 드러나야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진로활동은 희망 진로 탐색과 관련 도서입니다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반드시 담임 선생님 지도 아래 진행해야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독서활동은 왜 읽었고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무엇을 알았고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어떻게 활용했고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어떤 변화가 생겼는지가 남아야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자율동아리는 대학에 제공되지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창체 동아리가 무엇이 있는지부터 확인하셔야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수상경력이 대입에 안 들어간다는 것을 모르시는 분이 많습니다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 받으려고 대회를 쫓아다니실 필요가 없어졌습니다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대신 학교 안에서 한 것이 중요해졌습니다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4296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네 가지가 학생부의 본문입니다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교과 성적은 내신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확보가 출발점입니다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세부능력 및 특기사항은 과목별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500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수업 내용에 대해 교과서 밖 자료로 추가 학습한 기록이 들어갑니다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독서활동은 목록이 아니라 과정입니다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행동특성 및 종합의견에는 학교생활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인성과 품성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자기주도 학습능력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관심 분야의 열정이 담깁니다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세특은 과목 선생님이 그 아이 한 명에 대해 쓰는 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반 전체가 같은 내용이면 의미가 없고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 아이만의 장면이 있어야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학종에서 가장 중요하게 보는 항목입니다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독서 기록은 면접 대비에 그대로 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면접관이 학생부를 읽고 묻습니다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"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 책 읽고 뭘 알게 됐나요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?"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그때 답을 못 하면 그 기록은 없는 것만 못합니다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읽은 목록이 아니라 읽고 무엇을 했는지가 남아야 하는 이유입니다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787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 선택 이야기로 넘어가겠습니다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어느 고등학교를 가든 영어는 입학 전에 안정권이어야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특목고는 더욱 그렇습니다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외고나 국제고는 입학하는 순간 수업이 영어로 돌아갑니다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거기서 영어를 시작할 수는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특목고를 보내야 유리한가요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아이 성향과 가정의 판단입니다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내신 경쟁이 훨씬 치열하다는 점을 아셔야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다음 장에서 숫자로 보여 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4219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일반고를 고를 때도 아무 데나 가시면 안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확인할 것이 네 가지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학업성취 현황입니다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과목별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비율과 표준편차를 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표준편차가 낮으면 대다수가 평균에 몰려 있어 내신 관리가 어렵습니다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둘째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표준편차 기준입니다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일반고 평균은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22,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특목고와 자사고는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셋째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교육운영 특색사업과 방과후학교입니다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대학이 고등학교를 평가할 때 참고하는 항목입니다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넷째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창체 동아리 현황입니다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자율동아리는 대입에 제공되지 않으므로 창체 동아리의 종류와 개설 가능성을 봐야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표준편차가 작다는 것은 학생들 점수가 비슷하다는 뜻입니다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비슷하면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 차이로 등급이 갈립니다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내신 따기가 어렵습니다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반대로 표준편차가 크면 상위권과 중하위권이 벌어져 있어서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상위권에 들면 안정적으로 등급이 나옵니다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이건 학교알리미 사이트에서 누구나 볼 수 있는 자료입니다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원서 쓰기 전에 꼭 확인하십시오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필요하시면 저희가 같이 봐 드리겠습니다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7777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실제 숫자로 보겠습니다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같은 지역 두 학교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학기 영어입니다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일반고는 평균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62.3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표준편차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24.5, A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16.4%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인데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E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43.9%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국제고는 평균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70.9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표준편차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16.2, A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14.4%, E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25.2%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국제고는 평균이 높고 표준편차가 작습니다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상위권이 몰려 있어 내신 경쟁이 치열하다는 뜻입니다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A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비율이 오히려 일반고보다 낮습니다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일반고는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E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43.9%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중간층이 얇아서 상위권끼리 경쟁하는 구조입니다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국제고가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를 더 적게 준다는 것이 보이시죠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잘하는 아이들끼리 모여 있으니 그렇습니다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어느 쪽을 가든 공통점이 하나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영어에서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를 받으려면 중등에서 이미 실력이 있어야 한다는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5315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좋은 소식으로 마무리하겠습니다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진로를 일찍 정할 필요가 없어졌습니다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2022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개정 교육과정에서 문과와 이과 구분이 사라졌습니다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통합사회와 통합과학을 모두 이수하고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수능에서도 둘 다 응시합니다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선택과목으로 진로를 만들어 가는 구조입니다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학년 때 문이과를 정하는 것이 너무 이르다는 지적이 오래됐습니다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융합 인재를 기르자는 방향과도 맞지 않았습니다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중학교 때 진로를 확정하지 않으셔도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다만 진로가 열려 있는 만큼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어느 길로 가든 필요한 과목은 미리 다져 둬야 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국어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수학이 그렇습니다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영어가 그중 첫 번째입니다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왜냐하면 가장 오래 걸리니까요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6028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첫마디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마지막으로 대학 자체가 어떻게 바뀌는지 보겠습니다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무학과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무학년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무전공이 확대되고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학과나 학부 단위로 모집하는 방식을 폐지하는 대학이 나오고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순천향대는 단과대와 전공을 모두 폐지하고 학제를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4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년제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5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년제 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석사로 다양화했습니다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정부가 지역 거점 대학을 집중 육성하는 글로컬대학 사업을 진행 중입니다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글로컬대학 사업은 지역 학생에게 기회입니다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수도권으로 가지 않아도 되는 선택지가 늘어난다는 뜻이기 때문입니다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광주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전남 학부모에게는 의미 있는 이야기입니다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대본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] 8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년 뒤 대학 지형은 지금과 많이 다를 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그래서 지금 특정 대학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특정 학과를 목표로 잡는 것은 큰 의미가 없습니다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어느 대학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어느 전공을 가도 통하는 힘을 만드는 것이 답입니다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결국 우리 아이는 뭘 하면 되나요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 가지입니다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출결을 지키고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수업에서 생긴 궁금증을 책으로 해결하는 습관을 들이고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영어를 중등에서 끝내 놓는 것입니다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나머지는 제도가 바뀌어도 변하지 않습니다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사교육을 얼마나 시켜야 하나요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과목 수를 늘리는 것보다 하나를 제대로 끝내는 것이 낫습니다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특히 영어는 중등에서 마무리하고 고등에서 시간을 버는 것이 가장 효율적입니다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제도가 또 바뀌면 지금 준비한 게 소용없어지는 것 아닌가요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제도에 맞춘 준비는 그렇습니다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그런데 읽고 이해해서 자기 말로 쓰는 힘은 어떤 제도가 와도 쓰입니다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오늘 제가 드리고 싶은 말씀이 그겁니다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Q.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선생님은 왜 이렇게 자세히 아시나요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매주 교육부와 국가교육위원회 발표를 챙겨 보고 정리하고 있습니다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필요하시면 월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회 정리해서 블로그와 밴드에 올리고 있으니 보시면 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40141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여기까지가 제도였고, 이제 저희 학원이 중등 3년을 어떻게 운영하는지 말씀드리겠습니다. 목표는 중등 내신을 기본으로 수능과 TOEFL까지입니다. 1월 4일 시작, 12개월 과정이고 주 3일, 저녁 6시부터 8시 15분까지 하루 3교시 수업합니다. 반은 월수금반과 화목금반이 있고 난이도별로 진도와 교재가 다릅니다. 단어는 매일, 문법·독해는 주 1회 평가하고, 2개월마다 고1 모의고사를 보고 결과표를 보내드린 뒤 상담합니다. 원어민 수업은 레벨별 주 1회 45분, 에세이 쓰기와 디베이팅입니다.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7357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시간표는 유인물에도 넣었다고 안내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1950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리틀팍스에서 올라온 학생 학부모가 많다면 이 장에서 시간을 더 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1038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앞에서 서·논술형 확대를 말씀드렸는데, 이건 먼 이야기가 아니라 이미 중학교 시험지에 와 있습니다. 중간·기말 각각 약 40%가 서술형입니다. 단수·복수나 시제처럼 기본기가 없으면 못 푸는 문제, 교과서에 없는 지문을 주고 틀린 곳을 고치라는 문제가 나옵니다. 그리고 사소해도 문법 실수면 크게 감점됩니다. 그래서 문법은 '한 과목'이 아니라 채점 기준 그 자체입니다. 다음 장에서 실제 수행평가 문제를 보시겠습니다.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20039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원장</a:t>
            </a:r>
            <a:r>
              <a:rPr lang="en-US" altLang="ko-KR"/>
              <a:t>·</a:t>
            </a:r>
            <a:r>
              <a:rPr lang="ko-KR" altLang="en-US"/>
              <a:t>강사</a:t>
            </a:r>
            <a:r>
              <a:rPr lang="en-US" altLang="ko-KR"/>
              <a:t>·</a:t>
            </a:r>
            <a:r>
              <a:rPr lang="ko-KR" altLang="en-US"/>
              <a:t>학부모가 같은 표를 봅니다</a:t>
            </a:r>
            <a:r>
              <a:rPr lang="en-US" altLang="ko-KR"/>
              <a:t>. </a:t>
            </a:r>
            <a:r>
              <a:rPr lang="ko-KR" altLang="en-US"/>
              <a:t>실물을 들어 보이면 더 좋습니다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45142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질문 </a:t>
            </a:r>
            <a:r>
              <a:rPr lang="en-US" altLang="ko-KR"/>
              <a:t>10</a:t>
            </a:r>
            <a:r>
              <a:rPr lang="ko-KR" altLang="en-US"/>
              <a:t>분</a:t>
            </a:r>
            <a:r>
              <a:rPr lang="en-US" altLang="ko-KR"/>
              <a:t>. </a:t>
            </a:r>
            <a:r>
              <a:rPr lang="ko-KR" altLang="en-US"/>
              <a:t>모르는 것은 </a:t>
            </a:r>
            <a:r>
              <a:rPr lang="en-US" altLang="ko-KR"/>
              <a:t>'</a:t>
            </a:r>
            <a:r>
              <a:rPr lang="ko-KR" altLang="en-US"/>
              <a:t>확인해서 알려드리겠습니다</a:t>
            </a:r>
            <a:r>
              <a:rPr lang="en-US" altLang="ko-KR"/>
              <a:t>'</a:t>
            </a:r>
            <a:r>
              <a:rPr lang="ko-KR" altLang="en-US"/>
              <a:t>가 정답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FAF13-71E0-4043-BC23-6E1FFB6E06AB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33814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문법 교재는 비상교육의 Grammar TAPA입니다. 숫자로 보시면 세 권, 약 3,350문항, 권마다 총괄평가 두 번입니다. 고른 이유는 네 가지입니다. 문법을 작은 단위로 짧게 설명하고 바로 문제로 확인합니다. 교육과정에 나오는 문법이 학년별로 빠짐없이 들어 있습니다. 최신 시험 경향을 반영했습니다. 그리고 워크북, 문장 해석 연습지, 추가 문법 문제로 복습까지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1월부터 12월까지 1년 동안 세 권으로 중학교 문법 전 과정을 한 바퀴 돕니다. 표를 보시면 to부정사, 동명사, 비교, 접속사 같은 항목이 1권, 2권, 3권에 모두 나옵니다. 같은 문법을 세 번 만나면서 매번 한 단계씩 깊어지는 구조입니다. 한 권을 마칠 때마다 총괄평가를 두 번 봐서 넘어가도 되는지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문법 수업 한 시간을 보여 드리면 이렇습니다. 오늘 배울 문법 하나를 짧게 설명하고, 바로 문제로 확인합니다. 그다음 문장 해석 연습지와 쎄듀 쓰작으로 직접 문장을 써 봅니다. 앞에서 본 서술형 문제에 대비하는 단계입니다. 마지막으로 워크북으로 복습하고, 문법은 주 1회 평가로 점검합니다. 결과는 성적 관리표에 기록됩니다.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858DFA-4758-4614-B716-1F39FCC2A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E7E92B-02A2-424C-BDB8-F3009145C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3AE332-2589-458B-B6F2-BA798D1E5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C122E8-CEE8-4B78-B887-467195969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9A1B0A-6953-463D-BAFD-76A67A98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930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36493F-5F4C-4B08-9E23-B8A1AF08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317A76-94A3-41EB-9002-B537BD3A7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311156-586F-4EAE-A749-80C71696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8C07E0-FF08-41E5-82F7-63400CC7B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457361-C000-4C3A-83F7-8893A007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69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B72BA-56B2-4F5D-9D6F-D978C488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3480CC-7E46-4DDA-8E7A-2B997D0FC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DFF733-5F10-4249-A002-BD9528303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2EEE89-D9D5-4730-8415-A3700B24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A85014-92AD-46DE-B38D-2CB6C8BA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88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EA7F6C-7B2C-4B10-B705-D0AF48756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08D896-F4FB-496B-9F9C-17556CE73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D0A51D-17AA-452E-A761-D6E348C6B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109BD0-9B92-43D9-B67D-372788DBB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902810-3AC1-4B3E-B3DA-2267E077A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601F18-A75F-4E59-A1E4-42A4FAC89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871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70965-7B2C-4903-B355-86F4BFDE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D39E14-D227-41CF-9982-219B3DF36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94F989-FED1-4D1A-977D-64FDED128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A5A6D7-31BD-4BFD-924B-9BC3B0A1E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A94DA6-580C-463A-8C73-D05633804C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7B9749-BEE4-4AE5-8D02-A482F81CD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C5F092-4DD9-4169-80D1-8B2227CCB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E7CBF08-EDE9-41B1-A43D-63193096F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509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06ECA-3C95-48C3-A076-F6DFA36D5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FE738D8-C835-41E8-842A-1CB83CA95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B4511E5-E056-49CD-840D-B8C6F6FF3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DC0910-1EC5-461A-9891-9E84A54D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85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096698-23E0-4614-B802-D4D930D2A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03A75B4-8165-48EA-88E3-FAC8B3202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EBB800-09F6-4613-A025-75716DDE4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859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C419A-9CE7-42CA-BF24-D86F120F0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D8A5C2-75DE-4BFC-AD9B-B96566058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C0A17A-91AB-4FD0-B81D-364C2C018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7837A6-5792-4E56-B156-B160BD5B3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C6211B-0693-4DCF-A984-B03E09D7A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085B56-EB4F-4982-980E-BDEECC9B5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93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A2E73A-154A-435A-BF55-684EFB962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B244F2-7B43-435D-9CA5-8F437122F6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1F700C-2951-4F37-8551-50E398B63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7A8CC0-E114-445E-9721-D1898A84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EB193E-546C-4C19-B29C-7871D3EEC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3F3A2F-C9EE-46DE-9E12-0169BCD72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03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65F63-C674-415E-98EA-CE78C5E56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4B3F05-3317-4743-8506-4D9D49742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93C1E2-8D97-4643-AB06-142507EFB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14BEE8-C95C-4DDA-AEE8-99FA1BE20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D350F3-5774-4CD9-B3F4-EA76F998C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58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3203268-B88E-46B5-B142-4E5F75DA2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2CD8CD-6D79-4665-A16E-44DBE8FD1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9BE5B6-B9A2-4E95-8063-406C30215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564C6A-1ABC-43E8-BDB1-B5343CC3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A955FC-E56A-4DA0-97E8-54F41869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5565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0224F73-0640-4CFF-9FB2-147BCFDBD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76336C-08D6-4B86-8BA5-A9B5F5892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59857-7AE5-44CC-BCC6-0B7B19F9B8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6C8A0-6053-4882-B8C9-E4C706AF439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6F0799-CA24-4D13-A992-9A8D82DAF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875D60-F38D-4538-A915-E4D00256F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03C1D-FB10-4C3A-BEC7-0EF22DEDA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711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3" Type="http://schemas.openxmlformats.org/officeDocument/2006/relationships/notesSlide" Target="../notesSlides/notesSlide4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5677F43-4CC0-4BEE-BD8F-23E50B4200EB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20430-119B-4F12-850E-B119423BDEF1}"/>
              </a:ext>
            </a:extLst>
          </p:cNvPr>
          <p:cNvSpPr txBox="1"/>
          <p:nvPr/>
        </p:nvSpPr>
        <p:spPr>
          <a:xfrm>
            <a:off x="1219200" y="1676400"/>
            <a:ext cx="965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 sz="15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학년도 중등과정 학부모 간담회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BDA1C-DA2B-4783-8E0A-3D2CF98FD167}"/>
              </a:ext>
            </a:extLst>
          </p:cNvPr>
          <p:cNvSpPr txBox="1"/>
          <p:nvPr/>
        </p:nvSpPr>
        <p:spPr>
          <a:xfrm>
            <a:off x="1219200" y="2235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44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제도는 바뀝니다</a:t>
            </a:r>
            <a:r>
              <a:rPr lang="en-US" altLang="ko-KR" sz="44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440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CAB49A-1244-4673-8464-6AC764699109}"/>
              </a:ext>
            </a:extLst>
          </p:cNvPr>
          <p:cNvSpPr txBox="1"/>
          <p:nvPr/>
        </p:nvSpPr>
        <p:spPr>
          <a:xfrm>
            <a:off x="1219200" y="29718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44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실력은 남습니다</a:t>
            </a:r>
            <a:r>
              <a:rPr lang="en-US" altLang="ko-KR" sz="44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440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DE4CED6-9020-407B-9094-F679120BE0B2}"/>
              </a:ext>
            </a:extLst>
          </p:cNvPr>
          <p:cNvSpPr/>
          <p:nvPr/>
        </p:nvSpPr>
        <p:spPr>
          <a:xfrm>
            <a:off x="1219200" y="4013200"/>
            <a:ext cx="812800" cy="50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2DD922-7464-4F02-B237-15751D06D5C3}"/>
              </a:ext>
            </a:extLst>
          </p:cNvPr>
          <p:cNvSpPr txBox="1"/>
          <p:nvPr/>
        </p:nvSpPr>
        <p:spPr>
          <a:xfrm>
            <a:off x="1219200" y="4318000"/>
            <a:ext cx="965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7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2028 </a:t>
            </a:r>
            <a:r>
              <a:rPr lang="ko-KR" altLang="en-US" sz="17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개편</a:t>
            </a:r>
            <a:r>
              <a:rPr lang="en-US" altLang="ko-KR" sz="17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2033 </a:t>
            </a:r>
            <a:r>
              <a:rPr lang="ko-KR" altLang="en-US" sz="17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논의</a:t>
            </a:r>
            <a:r>
              <a:rPr lang="en-US" altLang="ko-KR" sz="17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그리고 우리 아이의 중등 </a:t>
            </a:r>
            <a:r>
              <a:rPr lang="en-US" altLang="ko-KR" sz="17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7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37B07-E72D-41E8-B9FA-75AB3948AE34}"/>
              </a:ext>
            </a:extLst>
          </p:cNvPr>
          <p:cNvSpPr txBox="1"/>
          <p:nvPr/>
        </p:nvSpPr>
        <p:spPr>
          <a:xfrm>
            <a:off x="1219200" y="54610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   </a:t>
            </a:r>
            <a:r>
              <a:rPr lang="en-US" altLang="ko-KR" sz="14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 2026</a:t>
            </a:r>
            <a:r>
              <a:rPr lang="ko-KR" altLang="en-US" sz="14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</a:p>
        </p:txBody>
      </p:sp>
    </p:spTree>
    <p:extLst>
      <p:ext uri="{BB962C8B-B14F-4D97-AF65-F5344CB8AC3E}">
        <p14:creationId xmlns:p14="http://schemas.microsoft.com/office/powerpoint/2010/main" val="245726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5F4FB-DEE6-4083-A6C6-9BC984F2FAFD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오늘의 순서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775DD13-7EF8-4DB9-AB61-3A1EFE1D1E1A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F226BB-19B5-4963-855B-80FA5C299CD1}"/>
              </a:ext>
            </a:extLst>
          </p:cNvPr>
          <p:cNvSpPr/>
          <p:nvPr/>
        </p:nvSpPr>
        <p:spPr>
          <a:xfrm>
            <a:off x="812800" y="1905000"/>
            <a:ext cx="76200" cy="431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5F13B4-6EC7-46DB-9689-70E69693F983}"/>
              </a:ext>
            </a:extLst>
          </p:cNvPr>
          <p:cNvSpPr txBox="1"/>
          <p:nvPr/>
        </p:nvSpPr>
        <p:spPr>
          <a:xfrm>
            <a:off x="1066800" y="19050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아이의 입시 좌표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DF0630-F30A-4C01-9847-4CDAC803034D}"/>
              </a:ext>
            </a:extLst>
          </p:cNvPr>
          <p:cNvSpPr txBox="1"/>
          <p:nvPr/>
        </p:nvSpPr>
        <p:spPr>
          <a:xfrm>
            <a:off x="6019800" y="1930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몇 학년도 대입인지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 제도를 적용받는지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5A625A-542F-4794-B8F6-DE7F913B82FE}"/>
              </a:ext>
            </a:extLst>
          </p:cNvPr>
          <p:cNvSpPr/>
          <p:nvPr/>
        </p:nvSpPr>
        <p:spPr>
          <a:xfrm>
            <a:off x="812800" y="2641600"/>
            <a:ext cx="76200" cy="431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FB7257-75C0-43AA-ACE8-48E0FA4A9455}"/>
              </a:ext>
            </a:extLst>
          </p:cNvPr>
          <p:cNvSpPr txBox="1"/>
          <p:nvPr/>
        </p:nvSpPr>
        <p:spPr>
          <a:xfrm>
            <a:off x="1066800" y="26416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2028 </a:t>
            </a:r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개편 </a:t>
            </a:r>
            <a:r>
              <a:rPr lang="en-US" altLang="ko-KR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확정된 골격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2314A9-171C-45E4-896D-AB69A1D217F4}"/>
              </a:ext>
            </a:extLst>
          </p:cNvPr>
          <p:cNvSpPr txBox="1"/>
          <p:nvPr/>
        </p:nvSpPr>
        <p:spPr>
          <a:xfrm>
            <a:off x="6019800" y="2667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선택과목 폐지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내신 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고교학점제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03ECAF-83CD-41FE-AFD1-E2D89216E78B}"/>
              </a:ext>
            </a:extLst>
          </p:cNvPr>
          <p:cNvSpPr/>
          <p:nvPr/>
        </p:nvSpPr>
        <p:spPr>
          <a:xfrm>
            <a:off x="812800" y="3378200"/>
            <a:ext cx="76200" cy="431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016C0-1828-40D1-8A43-7A8613FD59A9}"/>
              </a:ext>
            </a:extLst>
          </p:cNvPr>
          <p:cNvSpPr txBox="1"/>
          <p:nvPr/>
        </p:nvSpPr>
        <p:spPr>
          <a:xfrm>
            <a:off x="1066800" y="33782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2033 — </a:t>
            </a:r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 제도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ACC05C-E6D8-46BC-9C56-BDBD4D7C73E8}"/>
              </a:ext>
            </a:extLst>
          </p:cNvPr>
          <p:cNvSpPr txBox="1"/>
          <p:nvPr/>
        </p:nvSpPr>
        <p:spPr>
          <a:xfrm>
            <a:off x="6019800" y="3403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국가교육위원회가 지금 논의하는 것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9AC49D-EB3B-4691-9592-06D5313EB611}"/>
              </a:ext>
            </a:extLst>
          </p:cNvPr>
          <p:cNvSpPr/>
          <p:nvPr/>
        </p:nvSpPr>
        <p:spPr>
          <a:xfrm>
            <a:off x="812800" y="4114800"/>
            <a:ext cx="76200" cy="431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397676-F7A9-42B4-AC6E-2A42FE3FBD79}"/>
              </a:ext>
            </a:extLst>
          </p:cNvPr>
          <p:cNvSpPr txBox="1"/>
          <p:nvPr/>
        </p:nvSpPr>
        <p:spPr>
          <a:xfrm>
            <a:off x="1066800" y="41148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영어와 대입 전형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213895-C811-4478-BD74-6BB7F976B01E}"/>
              </a:ext>
            </a:extLst>
          </p:cNvPr>
          <p:cNvSpPr txBox="1"/>
          <p:nvPr/>
        </p:nvSpPr>
        <p:spPr>
          <a:xfrm>
            <a:off x="6019800" y="4140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 시대의 영어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학생부종합전형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1C73925-8372-4B21-AF2C-919FD5DDF3B4}"/>
              </a:ext>
            </a:extLst>
          </p:cNvPr>
          <p:cNvSpPr/>
          <p:nvPr/>
        </p:nvSpPr>
        <p:spPr>
          <a:xfrm>
            <a:off x="812800" y="4851400"/>
            <a:ext cx="76200" cy="431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F6DD41-5343-4241-9B9A-31278526618A}"/>
              </a:ext>
            </a:extLst>
          </p:cNvPr>
          <p:cNvSpPr txBox="1"/>
          <p:nvPr/>
        </p:nvSpPr>
        <p:spPr>
          <a:xfrm>
            <a:off x="1066800" y="48514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 </a:t>
            </a:r>
            <a:r>
              <a:rPr lang="en-US" altLang="ko-KR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무엇을 관리하나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763A57-B82A-4CD9-BA1F-ED8507EBE96C}"/>
              </a:ext>
            </a:extLst>
          </p:cNvPr>
          <p:cNvSpPr txBox="1"/>
          <p:nvPr/>
        </p:nvSpPr>
        <p:spPr>
          <a:xfrm>
            <a:off x="6019800" y="4876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학교생활기록부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고교 선택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51E9592-0E13-4205-8A18-F67B2A2C53E5}"/>
              </a:ext>
            </a:extLst>
          </p:cNvPr>
          <p:cNvSpPr/>
          <p:nvPr/>
        </p:nvSpPr>
        <p:spPr>
          <a:xfrm>
            <a:off x="812800" y="5588000"/>
            <a:ext cx="76200" cy="431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DFDEEF-FF80-4AB0-9C37-CC39C625C42C}"/>
              </a:ext>
            </a:extLst>
          </p:cNvPr>
          <p:cNvSpPr txBox="1"/>
          <p:nvPr/>
        </p:nvSpPr>
        <p:spPr>
          <a:xfrm>
            <a:off x="1066800" y="55880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학원이 하는 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C44338-3B47-4538-8419-8421A4A88C5F}"/>
              </a:ext>
            </a:extLst>
          </p:cNvPr>
          <p:cNvSpPr txBox="1"/>
          <p:nvPr/>
        </p:nvSpPr>
        <p:spPr>
          <a:xfrm>
            <a:off x="6019800" y="5613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 과정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교재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 시스템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F4760E-049B-4035-86F8-FA0FC911F8AD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9A209C-D980-49B4-8907-F177798DCFD1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4509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68A95F-301F-4CF8-ADA9-649A6F4D8D09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아이는 몇 학년도 대입일까요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C9EB92C-6857-4783-A9A4-A56E5AB4136C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314B16E-1928-4945-885C-6AB53BFFD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865375"/>
              </p:ext>
            </p:extLst>
          </p:nvPr>
        </p:nvGraphicFramePr>
        <p:xfrm>
          <a:off x="812800" y="1981200"/>
          <a:ext cx="105664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9402713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24911996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498403327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69831433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지금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(2026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 입시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 제도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10235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학년도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개편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15453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2027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2030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학년도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개편 적용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7832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학년도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개편 적용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68851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2029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학년도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개편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가능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34692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2030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2033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학년도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제도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논의 중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23564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6D71897-A4BB-4B6B-8AEA-849497457AAE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90F722-27F0-4ACC-8DEC-35B68FC76E90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2761DD-FBF3-4D9A-85D0-7EF63C9919F8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 중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이면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2032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이면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학년도입니다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국교위가 논의하는 새 제도가 이 무렵부터 적용됩니다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2B30F-91D1-4F22-B756-F93100000729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21B8AF-873E-4F5F-B238-7B41F183B453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0287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FAC9A0-D4C0-473A-B4BE-FE1F23D61FCE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두 번의 개편이 겹쳐 있습니다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DF152B4-E2DB-41BA-A49C-967575BA0FD1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C6A92C0-F7FD-4E7E-A73F-2FF843036DBB}"/>
              </a:ext>
            </a:extLst>
          </p:cNvPr>
          <p:cNvSpPr/>
          <p:nvPr/>
        </p:nvSpPr>
        <p:spPr>
          <a:xfrm>
            <a:off x="812800" y="1905000"/>
            <a:ext cx="5080000" cy="19050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5B108D-EED2-4C4B-A600-AA68603DB9EA}"/>
              </a:ext>
            </a:extLst>
          </p:cNvPr>
          <p:cNvSpPr txBox="1"/>
          <p:nvPr/>
        </p:nvSpPr>
        <p:spPr>
          <a:xfrm>
            <a:off x="1168400" y="2184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6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2028 </a:t>
            </a:r>
            <a:r>
              <a:rPr lang="ko-KR" altLang="en-US" sz="26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BCF3B-5328-48B9-A39C-5C4CAF8439CC}"/>
              </a:ext>
            </a:extLst>
          </p:cNvPr>
          <p:cNvSpPr txBox="1"/>
          <p:nvPr/>
        </p:nvSpPr>
        <p:spPr>
          <a:xfrm>
            <a:off x="1168400" y="2641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확정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104074-DB06-4AB7-9F11-F63E49405FC2}"/>
              </a:ext>
            </a:extLst>
          </p:cNvPr>
          <p:cNvSpPr txBox="1"/>
          <p:nvPr/>
        </p:nvSpPr>
        <p:spPr>
          <a:xfrm>
            <a:off x="1168400" y="2971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 고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첫 세대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아이에게는 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앞으로의 기본 골격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1539E4-5A61-457B-8D58-6320F70B5494}"/>
              </a:ext>
            </a:extLst>
          </p:cNvPr>
          <p:cNvSpPr/>
          <p:nvPr/>
        </p:nvSpPr>
        <p:spPr>
          <a:xfrm>
            <a:off x="6299200" y="1905000"/>
            <a:ext cx="5080000" cy="19050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3124AE-3CA8-4051-850D-FD8FF4E46D09}"/>
              </a:ext>
            </a:extLst>
          </p:cNvPr>
          <p:cNvSpPr txBox="1"/>
          <p:nvPr/>
        </p:nvSpPr>
        <p:spPr>
          <a:xfrm>
            <a:off x="6654800" y="2184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6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2033 </a:t>
            </a:r>
            <a:r>
              <a:rPr lang="ko-KR" altLang="en-US" sz="26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43705A-8AA6-4284-9F4A-55206C495122}"/>
              </a:ext>
            </a:extLst>
          </p:cNvPr>
          <p:cNvSpPr txBox="1"/>
          <p:nvPr/>
        </p:nvSpPr>
        <p:spPr>
          <a:xfrm>
            <a:off x="6654800" y="2641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확정 예정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EDC40A-451E-4BBF-B966-5EDEFA9B8633}"/>
              </a:ext>
            </a:extLst>
          </p:cNvPr>
          <p:cNvSpPr txBox="1"/>
          <p:nvPr/>
        </p:nvSpPr>
        <p:spPr>
          <a:xfrm>
            <a:off x="6654800" y="2971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 중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1·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첫 세대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 제도가 지금 만들어지는 중입니다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86C5C7-C153-425D-86C3-B638A03C483C}"/>
              </a:ext>
            </a:extLst>
          </p:cNvPr>
          <p:cNvSpPr/>
          <p:nvPr/>
        </p:nvSpPr>
        <p:spPr>
          <a:xfrm>
            <a:off x="812800" y="4267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F8A8541-426C-482E-B38F-5D64BE39244B}"/>
              </a:ext>
            </a:extLst>
          </p:cNvPr>
          <p:cNvSpPr/>
          <p:nvPr/>
        </p:nvSpPr>
        <p:spPr>
          <a:xfrm>
            <a:off x="812800" y="4267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0C1C91-789A-4A27-9DE1-B89308E12F5E}"/>
              </a:ext>
            </a:extLst>
          </p:cNvPr>
          <p:cNvSpPr txBox="1"/>
          <p:nvPr/>
        </p:nvSpPr>
        <p:spPr>
          <a:xfrm>
            <a:off x="1143000" y="4394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이 두 가지를 섞지 않고 나눠서 말씀드리겠습니다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섞어 들으시면 불필요하게 불안해집니다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CE10CB-A48B-4FDC-9587-FAAB75F3CBF6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5970F3-C39E-4EEB-8FA5-8B4B80D927B0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2568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16A889-DEFC-40C5-8CB5-655CB62CB61C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확정된 것과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만들어지는 중인 것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FD85A5-EE3A-4BC4-9A70-84D9544A1FA6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EEC1D23-9F7C-46A8-8BC9-0CCE2A9F0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786969"/>
              </p:ext>
            </p:extLst>
          </p:nvPr>
        </p:nvGraphicFramePr>
        <p:xfrm>
          <a:off x="812800" y="1930400"/>
          <a:ext cx="105664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13580887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1469059865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378779319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 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(2028 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개편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논의 중 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(2033)</a:t>
                      </a:r>
                      <a:endParaRPr lang="ko-KR" altLang="en-US" sz="1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476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수능 과목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선택과목 폐지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 과목 절대평가 검토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78207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수능 문항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지선다 유지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논술형 도입 검토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76909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고교 내신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→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상대평가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절대평가 전환 검토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42317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 시기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수시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80.8% /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정시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19.2%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수시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정시 통합 검토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1435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절대평가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유지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 과목 절대평가에 흡수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00809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959ABB9A-FA36-4599-AD80-A695EC07D92B}"/>
              </a:ext>
            </a:extLst>
          </p:cNvPr>
          <p:cNvSpPr/>
          <p:nvPr/>
        </p:nvSpPr>
        <p:spPr>
          <a:xfrm>
            <a:off x="812800" y="4953000"/>
            <a:ext cx="10566400" cy="10668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E19C26-1025-444A-97F3-2E56C0185DC5}"/>
              </a:ext>
            </a:extLst>
          </p:cNvPr>
          <p:cNvSpPr/>
          <p:nvPr/>
        </p:nvSpPr>
        <p:spPr>
          <a:xfrm>
            <a:off x="812800" y="4953000"/>
            <a:ext cx="63500" cy="1066800"/>
          </a:xfrm>
          <a:prstGeom prst="rect">
            <a:avLst/>
          </a:prstGeom>
          <a:solidFill>
            <a:srgbClr val="A037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918C4-5141-4954-A524-6EA8BE216918}"/>
              </a:ext>
            </a:extLst>
          </p:cNvPr>
          <p:cNvSpPr txBox="1"/>
          <p:nvPr/>
        </p:nvSpPr>
        <p:spPr>
          <a:xfrm>
            <a:off x="1143000" y="5080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국가교육위원회 공식 입장 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(2026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— "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대입 개편안은 확정된 바 없습니다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endParaRPr lang="ko-KR" altLang="en-US" sz="1650" b="1">
              <a:solidFill>
                <a:srgbClr val="A037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D15A84-FE1E-4523-B831-CD1BCAFFC665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D39ED4-CB0D-41AB-9797-B4288F7F0264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800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BB3A6E-5739-41C6-B41E-A0B0AED8B929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이것을 보시게 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675DBA-ACC8-49E3-A0FE-67452F31BFE5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6199EA-2970-4E64-A204-19FD4435EC80}"/>
              </a:ext>
            </a:extLst>
          </p:cNvPr>
          <p:cNvSpPr/>
          <p:nvPr/>
        </p:nvSpPr>
        <p:spPr>
          <a:xfrm>
            <a:off x="812800" y="2133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472B0-039E-4C97-B6A2-210430DA46A4}"/>
              </a:ext>
            </a:extLst>
          </p:cNvPr>
          <p:cNvSpPr txBox="1"/>
          <p:nvPr/>
        </p:nvSpPr>
        <p:spPr>
          <a:xfrm>
            <a:off x="812800" y="2184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2F806-978B-491C-8396-2D0CC8692FA8}"/>
              </a:ext>
            </a:extLst>
          </p:cNvPr>
          <p:cNvSpPr txBox="1"/>
          <p:nvPr/>
        </p:nvSpPr>
        <p:spPr>
          <a:xfrm>
            <a:off x="1295400" y="2146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제도가 어디로 가고 있는가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ED22EC-3C4B-4193-BF86-C95E46A36B57}"/>
              </a:ext>
            </a:extLst>
          </p:cNvPr>
          <p:cNvSpPr txBox="1"/>
          <p:nvPr/>
        </p:nvSpPr>
        <p:spPr>
          <a:xfrm>
            <a:off x="1295400" y="2451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선택에서 통합으로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고르는 시험에서 쓰는 시험으로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B79B0A-C089-487B-9156-4F037626410F}"/>
              </a:ext>
            </a:extLst>
          </p:cNvPr>
          <p:cNvSpPr/>
          <p:nvPr/>
        </p:nvSpPr>
        <p:spPr>
          <a:xfrm>
            <a:off x="812800" y="33528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E904EF-7A21-4209-A1B6-D904847EDCCD}"/>
              </a:ext>
            </a:extLst>
          </p:cNvPr>
          <p:cNvSpPr txBox="1"/>
          <p:nvPr/>
        </p:nvSpPr>
        <p:spPr>
          <a:xfrm>
            <a:off x="812800" y="34036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A66271-7B6E-4596-8F82-A57E6B18FEBD}"/>
              </a:ext>
            </a:extLst>
          </p:cNvPr>
          <p:cNvSpPr txBox="1"/>
          <p:nvPr/>
        </p:nvSpPr>
        <p:spPr>
          <a:xfrm>
            <a:off x="1295400" y="33655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 안에서 영어는 어떤 위치인가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C116BB-4685-4900-A514-9CE3F6C52D63}"/>
              </a:ext>
            </a:extLst>
          </p:cNvPr>
          <p:cNvSpPr txBox="1"/>
          <p:nvPr/>
        </p:nvSpPr>
        <p:spPr>
          <a:xfrm>
            <a:off x="1295400" y="3670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비중은 줄지만 실질 가치는 오릅니다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84B681-4F59-46A2-BA37-F411A261821A}"/>
              </a:ext>
            </a:extLst>
          </p:cNvPr>
          <p:cNvSpPr/>
          <p:nvPr/>
        </p:nvSpPr>
        <p:spPr>
          <a:xfrm>
            <a:off x="812800" y="45720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FBCF5D-7748-4D9D-9D2C-FC7EA3C85B2A}"/>
              </a:ext>
            </a:extLst>
          </p:cNvPr>
          <p:cNvSpPr txBox="1"/>
          <p:nvPr/>
        </p:nvSpPr>
        <p:spPr>
          <a:xfrm>
            <a:off x="812800" y="46228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B6C95E-1EBD-4C82-8AFA-E35883327E4C}"/>
              </a:ext>
            </a:extLst>
          </p:cNvPr>
          <p:cNvSpPr txBox="1"/>
          <p:nvPr/>
        </p:nvSpPr>
        <p:spPr>
          <a:xfrm>
            <a:off x="1295400" y="45847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 </a:t>
            </a:r>
            <a:r>
              <a:rPr lang="en-US" altLang="ko-KR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동안 무엇을 쌓아야 하는가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BE9BBF-F000-4E4F-958A-61E730CE2E0B}"/>
              </a:ext>
            </a:extLst>
          </p:cNvPr>
          <p:cNvSpPr txBox="1"/>
          <p:nvPr/>
        </p:nvSpPr>
        <p:spPr>
          <a:xfrm>
            <a:off x="1295400" y="48895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내신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학생부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그리고 고교 선택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B421ADE-9FD3-4E34-94F6-68564CE911F7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70B7D26-8D82-40A0-A4C1-DC40C8E7DBA5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592494-89B0-4EA4-AF7B-728334B87269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결론을 미리 말씀드리면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지금은 바꿀 때가 아니라 쌓을 때입니다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C26544-0506-48A5-B16C-20BF352BC3C8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49D831-B2A1-4E50-90FE-FEDA6E30FB9B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7867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268E869-C702-477B-AC31-CA6182C633D7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553538-59A3-43AF-BC21-4D76ECDC5413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 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D03198-57A0-45C3-B699-82021FD5F188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수능에서 선택과목이 사라집니다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67E540-EE65-4A48-AD93-3FFC9339E152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98122A9-0064-41C6-923E-A575A294F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924875"/>
              </p:ext>
            </p:extLst>
          </p:nvPr>
        </p:nvGraphicFramePr>
        <p:xfrm>
          <a:off x="812800" y="2235200"/>
          <a:ext cx="10566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53003337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753518232"/>
                    </a:ext>
                  </a:extLst>
                </a:gridCol>
                <a:gridCol w="5359400">
                  <a:extLst>
                    <a:ext uri="{9D8B030D-6E8A-4147-A177-3AD203B41FA5}">
                      <a16:colId xmlns:a16="http://schemas.microsoft.com/office/drawing/2014/main" val="4029867629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영역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 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수능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달라지는 점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24194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문항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화법과작문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언어와매체 폐지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4867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문항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확률과통계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미적분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기하 폐지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25069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탐구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통합사회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통합과학 필수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중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선택 → 둘 다 필수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7068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문항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절대평가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구조 변화 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957898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6ADB028-E234-40E5-B208-8234DE3D93C6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1566A1A-A880-479C-8C22-3BF5A10D79D2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5BCBE-44B7-461A-9966-DA08F63A7CD3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모든 학생이 같은 시험을 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과목 선택으로 유불리가 갈리던 구조가 없어집니다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AA54FF-ECB4-41F2-B459-2638AE449745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9374FF-9998-4322-A3A5-6A67CF5FA286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4474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318AD4D-7C27-4A92-834D-923A85A74193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DB96D-F574-43D3-B929-BBE32956394B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 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3A39C-309B-465B-A9B7-61ADC6C18EB1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2022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개정 교육과정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F27C08-B531-4247-8EA2-F6EA844A5568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602D1-3D21-45A8-8835-AD2BF094206D}"/>
              </a:ext>
            </a:extLst>
          </p:cNvPr>
          <p:cNvSpPr txBox="1"/>
          <p:nvPr/>
        </p:nvSpPr>
        <p:spPr>
          <a:xfrm>
            <a:off x="812800" y="19304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자기주도적으로 진로와 학업을 설계하도록 교육과정을 바꿉니다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396BFA1-B3CB-4D03-812B-9C786D63F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495988"/>
              </p:ext>
            </p:extLst>
          </p:nvPr>
        </p:nvGraphicFramePr>
        <p:xfrm>
          <a:off x="812800" y="2362200"/>
          <a:ext cx="5080000" cy="25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875583726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4541965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2091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3~6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학년 선택 교과목 도입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43827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자유학기제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→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학기로 축소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7798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고교학점제 전면 시행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9107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교육 강화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75406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EAA37CD-A180-48C4-9549-F96FDEA0E28D}"/>
              </a:ext>
            </a:extLst>
          </p:cNvPr>
          <p:cNvSpPr txBox="1"/>
          <p:nvPr/>
        </p:nvSpPr>
        <p:spPr>
          <a:xfrm>
            <a:off x="6451600" y="23622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시행 시기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295828-0010-4464-8FEF-69657B31365B}"/>
              </a:ext>
            </a:extLst>
          </p:cNvPr>
          <p:cNvSpPr txBox="1"/>
          <p:nvPr/>
        </p:nvSpPr>
        <p:spPr>
          <a:xfrm>
            <a:off x="6451600" y="2743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9E2677-4CEA-4EFE-B218-0895D9128C11}"/>
              </a:ext>
            </a:extLst>
          </p:cNvPr>
          <p:cNvSpPr txBox="1"/>
          <p:nvPr/>
        </p:nvSpPr>
        <p:spPr>
          <a:xfrm>
            <a:off x="6680200" y="2743200"/>
            <a:ext cx="459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2024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1·2</a:t>
            </a:r>
            <a:endParaRPr lang="ko-KR" altLang="en-US" sz="145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331970-19E6-4055-97E3-784AF26232AB}"/>
              </a:ext>
            </a:extLst>
          </p:cNvPr>
          <p:cNvSpPr txBox="1"/>
          <p:nvPr/>
        </p:nvSpPr>
        <p:spPr>
          <a:xfrm>
            <a:off x="6451600" y="3251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01AB36-38C9-461F-8233-90DF5F791A51}"/>
              </a:ext>
            </a:extLst>
          </p:cNvPr>
          <p:cNvSpPr txBox="1"/>
          <p:nvPr/>
        </p:nvSpPr>
        <p:spPr>
          <a:xfrm>
            <a:off x="6680200" y="3251200"/>
            <a:ext cx="459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3·4,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45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B0F133-C3EA-4C05-8FA2-B0B1BFAB0E90}"/>
              </a:ext>
            </a:extLst>
          </p:cNvPr>
          <p:cNvSpPr txBox="1"/>
          <p:nvPr/>
        </p:nvSpPr>
        <p:spPr>
          <a:xfrm>
            <a:off x="6451600" y="3759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1A0C96-0575-4CE9-B3D4-414F9A69B23E}"/>
              </a:ext>
            </a:extLst>
          </p:cNvPr>
          <p:cNvSpPr txBox="1"/>
          <p:nvPr/>
        </p:nvSpPr>
        <p:spPr>
          <a:xfrm>
            <a:off x="6680200" y="3759200"/>
            <a:ext cx="459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5·6,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2,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45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F12C22-F749-42B9-A67E-1E13550B3FC1}"/>
              </a:ext>
            </a:extLst>
          </p:cNvPr>
          <p:cNvSpPr txBox="1"/>
          <p:nvPr/>
        </p:nvSpPr>
        <p:spPr>
          <a:xfrm>
            <a:off x="6451600" y="4267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322F75-39E1-4A74-9CAF-1D8C2DB25C00}"/>
              </a:ext>
            </a:extLst>
          </p:cNvPr>
          <p:cNvSpPr txBox="1"/>
          <p:nvPr/>
        </p:nvSpPr>
        <p:spPr>
          <a:xfrm>
            <a:off x="6680200" y="4267200"/>
            <a:ext cx="459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 학년 시행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CCA8B59-EDC5-4BF6-91DD-3BD6DE7B2C0D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BDDF1E-CF93-48B8-BFAE-FABEEF817C11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D13D9C-E79A-4E78-8013-320DC6D2E16F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아이가 중학교에 있는 동안 학교의 수업과 평가 방식이 계속 바뀝니다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BE4DF3-D3A5-415D-B32C-2A03A381C44A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9DE50-629D-43BD-B5E8-2832608F6377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6288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D84471A-B004-4BB2-A60C-5239F056BF57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14BE08-CB6F-4D3A-9EDC-82C3C999015E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 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E07A7F-7BFA-46E2-AE2C-632F92A6F629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고교학점제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고등학교가 이렇게 바뀝니다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D6F0DE-F080-4D74-8186-85E5D0A39A30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DA2FABA-7466-4959-A14C-DA4DB8E43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0" y="1905000"/>
            <a:ext cx="5588000" cy="419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7F20FF-5E87-4532-9381-A28DD858B39D}"/>
              </a:ext>
            </a:extLst>
          </p:cNvPr>
          <p:cNvSpPr txBox="1"/>
          <p:nvPr/>
        </p:nvSpPr>
        <p:spPr>
          <a:xfrm>
            <a:off x="812800" y="6223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교육부 고교학점제 안내자료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376EAE-966E-4E88-8BCF-A79EC1241153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1C9163-74EF-447C-A63D-A5F9AC104244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0796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F14E8BF-77BB-4DD6-AFF2-78DFE798CD00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171C1-D15B-4CE8-BB1A-8582B1395482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 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EEFEBA-DF54-4EEB-ABE2-9DF778E42249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고교 과목 구조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융합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30CE4E-533D-4059-B0B5-D9CBAABB6DB7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890143F-D030-434F-8318-41E3EE453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512390"/>
              </p:ext>
            </p:extLst>
          </p:nvPr>
        </p:nvGraphicFramePr>
        <p:xfrm>
          <a:off x="812800" y="1930400"/>
          <a:ext cx="10566400" cy="3352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409150167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868630336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1972905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918744070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475478360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공통과목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일반선택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진로선택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융합선택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31181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공통국어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1·2</a:t>
                      </a:r>
                      <a:endParaRPr lang="ko-KR" altLang="en-US" sz="11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화법과 언어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문학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독서와 작문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주제 탐구 독서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문학과 영상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 토론과 글쓰기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매체 의사소통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9645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공통수학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1·2</a:t>
                      </a:r>
                      <a:endParaRPr lang="ko-KR" altLang="en-US" sz="11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대수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미적분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Ⅰ,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확률과 통계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미적분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기하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인공지능 수학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수학과 문화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실용통계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6019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공통영어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1·2</a:t>
                      </a:r>
                      <a:endParaRPr lang="ko-KR" altLang="en-US" sz="11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Ⅰ·Ⅱ,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독해와 작문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영미문학읽기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심화 영어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영어발표와 토론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실생활 영어 회화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미디어 영어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61589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통합사회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1·2,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한국사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1·2</a:t>
                      </a:r>
                      <a:endParaRPr lang="ko-KR" altLang="en-US" sz="11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세계시민과 지리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세계사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사회와 문화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한국지리 탐구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정치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경제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법과 사회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여행지리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사회문제 탐구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79181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통합과학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1·2</a:t>
                      </a:r>
                      <a:endParaRPr lang="ko-KR" altLang="en-US" sz="11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물리학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화학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지구과학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생명과학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역학과 에너지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생물의 유전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과학의 역사와 문화</a:t>
                      </a:r>
                      <a:r>
                        <a:rPr lang="en-US" altLang="ko-KR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융합과학 탐구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04349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A0F3A70-85AB-4C8D-B5A0-D3B45FF2CFF1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14071E-1B42-457D-9E68-54FC2C8B13FD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E477A8-AEDF-440E-9080-D0636107EB68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영어는 공통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과목을 듣고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 뒤로 일반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융합에서 골라 듣습니다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공통영어가 기준선입니다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B4C9D7-C7C1-4D38-B9C1-773D7C522BC0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103C67-482E-46B7-9AD1-1D108D1F8AEC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9435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C8CC558-E6D8-42D1-958E-6A9CA0E2CC8F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1D4DD0-F9E8-40EC-92E7-365BEFA81698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 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BA2104-D7A0-4866-A384-CE7B7FBD47B0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수능과 연계되는 과목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84082AA-54EB-43B6-BDEF-AC752E6D4BCC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F4F3A91-F287-49C0-A48B-4E7BFA7CF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25223"/>
              </p:ext>
            </p:extLst>
          </p:nvPr>
        </p:nvGraphicFramePr>
        <p:xfrm>
          <a:off x="812800" y="2133600"/>
          <a:ext cx="10566400" cy="3352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42073075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87754257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424187121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과목 구분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02135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보통교과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공통과목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기초소양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일부 수능 과목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17631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보통교과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학문 영역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일부 수능 과목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78167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보통교과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 심화 학습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65267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보통교과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융합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 적용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응용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02421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전문교과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전문공통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전공일반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전공실무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직업 계열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25755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3F132225-6F8B-4CF7-AD7D-AA659A9B6180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CBBA6A-73DA-4231-8242-0625A94E5D05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5DBC8-8785-45F8-97CB-19839ACB6060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수능에 나오는 것은 공통과목과 일반선택입니다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융합은 학생부로 평가받습니다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E6E655-C0B0-406F-BC1F-A5FCFBA6A521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D52C43-5167-48F1-B738-2EFBF3D16E8E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351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F2D031F-1169-4703-9C3E-3337CCE2969A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13948-0952-4643-85C5-79735513374E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 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7D4AFA-F399-4CAF-913C-3B2D4BC9D6C8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고교 내신이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등급에서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등급으로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580BDB-EE0C-4BB8-9427-64C04D496A56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C46B52C-34C6-446D-B95C-0478C9226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480364"/>
              </p:ext>
            </p:extLst>
          </p:nvPr>
        </p:nvGraphicFramePr>
        <p:xfrm>
          <a:off x="812800" y="2032000"/>
          <a:ext cx="60960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952344539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432154958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08310399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599907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 (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현행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비율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 (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개편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비율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09787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0627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08758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6321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68507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5~9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55427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D2F9901-375E-4F7B-AE2A-DE30530C1212}"/>
              </a:ext>
            </a:extLst>
          </p:cNvPr>
          <p:cNvSpPr txBox="1"/>
          <p:nvPr/>
        </p:nvSpPr>
        <p:spPr>
          <a:xfrm>
            <a:off x="7315200" y="20320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함께 바뀌는 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27D6C-A299-4F51-B40D-BD3FA0C2CF80}"/>
              </a:ext>
            </a:extLst>
          </p:cNvPr>
          <p:cNvSpPr txBox="1"/>
          <p:nvPr/>
        </p:nvSpPr>
        <p:spPr>
          <a:xfrm>
            <a:off x="7315200" y="2413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F03E8A-1172-4E15-9BA6-0EA01E57BD97}"/>
              </a:ext>
            </a:extLst>
          </p:cNvPr>
          <p:cNvSpPr txBox="1"/>
          <p:nvPr/>
        </p:nvSpPr>
        <p:spPr>
          <a:xfrm>
            <a:off x="7543800" y="2413000"/>
            <a:ext cx="383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1·2·3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 학년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 과목 동일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24BA4D-8A5A-419C-B53B-EC6A71B4F90C}"/>
              </a:ext>
            </a:extLst>
          </p:cNvPr>
          <p:cNvSpPr txBox="1"/>
          <p:nvPr/>
        </p:nvSpPr>
        <p:spPr>
          <a:xfrm>
            <a:off x="7315200" y="2946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EE91B9-96B1-4EFC-AD3B-2CAB97E32466}"/>
              </a:ext>
            </a:extLst>
          </p:cNvPr>
          <p:cNvSpPr txBox="1"/>
          <p:nvPr/>
        </p:nvSpPr>
        <p:spPr>
          <a:xfrm>
            <a:off x="7543800" y="2946400"/>
            <a:ext cx="383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절대평가와 상대평가 함께 표기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9187BF-CDD1-44E8-9904-4D61B975DF26}"/>
              </a:ext>
            </a:extLst>
          </p:cNvPr>
          <p:cNvSpPr txBox="1"/>
          <p:nvPr/>
        </p:nvSpPr>
        <p:spPr>
          <a:xfrm>
            <a:off x="7315200" y="3479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F7A45A-FF1F-41CC-BE1B-B55CF60AB419}"/>
              </a:ext>
            </a:extLst>
          </p:cNvPr>
          <p:cNvSpPr txBox="1"/>
          <p:nvPr/>
        </p:nvSpPr>
        <p:spPr>
          <a:xfrm>
            <a:off x="7543800" y="3479800"/>
            <a:ext cx="383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서술형 평가 확대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E3A613-B6FE-48E6-8149-77D66D8916A5}"/>
              </a:ext>
            </a:extLst>
          </p:cNvPr>
          <p:cNvSpPr txBox="1"/>
          <p:nvPr/>
        </p:nvSpPr>
        <p:spPr>
          <a:xfrm>
            <a:off x="7315200" y="4013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4359A5-2A6F-4D24-B5CA-3747235FC3EE}"/>
              </a:ext>
            </a:extLst>
          </p:cNvPr>
          <p:cNvSpPr txBox="1"/>
          <p:nvPr/>
        </p:nvSpPr>
        <p:spPr>
          <a:xfrm>
            <a:off x="7543800" y="4013200"/>
            <a:ext cx="383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사고력 중심 평가로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3F88E83-328A-4847-A827-CF81EC32FEEC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90CC4F-7D27-4F3D-BC2C-CACC99E48C16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68BBCA-7129-468A-92BE-080B1803008A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등급이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10%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넓어지면 내신만으로 줄을 세우기 어려워집니다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대학은 다른 것을 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1CFDAA-9176-466E-8ABC-39EB1960E4FE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6D8772-3A32-4503-9021-C0DE577CF6C7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7740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EC0A65C-9F61-4CBC-BDE0-8F789E89AE97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29DF5-9B79-4C01-9CE2-1679AB072325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 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FDD50B-AB1A-4747-8710-EBF2ED448DA4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생활기록부에 이렇게 남습니다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056CCF-F63B-44BC-9792-82146BDA1702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294F243-353B-4054-84BC-76DE56758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140047"/>
              </p:ext>
            </p:extLst>
          </p:nvPr>
        </p:nvGraphicFramePr>
        <p:xfrm>
          <a:off x="812800" y="2032000"/>
          <a:ext cx="10566400" cy="3352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719549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905447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32707021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62739826"/>
                    </a:ext>
                  </a:extLst>
                </a:gridCol>
                <a:gridCol w="3835400">
                  <a:extLst>
                    <a:ext uri="{9D8B030D-6E8A-4147-A177-3AD203B41FA5}">
                      <a16:colId xmlns:a16="http://schemas.microsoft.com/office/drawing/2014/main" val="3352195991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원점수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성취도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석차등급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9927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보통교과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pt-BR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A·B·C·D·E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성취도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 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과목평균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수강자수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92774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사회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과학 융합선택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pt-BR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A·B·C·D·E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성취도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 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과목평균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수강자수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98923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체육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예술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과학탐구실험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A·B·C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74846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교양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 (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이수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76597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전문교과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pt-BR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A·B·C·D·E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성취도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 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과목평균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수강자수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685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761D607-B3C5-48F1-9552-B3A229551F2F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5766AF2-0842-4CF2-B509-C0454E4621BD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0AE7A2-7738-4A25-8003-C32182368C7D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융합선택 과목은 등급이 안 나옵니다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 과목을 고르느냐가 내신 전략이 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4D934C-820A-42ED-A544-029A6DB5A344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A71F1F-3E19-41C5-AB38-928E1761316D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3492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2D2900E-D0BF-4EC4-9CA5-99A40F9DA73B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18346-361C-458A-9480-EAC0113DEE7C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 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D69D5-19CE-4180-B43C-38518AF0B02D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 논의되는 것이 우리 아이 제도입니다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9F76F8-C1F0-4A56-94C4-3C0A9198CC7E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565CBA-37BE-45AA-A4A7-1DAF124156B8}"/>
              </a:ext>
            </a:extLst>
          </p:cNvPr>
          <p:cNvSpPr txBox="1"/>
          <p:nvPr/>
        </p:nvSpPr>
        <p:spPr>
          <a:xfrm>
            <a:off x="812800" y="2159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229EEB-A736-4361-96AE-477CE0E20F79}"/>
              </a:ext>
            </a:extLst>
          </p:cNvPr>
          <p:cNvSpPr txBox="1"/>
          <p:nvPr/>
        </p:nvSpPr>
        <p:spPr>
          <a:xfrm>
            <a:off x="1041400" y="21590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국가교육위원회가 새 대입 제도를 논의하고 있습니다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27CE72-E9CA-4286-8B12-90E25CB2D097}"/>
              </a:ext>
            </a:extLst>
          </p:cNvPr>
          <p:cNvSpPr txBox="1"/>
          <p:nvPr/>
        </p:nvSpPr>
        <p:spPr>
          <a:xfrm>
            <a:off x="812800" y="2819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4CE04C-4A68-481C-AD7F-967842220585}"/>
              </a:ext>
            </a:extLst>
          </p:cNvPr>
          <p:cNvSpPr txBox="1"/>
          <p:nvPr/>
        </p:nvSpPr>
        <p:spPr>
          <a:xfrm>
            <a:off x="1041400" y="2819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 시점으로 </a:t>
            </a:r>
            <a:r>
              <a:rPr lang="en-US" altLang="ko-KR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 초등학교 </a:t>
            </a:r>
            <a:r>
              <a:rPr lang="en-US" altLang="ko-KR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학년이 치르는 </a:t>
            </a:r>
            <a:r>
              <a:rPr lang="en-US" altLang="ko-KR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2033</a:t>
            </a: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유력하게 거론됩니다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030C13-6296-44EB-A390-BB5B357F271E}"/>
              </a:ext>
            </a:extLst>
          </p:cNvPr>
          <p:cNvSpPr txBox="1"/>
          <p:nvPr/>
        </p:nvSpPr>
        <p:spPr>
          <a:xfrm>
            <a:off x="812800" y="3479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B80011-0AA2-4BC7-BB72-E97A299376D7}"/>
              </a:ext>
            </a:extLst>
          </p:cNvPr>
          <p:cNvSpPr txBox="1"/>
          <p:nvPr/>
        </p:nvSpPr>
        <p:spPr>
          <a:xfrm>
            <a:off x="1041400" y="34798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내신 절대평가는 </a:t>
            </a:r>
            <a:r>
              <a:rPr lang="en-US" altLang="ko-KR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2030</a:t>
            </a: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고교 진학자부터 </a:t>
            </a:r>
            <a:r>
              <a:rPr lang="en-US" altLang="ko-KR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 초</a:t>
            </a:r>
            <a:r>
              <a:rPr lang="en-US" altLang="ko-KR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en-US" altLang="ko-KR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2030</a:t>
            </a: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년에 고</a:t>
            </a:r>
            <a:r>
              <a:rPr lang="en-US" altLang="ko-KR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됩니다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2EBE93-43F2-468F-B4AF-A27A4EAF6116}"/>
              </a:ext>
            </a:extLst>
          </p:cNvPr>
          <p:cNvSpPr/>
          <p:nvPr/>
        </p:nvSpPr>
        <p:spPr>
          <a:xfrm>
            <a:off x="812800" y="4521200"/>
            <a:ext cx="10566400" cy="10668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3EABE19-03AD-4B75-B1F3-9FBE26C6D0C7}"/>
              </a:ext>
            </a:extLst>
          </p:cNvPr>
          <p:cNvSpPr/>
          <p:nvPr/>
        </p:nvSpPr>
        <p:spPr>
          <a:xfrm>
            <a:off x="812800" y="4521200"/>
            <a:ext cx="63500" cy="1066800"/>
          </a:xfrm>
          <a:prstGeom prst="rect">
            <a:avLst/>
          </a:prstGeom>
          <a:solidFill>
            <a:srgbClr val="9A6B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93367D-E662-4FB4-B324-E57ED6DB54C4}"/>
              </a:ext>
            </a:extLst>
          </p:cNvPr>
          <p:cNvSpPr txBox="1"/>
          <p:nvPr/>
        </p:nvSpPr>
        <p:spPr>
          <a:xfrm>
            <a:off x="1143000" y="4648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2028</a:t>
            </a: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안은 형들 제도입니다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 만들어지는 것이 우리 아이 제도입니다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9A6B0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7CD862-DDED-4D43-92E5-91DE3BFE5A65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2DE6BC-1036-478C-BDEE-EABB4FF94392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913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ED4A2BF-AFC8-4D33-A829-A1C3AB4A6BF9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168A55-E81E-4D2A-9445-C412BD25961B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 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8F651-481E-4C1B-9BE9-F0C02ED1B31E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논의되는 세 가지 변화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867F7D-3F1D-422C-9182-6020FA580507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E02FF9-C164-4D6E-A2B9-F789F381C07D}"/>
              </a:ext>
            </a:extLst>
          </p:cNvPr>
          <p:cNvSpPr/>
          <p:nvPr/>
        </p:nvSpPr>
        <p:spPr>
          <a:xfrm>
            <a:off x="812800" y="2006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AD5489-3A5E-437E-B44A-A8C19397E205}"/>
              </a:ext>
            </a:extLst>
          </p:cNvPr>
          <p:cNvSpPr txBox="1"/>
          <p:nvPr/>
        </p:nvSpPr>
        <p:spPr>
          <a:xfrm>
            <a:off x="812800" y="2057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F79265-AAFB-4E10-BB4F-23BA0EB1DF84}"/>
              </a:ext>
            </a:extLst>
          </p:cNvPr>
          <p:cNvSpPr txBox="1"/>
          <p:nvPr/>
        </p:nvSpPr>
        <p:spPr>
          <a:xfrm>
            <a:off x="1295400" y="2019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전 과목 절대평가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1BFF1D-EA59-43FC-B5E2-4C4111DD5613}"/>
              </a:ext>
            </a:extLst>
          </p:cNvPr>
          <p:cNvSpPr txBox="1"/>
          <p:nvPr/>
        </p:nvSpPr>
        <p:spPr>
          <a:xfrm>
            <a:off x="1295400" y="2324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지금은 영어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한국사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외국어만 절대평가입니다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국어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수학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탐구까지 넓히고 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80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이상을 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등급으로 하는 안이 거론됩니다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8F75F8-6B23-46EB-8F75-262A2D4D4D44}"/>
              </a:ext>
            </a:extLst>
          </p:cNvPr>
          <p:cNvSpPr/>
          <p:nvPr/>
        </p:nvSpPr>
        <p:spPr>
          <a:xfrm>
            <a:off x="812800" y="33274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BE8A8E-54BA-4F5D-AA44-4ED1E896DEE5}"/>
              </a:ext>
            </a:extLst>
          </p:cNvPr>
          <p:cNvSpPr txBox="1"/>
          <p:nvPr/>
        </p:nvSpPr>
        <p:spPr>
          <a:xfrm>
            <a:off x="812800" y="33782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404CF4-29D1-4059-AC64-5010F9BCC422}"/>
              </a:ext>
            </a:extLst>
          </p:cNvPr>
          <p:cNvSpPr txBox="1"/>
          <p:nvPr/>
        </p:nvSpPr>
        <p:spPr>
          <a:xfrm>
            <a:off x="1295400" y="3340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수능에 서</a:t>
            </a:r>
            <a:r>
              <a:rPr lang="en-US" altLang="ko-KR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논술형 문항 도입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E04AFC-D2BF-41A4-9825-3C0D71BC0456}"/>
              </a:ext>
            </a:extLst>
          </p:cNvPr>
          <p:cNvSpPr txBox="1"/>
          <p:nvPr/>
        </p:nvSpPr>
        <p:spPr>
          <a:xfrm>
            <a:off x="1295400" y="36449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고르는 시험에서 쓰는 시험으로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고교 내신은 이미 서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논술형이 최대 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40%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까지 반영되고 있습니다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FCFAD53-C0F8-46D7-BBF6-7FFDCC1256CB}"/>
              </a:ext>
            </a:extLst>
          </p:cNvPr>
          <p:cNvSpPr/>
          <p:nvPr/>
        </p:nvSpPr>
        <p:spPr>
          <a:xfrm>
            <a:off x="812800" y="46482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28A25C-43A4-4222-84A3-C2F0D4142DE0}"/>
              </a:ext>
            </a:extLst>
          </p:cNvPr>
          <p:cNvSpPr txBox="1"/>
          <p:nvPr/>
        </p:nvSpPr>
        <p:spPr>
          <a:xfrm>
            <a:off x="812800" y="46990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D7B374-CED0-46B4-B9D4-55A1EDB01072}"/>
              </a:ext>
            </a:extLst>
          </p:cNvPr>
          <p:cNvSpPr txBox="1"/>
          <p:nvPr/>
        </p:nvSpPr>
        <p:spPr>
          <a:xfrm>
            <a:off x="1295400" y="46609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수시</a:t>
            </a:r>
            <a:r>
              <a:rPr lang="en-US" altLang="ko-KR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정시 시기 통합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DFE1E9-6F36-4FEA-B5DA-C1BC1EBEFA49}"/>
              </a:ext>
            </a:extLst>
          </p:cNvPr>
          <p:cNvSpPr txBox="1"/>
          <p:nvPr/>
        </p:nvSpPr>
        <p:spPr>
          <a:xfrm>
            <a:off x="1295400" y="49657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지금은 수시 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80.8%,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정시 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19.2%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나뉘어 있습니다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구조 자체를 손보는 방향입니다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BBFEB6-86A3-475F-8CE8-0C544B496B4C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F7B9C4-D5BD-4D5A-B356-B4F7EA4A986E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4604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3BCB245-0A1A-4ABA-8F44-3C5AEBDD549F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8EBF43-1E32-4396-AE2F-2EEC26697A3F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 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F24F92-81D8-4E41-8A8A-86C7ACF1FD3D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언제 확정되나요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45FC92-5E7A-4DC8-9CD8-A3BCC3719158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D4D5FE-98F9-4B83-A437-51E1DDC9FC78}"/>
              </a:ext>
            </a:extLst>
          </p:cNvPr>
          <p:cNvSpPr/>
          <p:nvPr/>
        </p:nvSpPr>
        <p:spPr>
          <a:xfrm>
            <a:off x="812800" y="2133600"/>
            <a:ext cx="3251200" cy="16002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4CBC-49CA-41AD-A596-8D846568EDB6}"/>
              </a:ext>
            </a:extLst>
          </p:cNvPr>
          <p:cNvSpPr txBox="1"/>
          <p:nvPr/>
        </p:nvSpPr>
        <p:spPr>
          <a:xfrm>
            <a:off x="1066800" y="23876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C7CA44-9255-42B4-BCDB-BAFC76CF7EE1}"/>
              </a:ext>
            </a:extLst>
          </p:cNvPr>
          <p:cNvSpPr txBox="1"/>
          <p:nvPr/>
        </p:nvSpPr>
        <p:spPr>
          <a:xfrm>
            <a:off x="1066800" y="2692400"/>
            <a:ext cx="2743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시안 공개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7C94F0-6BEB-4D58-B405-57736A8CFD0F}"/>
              </a:ext>
            </a:extLst>
          </p:cNvPr>
          <p:cNvSpPr txBox="1"/>
          <p:nvPr/>
        </p:nvSpPr>
        <p:spPr>
          <a:xfrm>
            <a:off x="1066800" y="30988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2028~2037 </a:t>
            </a:r>
            <a:r>
              <a:rPr lang="ko-KR" altLang="en-US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국가교육발전계획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31404F2-2450-4977-99AB-741B145FAF44}"/>
              </a:ext>
            </a:extLst>
          </p:cNvPr>
          <p:cNvSpPr/>
          <p:nvPr/>
        </p:nvSpPr>
        <p:spPr>
          <a:xfrm>
            <a:off x="4470400" y="2133600"/>
            <a:ext cx="3251200" cy="16002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6E17A3-443F-45B2-948D-C2D3ECAAF3D3}"/>
              </a:ext>
            </a:extLst>
          </p:cNvPr>
          <p:cNvSpPr txBox="1"/>
          <p:nvPr/>
        </p:nvSpPr>
        <p:spPr>
          <a:xfrm>
            <a:off x="4724400" y="23876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하반기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45D0B1-777F-4179-A089-ED7551CCF25B}"/>
              </a:ext>
            </a:extLst>
          </p:cNvPr>
          <p:cNvSpPr txBox="1"/>
          <p:nvPr/>
        </p:nvSpPr>
        <p:spPr>
          <a:xfrm>
            <a:off x="4724400" y="2692400"/>
            <a:ext cx="2743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대국민 공론화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99BD58-5277-4718-9229-43BBA27451B2}"/>
              </a:ext>
            </a:extLst>
          </p:cNvPr>
          <p:cNvSpPr txBox="1"/>
          <p:nvPr/>
        </p:nvSpPr>
        <p:spPr>
          <a:xfrm>
            <a:off x="4724400" y="30988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의견 수렴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D684A1-2FD4-487D-BDEB-64C6D3FA8171}"/>
              </a:ext>
            </a:extLst>
          </p:cNvPr>
          <p:cNvSpPr/>
          <p:nvPr/>
        </p:nvSpPr>
        <p:spPr>
          <a:xfrm>
            <a:off x="8128000" y="2133600"/>
            <a:ext cx="3251200" cy="16002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E94427-1B65-4679-8992-DCC031D58D51}"/>
              </a:ext>
            </a:extLst>
          </p:cNvPr>
          <p:cNvSpPr txBox="1"/>
          <p:nvPr/>
        </p:nvSpPr>
        <p:spPr>
          <a:xfrm>
            <a:off x="8382000" y="23876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30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D88D9B-B23A-43E9-96DD-1111B22E571E}"/>
              </a:ext>
            </a:extLst>
          </p:cNvPr>
          <p:cNvSpPr txBox="1"/>
          <p:nvPr/>
        </p:nvSpPr>
        <p:spPr>
          <a:xfrm>
            <a:off x="8382000" y="2692400"/>
            <a:ext cx="2743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최종안 확정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FC376D-4487-44D5-8534-C75B95D23850}"/>
              </a:ext>
            </a:extLst>
          </p:cNvPr>
          <p:cNvSpPr txBox="1"/>
          <p:nvPr/>
        </p:nvSpPr>
        <p:spPr>
          <a:xfrm>
            <a:off x="8382000" y="30988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이때 윤곽이 나옵니다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2C0570-D746-4CBA-A3A5-024799CCFADE}"/>
              </a:ext>
            </a:extLst>
          </p:cNvPr>
          <p:cNvSpPr/>
          <p:nvPr/>
        </p:nvSpPr>
        <p:spPr>
          <a:xfrm>
            <a:off x="812800" y="4165600"/>
            <a:ext cx="10566400" cy="10668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0D5E39-2213-420F-AD13-D82C01ABA639}"/>
              </a:ext>
            </a:extLst>
          </p:cNvPr>
          <p:cNvSpPr/>
          <p:nvPr/>
        </p:nvSpPr>
        <p:spPr>
          <a:xfrm>
            <a:off x="812800" y="4165600"/>
            <a:ext cx="63500" cy="1066800"/>
          </a:xfrm>
          <a:prstGeom prst="rect">
            <a:avLst/>
          </a:prstGeom>
          <a:solidFill>
            <a:srgbClr val="A037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E21086-B88A-436E-9C53-F77BAA189DCA}"/>
              </a:ext>
            </a:extLst>
          </p:cNvPr>
          <p:cNvSpPr txBox="1"/>
          <p:nvPr/>
        </p:nvSpPr>
        <p:spPr>
          <a:xfrm>
            <a:off x="1143000" y="42926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지금은 학원을 옮기거나 과목을 바꾸실 때가 아닙니다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내년 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월에 다시 자리를 만들어 말씀드리겠습니다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A037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A51184-C931-476C-95DA-E28B615A28CF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AF76EA-33BB-47E5-A0EF-074CF092F9A7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9383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3C46B52-6E62-4BC0-ADF5-9F56D5D23427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5A75E4-0D3F-47CD-B9EE-9B51A321801A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 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03689-1DA0-4D01-BCAD-FBA6AD9DEF16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교육계 의견은 갈려 있습니다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74E58A-229F-4371-8B36-939B9B825802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DC63172-59AB-4A6F-94C5-C3DC0CC2D5ED}"/>
              </a:ext>
            </a:extLst>
          </p:cNvPr>
          <p:cNvSpPr/>
          <p:nvPr/>
        </p:nvSpPr>
        <p:spPr>
          <a:xfrm>
            <a:off x="812800" y="1930400"/>
            <a:ext cx="5130800" cy="17780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339CB8-F33B-4CA1-80A8-51E2C66FA93D}"/>
              </a:ext>
            </a:extLst>
          </p:cNvPr>
          <p:cNvSpPr txBox="1"/>
          <p:nvPr/>
        </p:nvSpPr>
        <p:spPr>
          <a:xfrm>
            <a:off x="1117600" y="2159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찬성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1BC8DF-E73A-4F85-9BE6-6BE1D92FD1E2}"/>
              </a:ext>
            </a:extLst>
          </p:cNvPr>
          <p:cNvSpPr txBox="1"/>
          <p:nvPr/>
        </p:nvSpPr>
        <p:spPr>
          <a:xfrm>
            <a:off x="1117600" y="25146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시대에는 문제를 정의하고 근거를 들어 자기 생각을 설명하는 능력이 중요하다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학교 수업에 기반한 서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논술형이면 공교육 중심 대입이 가능하다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35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E4B98D-3C25-451C-B9EA-6707054F7EF0}"/>
              </a:ext>
            </a:extLst>
          </p:cNvPr>
          <p:cNvSpPr/>
          <p:nvPr/>
        </p:nvSpPr>
        <p:spPr>
          <a:xfrm>
            <a:off x="6248400" y="1930400"/>
            <a:ext cx="5130800" cy="17780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BA6FA7-7BD9-4F7E-A36B-6E96340A8B49}"/>
              </a:ext>
            </a:extLst>
          </p:cNvPr>
          <p:cNvSpPr txBox="1"/>
          <p:nvPr/>
        </p:nvSpPr>
        <p:spPr>
          <a:xfrm>
            <a:off x="6553200" y="2159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반대 </a:t>
            </a:r>
            <a:r>
              <a:rPr lang="en-US" altLang="ko-KR" sz="15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647E2F-FF15-406C-9F2E-559C1312D9DB}"/>
              </a:ext>
            </a:extLst>
          </p:cNvPr>
          <p:cNvSpPr txBox="1"/>
          <p:nvPr/>
        </p:nvSpPr>
        <p:spPr>
          <a:xfrm>
            <a:off x="6553200" y="25146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 방식만 바꿔서는 입시 경쟁을 줄일 수 없다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논술형을 작동시킬 조건과 채점 신뢰성이 먼저 논의돼야 한다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35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ACE721F-C37B-409F-BB89-54C0D848CD02}"/>
              </a:ext>
            </a:extLst>
          </p:cNvPr>
          <p:cNvSpPr/>
          <p:nvPr/>
        </p:nvSpPr>
        <p:spPr>
          <a:xfrm>
            <a:off x="812800" y="4064000"/>
            <a:ext cx="10566400" cy="10668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26D4269-0D4A-47A3-8A91-B10FC7D34E7D}"/>
              </a:ext>
            </a:extLst>
          </p:cNvPr>
          <p:cNvSpPr/>
          <p:nvPr/>
        </p:nvSpPr>
        <p:spPr>
          <a:xfrm>
            <a:off x="812800" y="4064000"/>
            <a:ext cx="63500" cy="1066800"/>
          </a:xfrm>
          <a:prstGeom prst="rect">
            <a:avLst/>
          </a:prstGeom>
          <a:solidFill>
            <a:srgbClr val="9A6B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FCB4C5-C626-4A8E-9DE9-8FDD57D488D3}"/>
              </a:ext>
            </a:extLst>
          </p:cNvPr>
          <p:cNvSpPr txBox="1"/>
          <p:nvPr/>
        </p:nvSpPr>
        <p:spPr>
          <a:xfrm>
            <a:off x="1143000" y="4191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가장 큰 우려 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수능이 변별을 못 하면 대학이 논술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면접을 강화하고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사교육이 그쪽으로 옮겨갑니다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9A6B0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0D6B44-C67A-4A21-8220-98405F6ACB13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21B45A-8966-4C35-8A8F-B3B5815B325E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17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8259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D5494B5-34F6-402C-BC78-37ED7DF64D27}"/>
              </a:ext>
            </a:extLst>
          </p:cNvPr>
          <p:cNvSpPr/>
          <p:nvPr/>
        </p:nvSpPr>
        <p:spPr>
          <a:xfrm>
            <a:off x="812800" y="508000"/>
            <a:ext cx="1219200" cy="3302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2EC483-7901-421D-8F37-E067A88D0315}"/>
              </a:ext>
            </a:extLst>
          </p:cNvPr>
          <p:cNvSpPr txBox="1"/>
          <p:nvPr/>
        </p:nvSpPr>
        <p:spPr>
          <a:xfrm>
            <a:off x="812800" y="5715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 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D6FD9-579D-43E5-A9AD-4E9BD8E99E80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어느 쪽이 되든 남는 것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C597B1-A2C4-4222-82A3-C9654E0206F4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6E0A2E-5D29-4FF3-B6BF-BC58FCF2ECD2}"/>
              </a:ext>
            </a:extLst>
          </p:cNvPr>
          <p:cNvSpPr/>
          <p:nvPr/>
        </p:nvSpPr>
        <p:spPr>
          <a:xfrm>
            <a:off x="812800" y="2006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C5B39E-A95E-4AB4-BAF9-52274F8C1BDB}"/>
              </a:ext>
            </a:extLst>
          </p:cNvPr>
          <p:cNvSpPr txBox="1"/>
          <p:nvPr/>
        </p:nvSpPr>
        <p:spPr>
          <a:xfrm>
            <a:off x="812800" y="2057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F11B2C-623F-4B9E-82A9-B92BE5B16C35}"/>
              </a:ext>
            </a:extLst>
          </p:cNvPr>
          <p:cNvSpPr txBox="1"/>
          <p:nvPr/>
        </p:nvSpPr>
        <p:spPr>
          <a:xfrm>
            <a:off x="1295400" y="2019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</a:t>
            </a:r>
            <a:r>
              <a:rPr lang="en-US" altLang="ko-KR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논술형은 방향으로 굳어졌습니다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8E5F79-F151-4E60-965E-547B2D9D4D0A}"/>
              </a:ext>
            </a:extLst>
          </p:cNvPr>
          <p:cNvSpPr txBox="1"/>
          <p:nvPr/>
        </p:nvSpPr>
        <p:spPr>
          <a:xfrm>
            <a:off x="1295400" y="2324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속도만 문제입니다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내신은 이미 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40%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까지 와 있습니다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B37B88B-8CAD-4309-BFA6-824F7EADB447}"/>
              </a:ext>
            </a:extLst>
          </p:cNvPr>
          <p:cNvSpPr/>
          <p:nvPr/>
        </p:nvSpPr>
        <p:spPr>
          <a:xfrm>
            <a:off x="812800" y="3149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EBC7F3-6791-4383-8AC0-1E858ED23A19}"/>
              </a:ext>
            </a:extLst>
          </p:cNvPr>
          <p:cNvSpPr txBox="1"/>
          <p:nvPr/>
        </p:nvSpPr>
        <p:spPr>
          <a:xfrm>
            <a:off x="812800" y="3200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1B05F0-BC2C-49A8-94F1-81518B1E3882}"/>
              </a:ext>
            </a:extLst>
          </p:cNvPr>
          <p:cNvSpPr txBox="1"/>
          <p:nvPr/>
        </p:nvSpPr>
        <p:spPr>
          <a:xfrm>
            <a:off x="1295400" y="3162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 확대도 방향입니다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A0051D-2A4E-452C-BB79-8F1B1D93EAAA}"/>
              </a:ext>
            </a:extLst>
          </p:cNvPr>
          <p:cNvSpPr txBox="1"/>
          <p:nvPr/>
        </p:nvSpPr>
        <p:spPr>
          <a:xfrm>
            <a:off x="1295400" y="3467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 과목이냐 일부냐의 문제입니다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B8E33E-8BC1-4968-96FB-C312A1D35CB1}"/>
              </a:ext>
            </a:extLst>
          </p:cNvPr>
          <p:cNvSpPr/>
          <p:nvPr/>
        </p:nvSpPr>
        <p:spPr>
          <a:xfrm>
            <a:off x="812800" y="4292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C431F1-C1AD-4AFF-A8B5-BBE76EC42590}"/>
              </a:ext>
            </a:extLst>
          </p:cNvPr>
          <p:cNvSpPr txBox="1"/>
          <p:nvPr/>
        </p:nvSpPr>
        <p:spPr>
          <a:xfrm>
            <a:off x="812800" y="4343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2B4355-3E85-436A-9821-48B5473E81BF}"/>
              </a:ext>
            </a:extLst>
          </p:cNvPr>
          <p:cNvSpPr txBox="1"/>
          <p:nvPr/>
        </p:nvSpPr>
        <p:spPr>
          <a:xfrm>
            <a:off x="1295400" y="4305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변별은 어딘가로 옮겨갑니다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9AC549-515C-4B92-A963-5204659B2AD9}"/>
              </a:ext>
            </a:extLst>
          </p:cNvPr>
          <p:cNvSpPr txBox="1"/>
          <p:nvPr/>
        </p:nvSpPr>
        <p:spPr>
          <a:xfrm>
            <a:off x="1295400" y="4610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수능이 못 하면 내신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학생부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대학별고사가 합니다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없어지지 않습니다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A983198-9C3F-4560-B61F-40807256C82C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4F600CA-3474-4001-9FA7-DF91ECB20F72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CF6DF0-2167-4494-961F-6A4208F41F15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제도를 쫓아가면 늘 늦습니다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 제도가 와도 통하는 것을 쌓아야 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849A70-264C-4BCC-9F2E-3E82489AA529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7A9C2C-4A70-4180-A7B3-408EE57084C3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047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BAB64E5-E990-48DB-89D0-D55CF4C10F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9194B7-02D0-4301-8843-E19F475E7AFB}"/>
              </a:ext>
            </a:extLst>
          </p:cNvPr>
          <p:cNvSpPr txBox="1"/>
          <p:nvPr/>
        </p:nvSpPr>
        <p:spPr>
          <a:xfrm>
            <a:off x="1219200" y="22352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6E23D-FF16-4BC8-A5C5-CEC328D0D60E}"/>
              </a:ext>
            </a:extLst>
          </p:cNvPr>
          <p:cNvSpPr txBox="1"/>
          <p:nvPr/>
        </p:nvSpPr>
        <p:spPr>
          <a:xfrm>
            <a:off x="1219200" y="269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영어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1918E1-23A4-466E-9C0A-CF90A2DE5143}"/>
              </a:ext>
            </a:extLst>
          </p:cNvPr>
          <p:cNvSpPr/>
          <p:nvPr/>
        </p:nvSpPr>
        <p:spPr>
          <a:xfrm>
            <a:off x="1219200" y="3683000"/>
            <a:ext cx="812800" cy="50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290D04-D2D9-4522-91BC-ABBC51C1B5C3}"/>
              </a:ext>
            </a:extLst>
          </p:cNvPr>
          <p:cNvSpPr txBox="1"/>
          <p:nvPr/>
        </p:nvSpPr>
        <p:spPr>
          <a:xfrm>
            <a:off x="1219200" y="396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 시대에 영어는 어떤 위치인가</a:t>
            </a:r>
          </a:p>
        </p:txBody>
      </p:sp>
    </p:spTree>
    <p:extLst>
      <p:ext uri="{BB962C8B-B14F-4D97-AF65-F5344CB8AC3E}">
        <p14:creationId xmlns:p14="http://schemas.microsoft.com/office/powerpoint/2010/main" val="62056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563EE2-2DBA-412E-BCEA-330310BA99F2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영어 절대평가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1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등급이 목표입니다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5F28E5B-C3F1-4A8F-A374-D0B0B2BD80A0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7C7367A-6555-4D51-9B01-8FBF90592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92" y="1828800"/>
            <a:ext cx="4651816" cy="279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62466F-3089-48CF-A01E-CAE9810DC1A0}"/>
              </a:ext>
            </a:extLst>
          </p:cNvPr>
          <p:cNvSpPr txBox="1"/>
          <p:nvPr/>
        </p:nvSpPr>
        <p:spPr>
          <a:xfrm>
            <a:off x="6299200" y="2159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7B0BA-BA79-478D-B876-49B057D1492D}"/>
              </a:ext>
            </a:extLst>
          </p:cNvPr>
          <p:cNvSpPr txBox="1"/>
          <p:nvPr/>
        </p:nvSpPr>
        <p:spPr>
          <a:xfrm>
            <a:off x="6527800" y="2159000"/>
            <a:ext cx="485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이상이면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 아이와 비교하지 않습니다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443740-D9D2-4886-9A5E-49F351AEE282}"/>
              </a:ext>
            </a:extLst>
          </p:cNvPr>
          <p:cNvSpPr txBox="1"/>
          <p:nvPr/>
        </p:nvSpPr>
        <p:spPr>
          <a:xfrm>
            <a:off x="6299200" y="2819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639C43-F6CB-4D4F-AF07-A6A22B77A67D}"/>
              </a:ext>
            </a:extLst>
          </p:cNvPr>
          <p:cNvSpPr txBox="1"/>
          <p:nvPr/>
        </p:nvSpPr>
        <p:spPr>
          <a:xfrm>
            <a:off x="6527800" y="2819400"/>
            <a:ext cx="485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정원이 없습니다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 전원이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등급을 받을 수도 있습니다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5D3CD8-98CA-4963-AB5D-60B4ADF845A3}"/>
              </a:ext>
            </a:extLst>
          </p:cNvPr>
          <p:cNvSpPr txBox="1"/>
          <p:nvPr/>
        </p:nvSpPr>
        <p:spPr>
          <a:xfrm>
            <a:off x="6299200" y="3479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CB0563-63A8-4525-87C6-31C651688EA8}"/>
              </a:ext>
            </a:extLst>
          </p:cNvPr>
          <p:cNvSpPr txBox="1"/>
          <p:nvPr/>
        </p:nvSpPr>
        <p:spPr>
          <a:xfrm>
            <a:off x="6527800" y="3479800"/>
            <a:ext cx="485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그래서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등급은 목표가 아니라 기본값이 됩니다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AE0B204-CF0E-464E-AAB5-6D8D7CC98BE3}"/>
              </a:ext>
            </a:extLst>
          </p:cNvPr>
          <p:cNvSpPr/>
          <p:nvPr/>
        </p:nvSpPr>
        <p:spPr>
          <a:xfrm>
            <a:off x="812800" y="4826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5D5B0D6-F240-433C-B894-C0AAD95419B0}"/>
              </a:ext>
            </a:extLst>
          </p:cNvPr>
          <p:cNvSpPr/>
          <p:nvPr/>
        </p:nvSpPr>
        <p:spPr>
          <a:xfrm>
            <a:off x="812800" y="4826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46CB7E-0486-4ECE-9A8B-F4F047BE8507}"/>
              </a:ext>
            </a:extLst>
          </p:cNvPr>
          <p:cNvSpPr txBox="1"/>
          <p:nvPr/>
        </p:nvSpPr>
        <p:spPr>
          <a:xfrm>
            <a:off x="1143000" y="4953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남들이 다 받는 것을 못 받으면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그것이 곧 감점입니다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833DA3-96BB-4E5F-8820-049FC6BD4D6C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D938BC-0541-4524-B9B0-AE3F1CAB9CF5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9694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75F8E2-3CEC-499A-878E-5984EF018A3B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서울대는 면접에서 영어를 씁니다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36B371-BEC3-4872-8244-1ADB9FACB35F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3016F6-71DA-4F57-A58E-B82EE367006F}"/>
              </a:ext>
            </a:extLst>
          </p:cNvPr>
          <p:cNvSpPr txBox="1"/>
          <p:nvPr/>
        </p:nvSpPr>
        <p:spPr>
          <a:xfrm>
            <a:off x="812800" y="1905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◆ 서울대학교 면접 및 구술고사 </a:t>
            </a:r>
            <a:r>
              <a:rPr lang="en-US" altLang="ko-KR" sz="15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5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영어 또는 한자 활용 가능 모집단위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4DE802-D3B5-4BED-BA47-CB1549091A26}"/>
              </a:ext>
            </a:extLst>
          </p:cNvPr>
          <p:cNvSpPr/>
          <p:nvPr/>
        </p:nvSpPr>
        <p:spPr>
          <a:xfrm>
            <a:off x="812800" y="2362200"/>
            <a:ext cx="3352800" cy="558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D4DD15-EC9E-4138-AA03-9222DD27BAED}"/>
              </a:ext>
            </a:extLst>
          </p:cNvPr>
          <p:cNvSpPr txBox="1"/>
          <p:nvPr/>
        </p:nvSpPr>
        <p:spPr>
          <a:xfrm>
            <a:off x="1016000" y="25273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사회과학대학 전 모집단위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51EA8E-53BA-4EA1-8EF8-70E48B43D352}"/>
              </a:ext>
            </a:extLst>
          </p:cNvPr>
          <p:cNvSpPr/>
          <p:nvPr/>
        </p:nvSpPr>
        <p:spPr>
          <a:xfrm>
            <a:off x="4419600" y="2362200"/>
            <a:ext cx="3352800" cy="558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1EA607-5955-4C62-914C-E83234B2AF83}"/>
              </a:ext>
            </a:extLst>
          </p:cNvPr>
          <p:cNvSpPr txBox="1"/>
          <p:nvPr/>
        </p:nvSpPr>
        <p:spPr>
          <a:xfrm>
            <a:off x="4622800" y="25273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간호대학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2EB3D6-4C95-44EB-BD09-DEBF6786188E}"/>
              </a:ext>
            </a:extLst>
          </p:cNvPr>
          <p:cNvSpPr/>
          <p:nvPr/>
        </p:nvSpPr>
        <p:spPr>
          <a:xfrm>
            <a:off x="8026400" y="2362200"/>
            <a:ext cx="3352800" cy="558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2B986B-2819-429D-8E74-388F948A941B}"/>
              </a:ext>
            </a:extLst>
          </p:cNvPr>
          <p:cNvSpPr txBox="1"/>
          <p:nvPr/>
        </p:nvSpPr>
        <p:spPr>
          <a:xfrm>
            <a:off x="8229600" y="25273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경영대학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60A9BF6-3304-4AE7-8759-1D3C43DD4705}"/>
              </a:ext>
            </a:extLst>
          </p:cNvPr>
          <p:cNvSpPr/>
          <p:nvPr/>
        </p:nvSpPr>
        <p:spPr>
          <a:xfrm>
            <a:off x="812800" y="3073400"/>
            <a:ext cx="3352800" cy="558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E8BB5B-8E56-4930-8D31-202E4E2CFD87}"/>
              </a:ext>
            </a:extLst>
          </p:cNvPr>
          <p:cNvSpPr txBox="1"/>
          <p:nvPr/>
        </p:nvSpPr>
        <p:spPr>
          <a:xfrm>
            <a:off x="1016000" y="32385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농경제사회학부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038A55-C52F-482D-88A8-08DFF7AE2D26}"/>
              </a:ext>
            </a:extLst>
          </p:cNvPr>
          <p:cNvSpPr/>
          <p:nvPr/>
        </p:nvSpPr>
        <p:spPr>
          <a:xfrm>
            <a:off x="4419600" y="3073400"/>
            <a:ext cx="3352800" cy="558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5A84B9-22AF-428B-B8A7-4743F297C3A6}"/>
              </a:ext>
            </a:extLst>
          </p:cNvPr>
          <p:cNvSpPr txBox="1"/>
          <p:nvPr/>
        </p:nvSpPr>
        <p:spPr>
          <a:xfrm>
            <a:off x="4622800" y="32385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사범대학 </a:t>
            </a:r>
            <a:r>
              <a:rPr lang="en-US" altLang="ko-KR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어문계열</a:t>
            </a:r>
            <a:r>
              <a:rPr lang="en-US" altLang="ko-KR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체육</a:t>
            </a:r>
            <a:r>
              <a:rPr lang="en-US" altLang="ko-KR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35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CD6D2E5-267B-492C-9D28-9551D11E8AF2}"/>
              </a:ext>
            </a:extLst>
          </p:cNvPr>
          <p:cNvSpPr/>
          <p:nvPr/>
        </p:nvSpPr>
        <p:spPr>
          <a:xfrm>
            <a:off x="8026400" y="3073400"/>
            <a:ext cx="3352800" cy="558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1447A3-AE73-44EA-9053-C917BADA384E}"/>
              </a:ext>
            </a:extLst>
          </p:cNvPr>
          <p:cNvSpPr txBox="1"/>
          <p:nvPr/>
        </p:nvSpPr>
        <p:spPr>
          <a:xfrm>
            <a:off x="8229600" y="32385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소비자아동학부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FF31BB6-3E15-48D8-A752-12681C6D2423}"/>
              </a:ext>
            </a:extLst>
          </p:cNvPr>
          <p:cNvSpPr/>
          <p:nvPr/>
        </p:nvSpPr>
        <p:spPr>
          <a:xfrm>
            <a:off x="812800" y="3784600"/>
            <a:ext cx="3352800" cy="558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18C569-3BA3-46D6-AB72-C21D6CD982A7}"/>
              </a:ext>
            </a:extLst>
          </p:cNvPr>
          <p:cNvSpPr txBox="1"/>
          <p:nvPr/>
        </p:nvSpPr>
        <p:spPr>
          <a:xfrm>
            <a:off x="1016000" y="39497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의류학과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63F8BCD-73FC-4F16-8DB2-7C63E2AA79AD}"/>
              </a:ext>
            </a:extLst>
          </p:cNvPr>
          <p:cNvSpPr/>
          <p:nvPr/>
        </p:nvSpPr>
        <p:spPr>
          <a:xfrm>
            <a:off x="4419600" y="3784600"/>
            <a:ext cx="3352800" cy="558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192C44-C870-41C1-97D3-DDC70F0D3A5D}"/>
              </a:ext>
            </a:extLst>
          </p:cNvPr>
          <p:cNvSpPr txBox="1"/>
          <p:nvPr/>
        </p:nvSpPr>
        <p:spPr>
          <a:xfrm>
            <a:off x="4622800" y="39497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자유전공학부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FC007AD-2713-42FF-AAE4-35AC568C9EEA}"/>
              </a:ext>
            </a:extLst>
          </p:cNvPr>
          <p:cNvSpPr/>
          <p:nvPr/>
        </p:nvSpPr>
        <p:spPr>
          <a:xfrm>
            <a:off x="8026400" y="3784600"/>
            <a:ext cx="3352800" cy="558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9A731B-4B94-4E2C-B72B-C49CF96D2A9D}"/>
              </a:ext>
            </a:extLst>
          </p:cNvPr>
          <p:cNvSpPr txBox="1"/>
          <p:nvPr/>
        </p:nvSpPr>
        <p:spPr>
          <a:xfrm>
            <a:off x="8229600" y="39497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의과대학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5128C71-A12B-4C6B-B999-9045F3E63E70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FDBB2E1-AFB5-49E8-9774-F903820D0157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752886-9546-4790-A73D-CE40335C1C8B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점수로만 영어를 보는 것이 아닙니다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말하고 읽는 실력을 대학이 직접 확인합니다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4C06DC-A64F-4E77-BF6E-C034AE4ED2F0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2BE5ED-4F26-4E73-8FFD-3CB9DFB60BEB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21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2164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C1470A-3A66-4471-9BD3-1DCA85C8FC2A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카이스트도 영어로 봅니다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EB4AB6F-EBF2-4223-A49A-1AC1332660F9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950B69-70EE-4D44-B60F-C2820F1CDC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25" y="1854200"/>
            <a:ext cx="3333750" cy="3810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098767A-7145-4A56-8096-0A2EC70F5F66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C0110D-4D38-4B44-913D-F28CCCD0F32F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DEE28D-CE84-4F3D-8E45-633C45C96F12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상위권 대학일수록 영어를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아니라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도구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원서를 읽고 발표할 수 있느냐입니다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AC20C9-C8C3-484B-B39E-B492438DC84E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5341DA-C045-40FC-97B1-30F08053CDF1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5827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A57B2E-BEB8-4617-9928-B848559A58DE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절대평가 시대의 영어 학습 로드맵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3BDEAFD-D5EB-4E3D-8213-F113C38D8471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31408FA-4494-4B58-B27B-D770C5C58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353357"/>
              </p:ext>
            </p:extLst>
          </p:nvPr>
        </p:nvGraphicFramePr>
        <p:xfrm>
          <a:off x="812800" y="2032000"/>
          <a:ext cx="105664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4207101151"/>
                    </a:ext>
                  </a:extLst>
                </a:gridCol>
                <a:gridCol w="8915400">
                  <a:extLst>
                    <a:ext uri="{9D8B030D-6E8A-4147-A177-3AD203B41FA5}">
                      <a16:colId xmlns:a16="http://schemas.microsoft.com/office/drawing/2014/main" val="56099929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해야 할 것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22292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까지 수능영어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3) 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수준까지 학습한다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75589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실용영어 강화 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 4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 영역 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독해력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7177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수능 모의고사 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이상 목표 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자주 틀리는 분야의 배경지식 습득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12546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상위권대 목표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대학별고사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영어면접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구술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대비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원서 수업 대비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11782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E4FFA4CF-904A-40E4-9D9C-0FE7F7764ABE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548411-C43B-498B-928C-61D465E8DACB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839971-567E-401C-8F94-831C7B36D08F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까지 고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수준을 끝내 놓는 것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이것이 저희가 중등 과정을 운영하는 기준입니다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4B1843-2E9C-40D3-913B-2FCEEA71C9C0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B3369D-675C-4337-A43B-82053FFC566D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997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413989-C7E0-46C1-A50C-7F2F881F5340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그런데 수능 영어는 쉬워지고 있습니다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F56FD1B-BF88-446E-B187-E8752740CDD9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72BDD3-E2C2-4F03-9E50-1BA4F79EEBD1}"/>
              </a:ext>
            </a:extLst>
          </p:cNvPr>
          <p:cNvSpPr txBox="1"/>
          <p:nvPr/>
        </p:nvSpPr>
        <p:spPr>
          <a:xfrm>
            <a:off x="812800" y="20066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1E523-A747-4BFF-BC93-D91E7F813B0B}"/>
              </a:ext>
            </a:extLst>
          </p:cNvPr>
          <p:cNvSpPr txBox="1"/>
          <p:nvPr/>
        </p:nvSpPr>
        <p:spPr>
          <a:xfrm>
            <a:off x="1041400" y="20066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학년도 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모의평가에서 영어 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 비율이 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18~19%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대로 예상됐습니다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99686C-4F3D-4BE6-B763-236134371234}"/>
              </a:ext>
            </a:extLst>
          </p:cNvPr>
          <p:cNvSpPr txBox="1"/>
          <p:nvPr/>
        </p:nvSpPr>
        <p:spPr>
          <a:xfrm>
            <a:off x="812800" y="2616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79FE6-518A-45B9-8DA1-83DDB64CE454}"/>
              </a:ext>
            </a:extLst>
          </p:cNvPr>
          <p:cNvSpPr txBox="1"/>
          <p:nvPr/>
        </p:nvSpPr>
        <p:spPr>
          <a:xfrm>
            <a:off x="1041400" y="2616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국어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수학은 변별력이 유지됐는데 영어만 크게 쉬워졌습니다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B817A3-1FEE-40E2-A6F2-F737BB6879AB}"/>
              </a:ext>
            </a:extLst>
          </p:cNvPr>
          <p:cNvSpPr txBox="1"/>
          <p:nvPr/>
        </p:nvSpPr>
        <p:spPr>
          <a:xfrm>
            <a:off x="812800" y="3225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A502AC-074A-431A-BED5-44BEA147177D}"/>
              </a:ext>
            </a:extLst>
          </p:cNvPr>
          <p:cNvSpPr txBox="1"/>
          <p:nvPr/>
        </p:nvSpPr>
        <p:spPr>
          <a:xfrm>
            <a:off x="1041400" y="32258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반대로 지난해에는 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등급이 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3%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대까지 떨어져 평가원이 유감을 표명했습니다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073155-86C2-467C-BB19-EA689369E72F}"/>
              </a:ext>
            </a:extLst>
          </p:cNvPr>
          <p:cNvSpPr txBox="1"/>
          <p:nvPr/>
        </p:nvSpPr>
        <p:spPr>
          <a:xfrm>
            <a:off x="812800" y="3835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73851F-9543-4E41-9103-5CC2890BC0E3}"/>
              </a:ext>
            </a:extLst>
          </p:cNvPr>
          <p:cNvSpPr txBox="1"/>
          <p:nvPr/>
        </p:nvSpPr>
        <p:spPr>
          <a:xfrm>
            <a:off x="1041400" y="3835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난이도가 시험마다 크게 출렁이고 있습니다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67F34E-82F9-4A0F-BE13-33C3A99EFE11}"/>
              </a:ext>
            </a:extLst>
          </p:cNvPr>
          <p:cNvSpPr/>
          <p:nvPr/>
        </p:nvSpPr>
        <p:spPr>
          <a:xfrm>
            <a:off x="812800" y="4826000"/>
            <a:ext cx="10566400" cy="10668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7BAF49-B81C-47E8-AAE0-A4D1DC01E41A}"/>
              </a:ext>
            </a:extLst>
          </p:cNvPr>
          <p:cNvSpPr/>
          <p:nvPr/>
        </p:nvSpPr>
        <p:spPr>
          <a:xfrm>
            <a:off x="812800" y="4826000"/>
            <a:ext cx="63500" cy="1066800"/>
          </a:xfrm>
          <a:prstGeom prst="rect">
            <a:avLst/>
          </a:prstGeom>
          <a:solidFill>
            <a:srgbClr val="A037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1CFECF-00C4-4F9D-8B7C-B7CD5BCE6F89}"/>
              </a:ext>
            </a:extLst>
          </p:cNvPr>
          <p:cNvSpPr txBox="1"/>
          <p:nvPr/>
        </p:nvSpPr>
        <p:spPr>
          <a:xfrm>
            <a:off x="1143000" y="4953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정직하게 말씀드립니다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수능에서 영어 점수의 무게는 줄어들 겁니다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그런데 영어를 덜 해도 된다는 뜻은 전혀 아닙니다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A037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B70806-52F7-4496-A47B-F8BD3030F988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308915-46DD-4B44-BD75-4DEA14034362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24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1494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B9AFFA-8545-439A-B865-9EA6D65745C5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그래도 영어의 실질 가치는 올라갑니다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5315E3-4A00-44B7-8989-185254D36FE8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E43A05-541A-4954-B995-A466B178771A}"/>
              </a:ext>
            </a:extLst>
          </p:cNvPr>
          <p:cNvSpPr/>
          <p:nvPr/>
        </p:nvSpPr>
        <p:spPr>
          <a:xfrm>
            <a:off x="812800" y="2006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69DEB-036A-4BC2-97D0-EC589A9A9D7A}"/>
              </a:ext>
            </a:extLst>
          </p:cNvPr>
          <p:cNvSpPr txBox="1"/>
          <p:nvPr/>
        </p:nvSpPr>
        <p:spPr>
          <a:xfrm>
            <a:off x="812800" y="2057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2703C1-ABD1-4B86-A7AF-17986EA0A56F}"/>
              </a:ext>
            </a:extLst>
          </p:cNvPr>
          <p:cNvSpPr txBox="1"/>
          <p:nvPr/>
        </p:nvSpPr>
        <p:spPr>
          <a:xfrm>
            <a:off x="1295400" y="2019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등급은 훈장이 아니라 기본값입니다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FE21AC-7481-4CF9-91D7-A1559B9EB29D}"/>
              </a:ext>
            </a:extLst>
          </p:cNvPr>
          <p:cNvSpPr txBox="1"/>
          <p:nvPr/>
        </p:nvSpPr>
        <p:spPr>
          <a:xfrm>
            <a:off x="1295400" y="2324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18~19%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받는다면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못 받는 것이 곧 감점입니다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4710DA5-A996-46A2-A93F-FA8757680B5C}"/>
              </a:ext>
            </a:extLst>
          </p:cNvPr>
          <p:cNvSpPr/>
          <p:nvPr/>
        </p:nvSpPr>
        <p:spPr>
          <a:xfrm>
            <a:off x="812800" y="30480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9AAB1D-7348-4615-ABB8-F7B2880B8C0A}"/>
              </a:ext>
            </a:extLst>
          </p:cNvPr>
          <p:cNvSpPr txBox="1"/>
          <p:nvPr/>
        </p:nvSpPr>
        <p:spPr>
          <a:xfrm>
            <a:off x="812800" y="30988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FA6440-C6DE-44B3-BC0E-FEF873B6BD2D}"/>
              </a:ext>
            </a:extLst>
          </p:cNvPr>
          <p:cNvSpPr txBox="1"/>
          <p:nvPr/>
        </p:nvSpPr>
        <p:spPr>
          <a:xfrm>
            <a:off x="1295400" y="30607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앞으로의 시험은 읽고 쓰는 시험입니다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7B4C52-A7DA-4D12-A90A-2AD7BAB003CE}"/>
              </a:ext>
            </a:extLst>
          </p:cNvPr>
          <p:cNvSpPr txBox="1"/>
          <p:nvPr/>
        </p:nvSpPr>
        <p:spPr>
          <a:xfrm>
            <a:off x="1295400" y="33655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영어를 그렇게 배운 아이는 국어도 사회도 그렇게 합니다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97FBF3A-DCC2-4201-BB1C-4907C8F57F2D}"/>
              </a:ext>
            </a:extLst>
          </p:cNvPr>
          <p:cNvSpPr/>
          <p:nvPr/>
        </p:nvSpPr>
        <p:spPr>
          <a:xfrm>
            <a:off x="812800" y="40894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753C43-62B8-4371-828A-5C9C4AA054F5}"/>
              </a:ext>
            </a:extLst>
          </p:cNvPr>
          <p:cNvSpPr txBox="1"/>
          <p:nvPr/>
        </p:nvSpPr>
        <p:spPr>
          <a:xfrm>
            <a:off x="812800" y="41402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F0A83-B55E-4034-8E13-DE3C090A69E9}"/>
              </a:ext>
            </a:extLst>
          </p:cNvPr>
          <p:cNvSpPr txBox="1"/>
          <p:nvPr/>
        </p:nvSpPr>
        <p:spPr>
          <a:xfrm>
            <a:off x="1295400" y="4102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수능이 변별을 못 하면 대학이 직접 봅니다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C85989-E0B0-43A7-B030-03034CA916C7}"/>
              </a:ext>
            </a:extLst>
          </p:cNvPr>
          <p:cNvSpPr txBox="1"/>
          <p:nvPr/>
        </p:nvSpPr>
        <p:spPr>
          <a:xfrm>
            <a:off x="1295400" y="44069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그때 영어는 반드시 들어갑니다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서울대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카이스트가 이미 그렇게 하고 있습니다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D532739-EE1D-4B97-90B1-DA7C6A2DB688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77202E6-74FC-4CC8-80BA-C796B286B1F1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523B31-0B1B-44D0-9F74-57C9A0EC8BBD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영어는 점수를 따는 과목이 아니라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중등에서 끝내 놓고 고등학교에서 다른 걸 할 시간을 버는 과목입니다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5A664D-F6D7-4028-9A7B-DE8CAD912E60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CDBDC6-7F84-4541-8CD0-AE48A8B84170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58579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056B91C-1F07-45D7-B768-9090E48848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671C5-DB88-42A1-BE17-3108ED41DA8B}"/>
              </a:ext>
            </a:extLst>
          </p:cNvPr>
          <p:cNvSpPr txBox="1"/>
          <p:nvPr/>
        </p:nvSpPr>
        <p:spPr>
          <a:xfrm>
            <a:off x="1219200" y="22352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D57BB2-EEDC-49B4-92CB-8290ACDFE532}"/>
              </a:ext>
            </a:extLst>
          </p:cNvPr>
          <p:cNvSpPr txBox="1"/>
          <p:nvPr/>
        </p:nvSpPr>
        <p:spPr>
          <a:xfrm>
            <a:off x="1219200" y="269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대입 전형의 실제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C89AD1-62B8-4B57-9F27-E1151B4630D0}"/>
              </a:ext>
            </a:extLst>
          </p:cNvPr>
          <p:cNvSpPr/>
          <p:nvPr/>
        </p:nvSpPr>
        <p:spPr>
          <a:xfrm>
            <a:off x="1219200" y="3683000"/>
            <a:ext cx="812800" cy="50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75AE4E-84E3-4418-A5DB-FC0D89E764AF}"/>
              </a:ext>
            </a:extLst>
          </p:cNvPr>
          <p:cNvSpPr txBox="1"/>
          <p:nvPr/>
        </p:nvSpPr>
        <p:spPr>
          <a:xfrm>
            <a:off x="1219200" y="396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수시와 정시</a:t>
            </a:r>
            <a:r>
              <a:rPr lang="en-US" altLang="ko-KR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그리고 학생부종합전형</a:t>
            </a:r>
          </a:p>
        </p:txBody>
      </p:sp>
    </p:spTree>
    <p:extLst>
      <p:ext uri="{BB962C8B-B14F-4D97-AF65-F5344CB8AC3E}">
        <p14:creationId xmlns:p14="http://schemas.microsoft.com/office/powerpoint/2010/main" val="3407603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D5BC72-A44C-4570-8404-C0BBCE7C3A57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수시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80.8% :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정시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19.2%</a:t>
            </a:r>
            <a:endParaRPr lang="ko-KR" altLang="en-US" sz="270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5E6AD8-1C1C-417A-BD5F-CA310D13C977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A7AFA09-F889-4C04-809B-812F53C567AE}"/>
              </a:ext>
            </a:extLst>
          </p:cNvPr>
          <p:cNvSpPr/>
          <p:nvPr/>
        </p:nvSpPr>
        <p:spPr>
          <a:xfrm>
            <a:off x="812800" y="2032000"/>
            <a:ext cx="8534400" cy="11176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C53AE-91B0-4EF0-8FC3-B6DE662430E2}"/>
              </a:ext>
            </a:extLst>
          </p:cNvPr>
          <p:cNvSpPr txBox="1"/>
          <p:nvPr/>
        </p:nvSpPr>
        <p:spPr>
          <a:xfrm>
            <a:off x="1168400" y="2413000"/>
            <a:ext cx="7874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수시  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80.8%   (281,895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21661B2-B6BF-4FF5-BCE7-D32DDDA1E99E}"/>
              </a:ext>
            </a:extLst>
          </p:cNvPr>
          <p:cNvSpPr/>
          <p:nvPr/>
        </p:nvSpPr>
        <p:spPr>
          <a:xfrm>
            <a:off x="9347200" y="2032000"/>
            <a:ext cx="2032000" cy="1117600"/>
          </a:xfrm>
          <a:prstGeom prst="rect">
            <a:avLst/>
          </a:prstGeom>
          <a:solidFill>
            <a:srgbClr val="9A6B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42D61B-A8FC-43FE-BE3A-00756F14A710}"/>
              </a:ext>
            </a:extLst>
          </p:cNvPr>
          <p:cNvSpPr txBox="1"/>
          <p:nvPr/>
        </p:nvSpPr>
        <p:spPr>
          <a:xfrm>
            <a:off x="9448800" y="23114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정시 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19.2%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B12E55-685E-44A6-8C47-B38CD47D7714}"/>
              </a:ext>
            </a:extLst>
          </p:cNvPr>
          <p:cNvSpPr txBox="1"/>
          <p:nvPr/>
        </p:nvSpPr>
        <p:spPr>
          <a:xfrm>
            <a:off x="9448800" y="26162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66,894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B612AF-28B7-4082-874F-325850F6A6D1}"/>
              </a:ext>
            </a:extLst>
          </p:cNvPr>
          <p:cNvSpPr txBox="1"/>
          <p:nvPr/>
        </p:nvSpPr>
        <p:spPr>
          <a:xfrm>
            <a:off x="812800" y="35306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AB0CA7-0612-4958-8F36-58975E5A5F13}"/>
              </a:ext>
            </a:extLst>
          </p:cNvPr>
          <p:cNvSpPr txBox="1"/>
          <p:nvPr/>
        </p:nvSpPr>
        <p:spPr>
          <a:xfrm>
            <a:off x="1041400" y="35306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수시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80.3%)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보다 수시가 오히려 늘었습니다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788E6A-D76D-4115-86C9-DF9133189198}"/>
              </a:ext>
            </a:extLst>
          </p:cNvPr>
          <p:cNvSpPr txBox="1"/>
          <p:nvPr/>
        </p:nvSpPr>
        <p:spPr>
          <a:xfrm>
            <a:off x="812800" y="4089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C30661-2870-4A68-8AA1-F6DEFD78453D}"/>
              </a:ext>
            </a:extLst>
          </p:cNvPr>
          <p:cNvSpPr txBox="1"/>
          <p:nvPr/>
        </p:nvSpPr>
        <p:spPr>
          <a:xfrm>
            <a:off x="1041400" y="4089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정시만 바라보는 전략은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 중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명의 문을 두드리는 것입니다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634F31-BB75-4B3C-B7A0-A678B873BD83}"/>
              </a:ext>
            </a:extLst>
          </p:cNvPr>
          <p:cNvSpPr txBox="1"/>
          <p:nvPr/>
        </p:nvSpPr>
        <p:spPr>
          <a:xfrm>
            <a:off x="812800" y="4648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5AFF52-D98D-412B-8A4E-E3C7A2B7C2C0}"/>
              </a:ext>
            </a:extLst>
          </p:cNvPr>
          <p:cNvSpPr txBox="1"/>
          <p:nvPr/>
        </p:nvSpPr>
        <p:spPr>
          <a:xfrm>
            <a:off x="1041400" y="4648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수시의 핵심은 내신과 학생부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년이 그 준비 기간입니다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D92324-B52C-4A0B-A013-BCB409CE8DB5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DBF363-D395-4B7D-96DE-A4B56C640954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51521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026801-FD2E-4D9F-8A12-C70116A060F1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서울대 정시와 교과평가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98C01EE-0D40-418D-935A-88271A8DC7B9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E4D0E11-FC11-4C8B-913C-811D2857C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684122"/>
              </p:ext>
            </p:extLst>
          </p:nvPr>
        </p:nvGraphicFramePr>
        <p:xfrm>
          <a:off x="812800" y="1981200"/>
          <a:ext cx="10566400" cy="2235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4261188637"/>
                    </a:ext>
                  </a:extLst>
                </a:gridCol>
                <a:gridCol w="8026400">
                  <a:extLst>
                    <a:ext uri="{9D8B030D-6E8A-4147-A177-3AD203B41FA5}">
                      <a16:colId xmlns:a16="http://schemas.microsoft.com/office/drawing/2014/main" val="504455680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선발 방법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83442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지역균형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수능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 +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00444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일반전형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수능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 (2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배수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65589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일반전형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80% +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20%   →  2028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부터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 +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40%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0791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E2D76A8-697A-493C-8A97-E52E08BB7548}"/>
              </a:ext>
            </a:extLst>
          </p:cNvPr>
          <p:cNvSpPr txBox="1"/>
          <p:nvPr/>
        </p:nvSpPr>
        <p:spPr>
          <a:xfrm>
            <a:off x="812800" y="4013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교과평가 </a:t>
            </a:r>
            <a:r>
              <a:rPr lang="en-US" altLang="ko-KR" sz="14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4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평가자 </a:t>
            </a:r>
            <a:r>
              <a:rPr lang="en-US" altLang="ko-KR" sz="14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명이 독립적으로 평가한 등급 조합으로 점수화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7416CF7-F37D-4FB7-80F9-783706F4A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351931"/>
              </p:ext>
            </p:extLst>
          </p:nvPr>
        </p:nvGraphicFramePr>
        <p:xfrm>
          <a:off x="812800" y="4368800"/>
          <a:ext cx="10566400" cy="1295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70341538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98189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8664982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89359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0704771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727643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조합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A·A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A·B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B·B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B·C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C·C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48338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지역균형 배점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79216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일반전형 배점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3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5645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CC7C5A5-C524-47F3-87A9-98731CAE8552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E2D3152-C457-45AC-9A9E-2CE202402C8C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3B4D4D-03F7-48EF-B99C-393F14CBB20F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2028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부터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A·A+·B·B+·C·C+·D 7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단계로 세분화됩니다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정시에서도 학교 성적을 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5D6402-DC80-4C81-82AC-D9FB092880F0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D56E65-D50E-47A4-8B48-5C2E6B94C2B5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1043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1B579A-9F54-408E-AB17-5E85750F0D7E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학생부종합전형 ① 학업능력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A99863-5CB0-4D46-84B9-4AA94973C1D7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C17191-1966-4486-A276-1ACBB5F38BCB}"/>
              </a:ext>
            </a:extLst>
          </p:cNvPr>
          <p:cNvSpPr txBox="1"/>
          <p:nvPr/>
        </p:nvSpPr>
        <p:spPr>
          <a:xfrm>
            <a:off x="812800" y="1905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전공 과목 이수능력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내신과 세부능력 및 특기사항으로 평가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E00C6E1-8CCE-4813-9C42-603FAEC55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509252"/>
              </p:ext>
            </p:extLst>
          </p:nvPr>
        </p:nvGraphicFramePr>
        <p:xfrm>
          <a:off x="812800" y="2336800"/>
          <a:ext cx="5080000" cy="2235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49033398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37252023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 대학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내신 기준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06898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 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대학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1.8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이내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10245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 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대학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2.5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이내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44642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인서울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이내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569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009AF2B-C208-420B-BD01-F11D0AA4494F}"/>
              </a:ext>
            </a:extLst>
          </p:cNvPr>
          <p:cNvSpPr txBox="1"/>
          <p:nvPr/>
        </p:nvSpPr>
        <p:spPr>
          <a:xfrm>
            <a:off x="6400800" y="2336800"/>
            <a:ext cx="497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함께 보는 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057D89-05AE-4F15-BAC0-7BB7370C6C8E}"/>
              </a:ext>
            </a:extLst>
          </p:cNvPr>
          <p:cNvSpPr txBox="1"/>
          <p:nvPr/>
        </p:nvSpPr>
        <p:spPr>
          <a:xfrm>
            <a:off x="6400800" y="2717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4AD4B-387F-4B89-B079-D6E81971E210}"/>
              </a:ext>
            </a:extLst>
          </p:cNvPr>
          <p:cNvSpPr txBox="1"/>
          <p:nvPr/>
        </p:nvSpPr>
        <p:spPr>
          <a:xfrm>
            <a:off x="6629400" y="2717800"/>
            <a:ext cx="474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수업 참여도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과제 집착력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8CAAB4-8DAD-477A-B47A-59EB125B38B9}"/>
              </a:ext>
            </a:extLst>
          </p:cNvPr>
          <p:cNvSpPr txBox="1"/>
          <p:nvPr/>
        </p:nvSpPr>
        <p:spPr>
          <a:xfrm>
            <a:off x="6400800" y="3225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CCCB72-CC32-4B46-835F-F0BAB79873C4}"/>
              </a:ext>
            </a:extLst>
          </p:cNvPr>
          <p:cNvSpPr txBox="1"/>
          <p:nvPr/>
        </p:nvSpPr>
        <p:spPr>
          <a:xfrm>
            <a:off x="6629400" y="3225800"/>
            <a:ext cx="474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자기주도학습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지적 탐구능력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F7A07B-BC1E-4F83-AA1B-D3A3B7A9AC0E}"/>
              </a:ext>
            </a:extLst>
          </p:cNvPr>
          <p:cNvSpPr txBox="1"/>
          <p:nvPr/>
        </p:nvSpPr>
        <p:spPr>
          <a:xfrm>
            <a:off x="6400800" y="3733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A6F3E4-4566-47DD-B0CF-04641C4FA541}"/>
              </a:ext>
            </a:extLst>
          </p:cNvPr>
          <p:cNvSpPr txBox="1"/>
          <p:nvPr/>
        </p:nvSpPr>
        <p:spPr>
          <a:xfrm>
            <a:off x="6629400" y="3733800"/>
            <a:ext cx="474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과목 능력과 진로의 연계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3B430C-9BD2-4FA8-8BF2-E6C4C12645DF}"/>
              </a:ext>
            </a:extLst>
          </p:cNvPr>
          <p:cNvSpPr txBox="1"/>
          <p:nvPr/>
        </p:nvSpPr>
        <p:spPr>
          <a:xfrm>
            <a:off x="6400800" y="4241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C3F6F9-F8F0-4F7F-9A4F-276EB4233243}"/>
              </a:ext>
            </a:extLst>
          </p:cNvPr>
          <p:cNvSpPr txBox="1"/>
          <p:nvPr/>
        </p:nvSpPr>
        <p:spPr>
          <a:xfrm>
            <a:off x="6629400" y="4241800"/>
            <a:ext cx="474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리더십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인성 및 품성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A45BBFC-9DE4-4FA6-A580-C394E2946EBF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D0886B5-6D5F-4178-8DD7-0859F8704708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7CAF71-3E5A-48B6-87E5-D406087B5CCE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내신 등급은 고등학교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년이 아니라 중등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년의 공부 습관이 만듭니다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4DF8E7-03F5-445D-8FA9-3672BD67AF62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AF60F9-E9E1-4A0F-8E68-59EF1B733A9C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29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6410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51861B-067E-45F2-8FCF-7FC4DE56BFB3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학생부종합전형 ② 진로활동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F82A949-FBB3-43B5-B558-4FA3BC2B1083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4DBA0-3D2F-43CB-9843-F8CE18A01F72}"/>
              </a:ext>
            </a:extLst>
          </p:cNvPr>
          <p:cNvSpPr txBox="1"/>
          <p:nvPr/>
        </p:nvSpPr>
        <p:spPr>
          <a:xfrm>
            <a:off x="812800" y="1905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탐구심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호기심 해결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도전정신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목적의식을 평가합니다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079E9D2-2487-4046-8759-8A2AE5C60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330626"/>
              </p:ext>
            </p:extLst>
          </p:nvPr>
        </p:nvGraphicFramePr>
        <p:xfrm>
          <a:off x="812800" y="2336800"/>
          <a:ext cx="105664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33863457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112750063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76285728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영역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무엇을 보는가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예시 </a:t>
                      </a:r>
                      <a:r>
                        <a:rPr lang="en-US" altLang="ko-KR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생명공학자 희망</a:t>
                      </a:r>
                      <a:r>
                        <a:rPr lang="en-US" altLang="ko-KR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5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47327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희망 진로에 대한 탐색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인체 각 기관과 역할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질병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치료 가능 여부 조사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63911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동아리활동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 관련 지속 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추출 실험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피부 재생 원리 탐구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9835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관심 분야 심화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도서를 통한 추가 학습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53441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행동특성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 발전 가능성과 열정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담임 선생님의 관찰 기록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010580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BFA5E194-7318-4C4A-B2B9-04D23C00E095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53B5B7-FB76-4F7E-9A2E-7EA97CA52999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987108-07E8-47C9-9AD6-C68C1CD8A3EA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핵심은 하나입니다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수업에서 생긴 궁금증을 책으로 해결한 기록이 남아야 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04201-E26A-4125-AF05-43BC7DF18C89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460462-4636-4F29-B7D1-5F47C04B66C1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75417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0F9063-C6A5-45B2-A609-3A0364A02D76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학생부종합전형 ③ 학업 외 소양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A5472F-551C-47B3-AD84-65BCD970252A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02EC27-A68A-46ED-A640-8F4AEFAE1A58}"/>
              </a:ext>
            </a:extLst>
          </p:cNvPr>
          <p:cNvSpPr txBox="1"/>
          <p:nvPr/>
        </p:nvSpPr>
        <p:spPr>
          <a:xfrm>
            <a:off x="812800" y="1905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개인적 특성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공동체 의식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배려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규칙 준수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협력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나눔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책임감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61B5E29-3E3F-4199-9066-8C81256CA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430588"/>
              </p:ext>
            </p:extLst>
          </p:nvPr>
        </p:nvGraphicFramePr>
        <p:xfrm>
          <a:off x="812800" y="2336800"/>
          <a:ext cx="10566400" cy="264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540787668"/>
                    </a:ext>
                  </a:extLst>
                </a:gridCol>
                <a:gridCol w="7899400">
                  <a:extLst>
                    <a:ext uri="{9D8B030D-6E8A-4147-A177-3AD203B41FA5}">
                      <a16:colId xmlns:a16="http://schemas.microsoft.com/office/drawing/2014/main" val="3575974505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영역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무엇이 기록되는가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573389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자율활동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 교육활동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체육대회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축제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임원활동에 얼마나 적극적이었는가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87585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행동특성 및 종합의견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인성과 품성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학교생활 전반에 대한 담임의 평가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850029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봉사활동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교내 봉사 중심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 있는 활동이 있다면 도움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00402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0A1A4EA9-C867-4BD0-B60F-AA9B9036EE02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890318-3EE9-4D91-B855-F866D535EC12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A037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199E51-08D8-43EF-BE43-26FD395CF6DE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출결이 가장 기본입니다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미인정 지각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조퇴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회가 미인정 결석 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일이 됩니다</a:t>
            </a:r>
            <a:r>
              <a:rPr lang="en-US" altLang="ko-KR" sz="1650" b="1">
                <a:solidFill>
                  <a:srgbClr val="A037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A037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C7CC18-1963-4D24-ABAA-FD15B2FAA051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E44196-55DB-4098-B225-6F3572930FFE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31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69328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3ED794-5835-4DB2-89E5-8471CB632F94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의대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상위권 수능 최저학력기준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(2026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학년도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70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48E8E6-1B6E-4003-89BD-F422D3BF2EE0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3F4D461-FFA1-4464-BC5C-C56D73786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124096"/>
              </p:ext>
            </p:extLst>
          </p:nvPr>
        </p:nvGraphicFramePr>
        <p:xfrm>
          <a:off x="812800" y="1955800"/>
          <a:ext cx="10566400" cy="406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33797382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391783091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최저등급 기준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27294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고려대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(1) 4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합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한국사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34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경희대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탐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합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한국사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001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중앙대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논술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탐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 4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합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한국사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55974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이화여대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탐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(1) 4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합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2654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전남대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지역인재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수학 포함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합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9186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조선대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(1)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수학 포함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합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20005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인하대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논술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영역 각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689042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581FAF65-2C8E-4DBF-9BEF-D16FC96CFAA7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7AEBF1-CDF5-47E9-913B-78FE2DB6EF61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0F8D2D-A8D0-4B64-A62F-5FCEF816FAF6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어느 대학이든 영어가 빠지지 않습니다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영어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등급은 최저 충족의 가장 안전한 카드입니다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2EBB85-9857-4A66-9995-73B4C9BCC5EA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7E9158-9E05-495E-808A-0EAFF2F125BF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32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38073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2AC1FCF-780F-449F-A33D-B633543D34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33E064-77CE-4830-A240-FFB58BD03F8D}"/>
              </a:ext>
            </a:extLst>
          </p:cNvPr>
          <p:cNvSpPr txBox="1"/>
          <p:nvPr/>
        </p:nvSpPr>
        <p:spPr>
          <a:xfrm>
            <a:off x="1219200" y="22352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4021AA-1A7C-4978-B4F6-4B4B674557F8}"/>
              </a:ext>
            </a:extLst>
          </p:cNvPr>
          <p:cNvSpPr txBox="1"/>
          <p:nvPr/>
        </p:nvSpPr>
        <p:spPr>
          <a:xfrm>
            <a:off x="1219200" y="269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 </a:t>
            </a:r>
            <a:r>
              <a:rPr lang="en-US" altLang="ko-KR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무엇을 관리하나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F768202-B364-417B-BEAB-7A8D7FAC5024}"/>
              </a:ext>
            </a:extLst>
          </p:cNvPr>
          <p:cNvSpPr/>
          <p:nvPr/>
        </p:nvSpPr>
        <p:spPr>
          <a:xfrm>
            <a:off x="1219200" y="3683000"/>
            <a:ext cx="812800" cy="50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66E16-6336-4ED0-86FE-4C292FBB57B1}"/>
              </a:ext>
            </a:extLst>
          </p:cNvPr>
          <p:cNvSpPr txBox="1"/>
          <p:nvPr/>
        </p:nvSpPr>
        <p:spPr>
          <a:xfrm>
            <a:off x="1219200" y="396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학교생활기록부와 고교 선택</a:t>
            </a:r>
          </a:p>
        </p:txBody>
      </p:sp>
    </p:spTree>
    <p:extLst>
      <p:ext uri="{BB962C8B-B14F-4D97-AF65-F5344CB8AC3E}">
        <p14:creationId xmlns:p14="http://schemas.microsoft.com/office/powerpoint/2010/main" val="9012049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5E6C27-0A9C-43EE-A034-737381CC21E6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학교생활기록부 관리 핵심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BA97E98-A77A-460A-B326-CD5F69B9A86F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B5F1DD-0214-4058-B4C5-9A7BCF370AA7}"/>
              </a:ext>
            </a:extLst>
          </p:cNvPr>
          <p:cNvSpPr txBox="1"/>
          <p:nvPr/>
        </p:nvSpPr>
        <p:spPr>
          <a:xfrm>
            <a:off x="812800" y="1905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특목고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자사고 선발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서류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학생부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+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면접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대입도 같은 틀입니다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4FA163E-CCCF-4CD8-BA1F-839A9D35E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037564"/>
              </p:ext>
            </p:extLst>
          </p:nvPr>
        </p:nvGraphicFramePr>
        <p:xfrm>
          <a:off x="812800" y="2336800"/>
          <a:ext cx="10566400" cy="317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184786"/>
                    </a:ext>
                  </a:extLst>
                </a:gridCol>
                <a:gridCol w="8534400">
                  <a:extLst>
                    <a:ext uri="{9D8B030D-6E8A-4147-A177-3AD203B41FA5}">
                      <a16:colId xmlns:a16="http://schemas.microsoft.com/office/drawing/2014/main" val="16255580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요소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 내용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8060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교과능력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내신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성취도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+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세부능력 및 특기사항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과목 능력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지적 탐구능력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1931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지적활동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 동아리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 및 체험학습에서 얻은 정보를 책으로 확장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49849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도전정신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희망 진로에 관한 활동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행동특성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까지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65515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인성 및 품성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출결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임원활동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체육대회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축제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봉사활동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647391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56B72467-8740-4D8F-B3CF-9D9019E7A632}"/>
              </a:ext>
            </a:extLst>
          </p:cNvPr>
          <p:cNvSpPr/>
          <p:nvPr/>
        </p:nvSpPr>
        <p:spPr>
          <a:xfrm>
            <a:off x="812800" y="50292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717438C-EC76-444A-964D-43A071AC82DE}"/>
              </a:ext>
            </a:extLst>
          </p:cNvPr>
          <p:cNvSpPr/>
          <p:nvPr/>
        </p:nvSpPr>
        <p:spPr>
          <a:xfrm>
            <a:off x="812800" y="50292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F55397-D79E-4ECE-87FE-008548FFF363}"/>
              </a:ext>
            </a:extLst>
          </p:cNvPr>
          <p:cNvSpPr txBox="1"/>
          <p:nvPr/>
        </p:nvSpPr>
        <p:spPr>
          <a:xfrm>
            <a:off x="1143000" y="51562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수업 내용에서 관심이 생겨 → 관련 책을 찾아 → 추가로 학습했다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 —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흐름이 모든 항목의 뼈대입니다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C79C4E-DEC1-4415-814A-3D3AF8BFC3AE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348022-1829-4BB9-8189-7CBB5E1DF7F4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34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1154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4DC91C-5DAA-4F09-993A-AA9A4CD29585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출결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창체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동아리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1E44729-82DB-4265-B9F0-D1101F98F462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D438131-BCA8-41D3-9A17-64BF27252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624022"/>
              </p:ext>
            </p:extLst>
          </p:nvPr>
        </p:nvGraphicFramePr>
        <p:xfrm>
          <a:off x="812800" y="1930400"/>
          <a:ext cx="10566400" cy="3733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749295118"/>
                    </a:ext>
                  </a:extLst>
                </a:gridCol>
                <a:gridCol w="8661400">
                  <a:extLst>
                    <a:ext uri="{9D8B030D-6E8A-4147-A177-3AD203B41FA5}">
                      <a16:colId xmlns:a16="http://schemas.microsoft.com/office/drawing/2014/main" val="3672989078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요령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83198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출결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미인정 지각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조퇴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미인정 결석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가장 기본입니다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41711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수상경력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대입에 미제공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특목고는 지역에 따라 다르니 학교 방문 시 확인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31849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자율활동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 주최 활동에서의 역할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학급 반장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총무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학생회 임원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55104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동아리활동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순위 교과 또는 진로 동아리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없으면 기타 동아리에서 역할이 드러나게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55468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희망 진로 탐색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도서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반드시 담임 선생님 지도 아래 진행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4744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자유학기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진로탐색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주제선택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예술체육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동아리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자신의 역할이 들어가야 경쟁력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331909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A8CB5DDE-7A7E-4B38-92B2-65A42D605B9E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D8A97B-1C7E-4CB2-8DB1-494942023127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9A6B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AAFBD-F316-4874-AE4E-D4A5F9564282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자율동아리는 대학에 제공되지 않습니다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창체 동아리가 무엇이 있는지부터 확인하세요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9A6B0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4FA8DF-7D8A-4E43-9BA0-965F779204FA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130EBD-1A24-4ED6-8C3F-98F05696E155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35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44666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1C6F97-D20E-49C2-A970-B9EBAE50C8F9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교과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세특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독서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행동특성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439F044-C795-4AA6-9579-758AB513908C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E13DFA0-3BE5-4D93-9149-BD4C43CDB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527529"/>
              </p:ext>
            </p:extLst>
          </p:nvPr>
        </p:nvGraphicFramePr>
        <p:xfrm>
          <a:off x="812800" y="2133600"/>
          <a:ext cx="10566400" cy="342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285443474"/>
                    </a:ext>
                  </a:extLst>
                </a:gridCol>
                <a:gridCol w="7899400">
                  <a:extLst>
                    <a:ext uri="{9D8B030D-6E8A-4147-A177-3AD203B41FA5}">
                      <a16:colId xmlns:a16="http://schemas.microsoft.com/office/drawing/2014/main" val="24050215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요령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9434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 성적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내신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확보가 출발점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26305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세부능력 및 특기사항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과목별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수업 내용에 대해 교과서 밖 자료로 추가 학습한 기록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08586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독서활동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왜 읽었고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무엇을 알았고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어떻게 활용했고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어떤 변화가 생겼는지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18768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행동특성 및 종합의견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학교생활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인성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품성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자기주도 학습능력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관심 분야의 열정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30979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6C7B502D-D34C-4B07-A634-7DC6E2A660AB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5E9F00-E634-4DD6-9BFF-04244A8E0796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D7A43-0CC6-404F-8C14-D536966F9564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독서 기록은 면접 대비에 그대로 쓰입니다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읽은 책 목록이 아니라 읽고 무엇을 했는지가 남아야 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D3BBFD-3DF2-4D0C-9E85-8CE9E0D177E0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E81DB9-C588-4EF0-A1A2-02F6CA15D6DA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36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82983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00C3E0-03A4-4B33-8CED-E9D4C69EF555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특목고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자사고의 위상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5E742A-7B54-45F6-BF6A-3989E213C3F6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8E73F2-8F5E-489D-984C-99252F3B2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084" y="1879600"/>
            <a:ext cx="6855832" cy="3810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6341477-4A86-443B-B71F-98D2B45811D4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A97ED34-15A5-4187-BEC4-552C240F4B00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87DF4F-0D92-4B34-BED2-4FFF88A39C0D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어느 고등학교를 가든 영어는 입학 전에 안정권이어야 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특목고는 더욱 그렇습니다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FE9C09-536D-4F9E-8332-8A594A66D15B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AD6B70-4843-4BCF-9193-42E1105AD6AE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37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58935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5EBDD3-276B-4754-9960-41659A9E33FB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 선택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일반고를 보는 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A108286-F50E-447B-85D4-C17DF7029946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FB4B13-82DC-44DA-AFD6-097DACD78650}"/>
              </a:ext>
            </a:extLst>
          </p:cNvPr>
          <p:cNvSpPr/>
          <p:nvPr/>
        </p:nvSpPr>
        <p:spPr>
          <a:xfrm>
            <a:off x="812800" y="19304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9FB2B9-89CF-4437-BB46-4C1DC25D33FC}"/>
              </a:ext>
            </a:extLst>
          </p:cNvPr>
          <p:cNvSpPr txBox="1"/>
          <p:nvPr/>
        </p:nvSpPr>
        <p:spPr>
          <a:xfrm>
            <a:off x="812800" y="19812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5F5F17-1ACF-439B-B493-37870596C625}"/>
              </a:ext>
            </a:extLst>
          </p:cNvPr>
          <p:cNvSpPr txBox="1"/>
          <p:nvPr/>
        </p:nvSpPr>
        <p:spPr>
          <a:xfrm>
            <a:off x="1295400" y="1943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학업성취 현황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2EC0BE-D0A4-4E5F-B8EF-CBB0AAABF527}"/>
              </a:ext>
            </a:extLst>
          </p:cNvPr>
          <p:cNvSpPr txBox="1"/>
          <p:nvPr/>
        </p:nvSpPr>
        <p:spPr>
          <a:xfrm>
            <a:off x="1295400" y="22479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과목별 </a:t>
            </a:r>
            <a:r>
              <a:rPr lang="en-US" altLang="ko-KR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</a:t>
            </a:r>
            <a:r>
              <a:rPr lang="ko-KR" altLang="en-US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비율과 표준편차를 확인합니다</a:t>
            </a:r>
            <a:r>
              <a:rPr lang="en-US" altLang="ko-KR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표준편차가 낮으면 대다수가 평균에 몰려 있어 내신 관리가 어렵습니다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96F3DE-A41F-4551-B143-A7DC1F0E1413}"/>
              </a:ext>
            </a:extLst>
          </p:cNvPr>
          <p:cNvSpPr/>
          <p:nvPr/>
        </p:nvSpPr>
        <p:spPr>
          <a:xfrm>
            <a:off x="812800" y="29718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9FBB80-FD29-4605-9CA4-A99BDE0C7969}"/>
              </a:ext>
            </a:extLst>
          </p:cNvPr>
          <p:cNvSpPr txBox="1"/>
          <p:nvPr/>
        </p:nvSpPr>
        <p:spPr>
          <a:xfrm>
            <a:off x="812800" y="30226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15D511-7B46-4C49-95B9-2BB50FDAA09D}"/>
              </a:ext>
            </a:extLst>
          </p:cNvPr>
          <p:cNvSpPr txBox="1"/>
          <p:nvPr/>
        </p:nvSpPr>
        <p:spPr>
          <a:xfrm>
            <a:off x="1295400" y="29845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표준편차 기준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E16A0-70D6-493B-B7CC-1FD5B899FFA0}"/>
              </a:ext>
            </a:extLst>
          </p:cNvPr>
          <p:cNvSpPr txBox="1"/>
          <p:nvPr/>
        </p:nvSpPr>
        <p:spPr>
          <a:xfrm>
            <a:off x="1295400" y="3289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일반고 평균 </a:t>
            </a:r>
            <a:r>
              <a:rPr lang="en-US" altLang="ko-KR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20~22 / </a:t>
            </a:r>
            <a:r>
              <a:rPr lang="ko-KR" altLang="en-US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특목고</a:t>
            </a:r>
            <a:r>
              <a:rPr lang="en-US" altLang="ko-KR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자사고 평균 </a:t>
            </a:r>
            <a:r>
              <a:rPr lang="en-US" altLang="ko-KR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10~15</a:t>
            </a:r>
            <a:endParaRPr lang="ko-KR" altLang="en-US" sz="130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D4B2F4-1AF9-443B-87A9-830AAAF59F80}"/>
              </a:ext>
            </a:extLst>
          </p:cNvPr>
          <p:cNvSpPr/>
          <p:nvPr/>
        </p:nvSpPr>
        <p:spPr>
          <a:xfrm>
            <a:off x="812800" y="40132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A89BDD-CD07-4A60-B101-337CCAF4B6BA}"/>
              </a:ext>
            </a:extLst>
          </p:cNvPr>
          <p:cNvSpPr txBox="1"/>
          <p:nvPr/>
        </p:nvSpPr>
        <p:spPr>
          <a:xfrm>
            <a:off x="812800" y="40640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00DDB5-9E01-4061-AE07-620F18A0CE3F}"/>
              </a:ext>
            </a:extLst>
          </p:cNvPr>
          <p:cNvSpPr txBox="1"/>
          <p:nvPr/>
        </p:nvSpPr>
        <p:spPr>
          <a:xfrm>
            <a:off x="1295400" y="40259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교육운영 특색사업과 방과후학교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F11606-23AD-4C84-89A3-F7BC7CEC3757}"/>
              </a:ext>
            </a:extLst>
          </p:cNvPr>
          <p:cNvSpPr txBox="1"/>
          <p:nvPr/>
        </p:nvSpPr>
        <p:spPr>
          <a:xfrm>
            <a:off x="1295400" y="43307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대학이 고등학교를 평가할 때 참고하는 항목입니다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FA2F88D-380E-4964-A34C-85D67CBB0A2D}"/>
              </a:ext>
            </a:extLst>
          </p:cNvPr>
          <p:cNvSpPr/>
          <p:nvPr/>
        </p:nvSpPr>
        <p:spPr>
          <a:xfrm>
            <a:off x="812800" y="5054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B755D2-D22E-4C86-9F64-451CDCF97596}"/>
              </a:ext>
            </a:extLst>
          </p:cNvPr>
          <p:cNvSpPr txBox="1"/>
          <p:nvPr/>
        </p:nvSpPr>
        <p:spPr>
          <a:xfrm>
            <a:off x="812800" y="5105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1193FD-FB8F-441C-8FA2-6AC39A8A5CAA}"/>
              </a:ext>
            </a:extLst>
          </p:cNvPr>
          <p:cNvSpPr txBox="1"/>
          <p:nvPr/>
        </p:nvSpPr>
        <p:spPr>
          <a:xfrm>
            <a:off x="1295400" y="5067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창체 동아리 현황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9C32C0-E710-407F-8FAA-C26B1DEAFE07}"/>
              </a:ext>
            </a:extLst>
          </p:cNvPr>
          <p:cNvSpPr txBox="1"/>
          <p:nvPr/>
        </p:nvSpPr>
        <p:spPr>
          <a:xfrm>
            <a:off x="1295400" y="5372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0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자율동아리는 대입에 제공되지 않으므로 창체 동아리의 종류와 개설 가능성을 봅니다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4BD95F6-6ACD-4DDA-B96A-4464ECA3C2AF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DC9E20C-4837-445D-9413-EB8063CAA836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98016B-EE74-42B5-B806-F8B913572C5F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학교알리미에서 누구나 볼 수 있는 자료입니다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원서 쓰기 전에 꼭 확인하세요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A8CE20-3964-442F-A451-EC046323C7D2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908604-2466-4E85-9903-9D48D5921538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38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54674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512779-B502-4063-8C38-307DC333F379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숫자로 비교하면 이렇게 다릅니다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EC28D4-371C-4D8D-BD3C-DC5F05E77DA3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0A40AB-FCA6-40B8-975A-0305F3165596}"/>
              </a:ext>
            </a:extLst>
          </p:cNvPr>
          <p:cNvSpPr txBox="1"/>
          <p:nvPr/>
        </p:nvSpPr>
        <p:spPr>
          <a:xfrm>
            <a:off x="812800" y="18796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 </a:t>
            </a:r>
            <a:r>
              <a:rPr lang="en-US" altLang="ko-KR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학기 영어 </a:t>
            </a:r>
            <a:r>
              <a:rPr lang="en-US" altLang="ko-KR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 지역 두 학교 비교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1686B57-8AF9-40A1-9506-1554DA608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974597"/>
              </p:ext>
            </p:extLst>
          </p:nvPr>
        </p:nvGraphicFramePr>
        <p:xfrm>
          <a:off x="812800" y="2286000"/>
          <a:ext cx="105664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63303717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11603853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444519054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94644498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410856969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786459896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93581636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6476286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표준편차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25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25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25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25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</a:t>
                      </a:r>
                      <a:endParaRPr lang="ko-KR" altLang="en-US" sz="125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5896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○○일반고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62.3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24.5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16.4%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13.9%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13.9%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11.9%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43.9%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75943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○○국제고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70.9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16.2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14.4%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19.8%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24.3%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16.3%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25.2%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6276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D23B25C-FB0B-450C-BEC5-5104480AA6DE}"/>
              </a:ext>
            </a:extLst>
          </p:cNvPr>
          <p:cNvSpPr txBox="1"/>
          <p:nvPr/>
        </p:nvSpPr>
        <p:spPr>
          <a:xfrm>
            <a:off x="812800" y="4267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ADE854-F324-45C1-988D-33F5ECD7B405}"/>
              </a:ext>
            </a:extLst>
          </p:cNvPr>
          <p:cNvSpPr txBox="1"/>
          <p:nvPr/>
        </p:nvSpPr>
        <p:spPr>
          <a:xfrm>
            <a:off x="1041400" y="4267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국제고는 평균이 높고 표준편차가 작습니다 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상위권이 몰려 있어 내신 경쟁이 치열합니다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96675C-0E29-4465-A4AE-36A56A08FA8F}"/>
              </a:ext>
            </a:extLst>
          </p:cNvPr>
          <p:cNvSpPr txBox="1"/>
          <p:nvPr/>
        </p:nvSpPr>
        <p:spPr>
          <a:xfrm>
            <a:off x="812800" y="4775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106A00-3E59-43AF-B348-BB7578505B0A}"/>
              </a:ext>
            </a:extLst>
          </p:cNvPr>
          <p:cNvSpPr txBox="1"/>
          <p:nvPr/>
        </p:nvSpPr>
        <p:spPr>
          <a:xfrm>
            <a:off x="1041400" y="4775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일반고는 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비율이 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43.9%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입니다 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중간층이 얇아 상위권끼리 경쟁합니다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D13395-FF66-4BE3-A413-BA570C22BDA2}"/>
              </a:ext>
            </a:extLst>
          </p:cNvPr>
          <p:cNvSpPr txBox="1"/>
          <p:nvPr/>
        </p:nvSpPr>
        <p:spPr>
          <a:xfrm>
            <a:off x="812800" y="5283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BC9B46-873E-420D-8909-6B08BFD20498}"/>
              </a:ext>
            </a:extLst>
          </p:cNvPr>
          <p:cNvSpPr txBox="1"/>
          <p:nvPr/>
        </p:nvSpPr>
        <p:spPr>
          <a:xfrm>
            <a:off x="1041400" y="5283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어느 쪽이든 영어에서 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받으려면 중등에서 이미 실력이 있어야 합니다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5F3DB3-BDCA-424E-B73B-CAAE54CF78DC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76964A-50EC-4F9B-97E0-0E99F94CEE25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39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47470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4117A8-6528-488F-BF4F-6DAF8FC3776D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문이과 통합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누구나 의대에 갈 수 있습니다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FAF325-0E02-47E8-8D66-06B1F48B5468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95ED67-FF39-4840-A829-CCB0AA961CE6}"/>
              </a:ext>
            </a:extLst>
          </p:cNvPr>
          <p:cNvSpPr txBox="1"/>
          <p:nvPr/>
        </p:nvSpPr>
        <p:spPr>
          <a:xfrm>
            <a:off x="812800" y="20066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40F031-0A89-452D-9F87-710E98646852}"/>
              </a:ext>
            </a:extLst>
          </p:cNvPr>
          <p:cNvSpPr txBox="1"/>
          <p:nvPr/>
        </p:nvSpPr>
        <p:spPr>
          <a:xfrm>
            <a:off x="1041400" y="20066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2022 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개정 교육과정에서 문과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이과 구분이 사라졌습니다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136B21-A0DB-4D0E-98BA-47837F1FE7FE}"/>
              </a:ext>
            </a:extLst>
          </p:cNvPr>
          <p:cNvSpPr txBox="1"/>
          <p:nvPr/>
        </p:nvSpPr>
        <p:spPr>
          <a:xfrm>
            <a:off x="812800" y="2616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0D869B-4C34-494A-BCD6-4071AFB069E6}"/>
              </a:ext>
            </a:extLst>
          </p:cNvPr>
          <p:cNvSpPr txBox="1"/>
          <p:nvPr/>
        </p:nvSpPr>
        <p:spPr>
          <a:xfrm>
            <a:off x="1041400" y="2616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통합사회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통합과학을 모두 이수하고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수능에서도 둘 다 응시합니다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02ABF-864B-4B93-A4CA-C86F676DF80F}"/>
              </a:ext>
            </a:extLst>
          </p:cNvPr>
          <p:cNvSpPr txBox="1"/>
          <p:nvPr/>
        </p:nvSpPr>
        <p:spPr>
          <a:xfrm>
            <a:off x="812800" y="3225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BC7190-752E-45FD-B466-F73635C4C566}"/>
              </a:ext>
            </a:extLst>
          </p:cNvPr>
          <p:cNvSpPr txBox="1"/>
          <p:nvPr/>
        </p:nvSpPr>
        <p:spPr>
          <a:xfrm>
            <a:off x="1041400" y="32258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선택과목으로 진로를 만들어 가는 구조입니다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15C23D-4B44-4FB5-8EE0-8610A18DDD05}"/>
              </a:ext>
            </a:extLst>
          </p:cNvPr>
          <p:cNvSpPr txBox="1"/>
          <p:nvPr/>
        </p:nvSpPr>
        <p:spPr>
          <a:xfrm>
            <a:off x="812800" y="3835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5FF0FF-39AE-4E10-8EB0-EC9F0B6C7B79}"/>
              </a:ext>
            </a:extLst>
          </p:cNvPr>
          <p:cNvSpPr txBox="1"/>
          <p:nvPr/>
        </p:nvSpPr>
        <p:spPr>
          <a:xfrm>
            <a:off x="1041400" y="3835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중학교 때 진로를 확정할 필요가 없어졌다는 뜻이기도 합니다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D10178-20AB-43DB-A637-3E6B7FA9BC49}"/>
              </a:ext>
            </a:extLst>
          </p:cNvPr>
          <p:cNvSpPr/>
          <p:nvPr/>
        </p:nvSpPr>
        <p:spPr>
          <a:xfrm>
            <a:off x="812800" y="4826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42CA08-D0F6-43EF-BEF3-FCB43D679BDA}"/>
              </a:ext>
            </a:extLst>
          </p:cNvPr>
          <p:cNvSpPr/>
          <p:nvPr/>
        </p:nvSpPr>
        <p:spPr>
          <a:xfrm>
            <a:off x="812800" y="4826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1BEC79-0A40-4A94-85BB-31D8DE6EFA09}"/>
              </a:ext>
            </a:extLst>
          </p:cNvPr>
          <p:cNvSpPr txBox="1"/>
          <p:nvPr/>
        </p:nvSpPr>
        <p:spPr>
          <a:xfrm>
            <a:off x="1143000" y="4953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진로가 열려 있는 만큼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어느 길로 가든 필요한 과목을 미리 다져 둬야 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영어가 그 첫 번째입니다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91BE52-B047-4E6F-A2D2-07AA4429FE94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BDC8F6-326E-4DE4-A23E-7F3D9FE535E7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40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55896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00BA27-223E-4797-AED5-27C4C58E59E8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대학도 바뀌고 있습니다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글로컬대학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220110B-42DD-4F61-924D-980FE73A79D8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2EBB8F-383E-48B9-B543-76B1CB0C71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4722" y="1828800"/>
            <a:ext cx="5662556" cy="317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7279E3-F0C5-4969-9EBD-F8CE5F7AB96C}"/>
              </a:ext>
            </a:extLst>
          </p:cNvPr>
          <p:cNvSpPr txBox="1"/>
          <p:nvPr/>
        </p:nvSpPr>
        <p:spPr>
          <a:xfrm>
            <a:off x="812800" y="5130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E3BCAC-1E4B-4C79-82AB-336735181883}"/>
              </a:ext>
            </a:extLst>
          </p:cNvPr>
          <p:cNvSpPr txBox="1"/>
          <p:nvPr/>
        </p:nvSpPr>
        <p:spPr>
          <a:xfrm>
            <a:off x="1041400" y="51308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무학과 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무학년 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무전공 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학과 단위 모집을 폐지하는 대학이 나오고 있습니다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BE043-0133-4C89-B25E-2D8D5A645BC9}"/>
              </a:ext>
            </a:extLst>
          </p:cNvPr>
          <p:cNvSpPr txBox="1"/>
          <p:nvPr/>
        </p:nvSpPr>
        <p:spPr>
          <a:xfrm>
            <a:off x="812800" y="5613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CEC817-F226-402F-A256-65692ABD41DE}"/>
              </a:ext>
            </a:extLst>
          </p:cNvPr>
          <p:cNvSpPr txBox="1"/>
          <p:nvPr/>
        </p:nvSpPr>
        <p:spPr>
          <a:xfrm>
            <a:off x="1041400" y="5613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순천향대는 단과대와 전공을 모두 폐지하고 학제를 </a:t>
            </a:r>
            <a:r>
              <a:rPr lang="en-US" altLang="ko-KR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3·4·5</a:t>
            </a: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년제로 다양화했습니다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91D24-FB7B-42D3-893A-A18D8209ADF8}"/>
              </a:ext>
            </a:extLst>
          </p:cNvPr>
          <p:cNvSpPr txBox="1"/>
          <p:nvPr/>
        </p:nvSpPr>
        <p:spPr>
          <a:xfrm>
            <a:off x="812800" y="6096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4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F4F489-FC51-4EC5-AB95-4DD6BC1B7F81}"/>
              </a:ext>
            </a:extLst>
          </p:cNvPr>
          <p:cNvSpPr txBox="1"/>
          <p:nvPr/>
        </p:nvSpPr>
        <p:spPr>
          <a:xfrm>
            <a:off x="1041400" y="60960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 거점 대학이 재편되면서 우리 지역 학생에게 기회가 늘어납니다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76FBA7-482E-4E32-8298-08A499AFA0CD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6B220A-EEEF-408F-A294-058CD59107B3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41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67604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565150"/>
            <a:ext cx="16256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A4F44"/>
                </a:solidFill>
                <a:latin typeface="맑은 고딕"/>
                <a:ea typeface="맑은 고딕"/>
              </a:rPr>
              <a:t>우리 학원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965200"/>
            <a:ext cx="105664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3201D"/>
                </a:solidFill>
                <a:latin typeface="맑은 고딕"/>
                <a:ea typeface="맑은 고딕"/>
              </a:rPr>
              <a:t>중등 과정에 대하여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930400"/>
            <a:ext cx="3386666" cy="2044700"/>
          </a:xfrm>
          <a:prstGeom prst="rect">
            <a:avLst/>
          </a:prstGeom>
          <a:solidFill>
            <a:srgbClr val="F3F8F6"/>
          </a:solidFill>
          <a:ln w="9525">
            <a:solidFill>
              <a:srgbClr val="DD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" y="1930400"/>
            <a:ext cx="3386666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133600"/>
            <a:ext cx="2980266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4F44"/>
                </a:solidFill>
                <a:latin typeface="맑은 고딕"/>
                <a:ea typeface="맑은 고딕"/>
              </a:rPr>
              <a:t>취지 ·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514600"/>
            <a:ext cx="2980266" cy="134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기본은 중등 내신, 목표는 수능과 TOEFL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듣기·말하기·독해·영작 + 문법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시험 2~3주 전 내신 대비로 전환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2666" y="1930400"/>
            <a:ext cx="3386666" cy="2044700"/>
          </a:xfrm>
          <a:prstGeom prst="rect">
            <a:avLst/>
          </a:prstGeom>
          <a:solidFill>
            <a:srgbClr val="F3F8F6"/>
          </a:solidFill>
          <a:ln w="9525">
            <a:solidFill>
              <a:srgbClr val="DD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2666" y="1930400"/>
            <a:ext cx="3386666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5866" y="2133600"/>
            <a:ext cx="2980266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4F44"/>
                </a:solidFill>
                <a:latin typeface="맑은 고딕"/>
                <a:ea typeface="맑은 고딕"/>
              </a:rPr>
              <a:t>과정 · 일정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5866" y="2514600"/>
            <a:ext cx="2980266" cy="134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1월 ~ 12월, 총 12개월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[2027]년 1월 4일 시작 예정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주 3일 · 하루 3교시 (1교시 45분)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2533" y="1930400"/>
            <a:ext cx="3386666" cy="2044700"/>
          </a:xfrm>
          <a:prstGeom prst="rect">
            <a:avLst/>
          </a:prstGeom>
          <a:solidFill>
            <a:srgbClr val="F3F8F6"/>
          </a:solidFill>
          <a:ln w="9525">
            <a:solidFill>
              <a:srgbClr val="DD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2533" y="1930400"/>
            <a:ext cx="3386666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5733" y="2133600"/>
            <a:ext cx="2980266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4F44"/>
                </a:solidFill>
                <a:latin typeface="맑은 고딕"/>
                <a:ea typeface="맑은 고딕"/>
              </a:rPr>
              <a:t>반 · 수업시간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5733" y="2514600"/>
            <a:ext cx="2980266" cy="134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저녁 6:00 ~ 8:15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월수금반 / 화목금반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반별 난이도에 따라 진도·교재가 다릅니다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" y="4152900"/>
            <a:ext cx="3386666" cy="2044700"/>
          </a:xfrm>
          <a:prstGeom prst="rect">
            <a:avLst/>
          </a:prstGeom>
          <a:solidFill>
            <a:srgbClr val="F3F8F6"/>
          </a:solidFill>
          <a:ln w="9525">
            <a:solidFill>
              <a:srgbClr val="DD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800" y="4152900"/>
            <a:ext cx="3386666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6000" y="4356100"/>
            <a:ext cx="2980266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4F44"/>
                </a:solidFill>
                <a:latin typeface="맑은 고딕"/>
                <a:ea typeface="맑은 고딕"/>
              </a:rPr>
              <a:t>교재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" y="4737100"/>
            <a:ext cx="2980266" cy="134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문법 · Grammar TAPA 1·2·3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독해 · THE CLIP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단어·듣기 · Class Card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서술형 · 쎄듀 쓰작 시리즈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2666" y="4152900"/>
            <a:ext cx="3386666" cy="2044700"/>
          </a:xfrm>
          <a:prstGeom prst="rect">
            <a:avLst/>
          </a:prstGeom>
          <a:solidFill>
            <a:srgbClr val="F3F8F6"/>
          </a:solidFill>
          <a:ln w="9525">
            <a:solidFill>
              <a:srgbClr val="DD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2666" y="4152900"/>
            <a:ext cx="3386666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5866" y="4356100"/>
            <a:ext cx="2980266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4F44"/>
                </a:solidFill>
                <a:latin typeface="맑은 고딕"/>
                <a:ea typeface="맑은 고딕"/>
              </a:rPr>
              <a:t>평가 · 성적관리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5866" y="4737100"/>
            <a:ext cx="2980266" cy="134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단어 매일 · 문법·독해 주 1회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고1 모의고사 듣기·독해 2개월마다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→ 결과표 발송 후 상담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중1은 고1 시험지로 연 5회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92533" y="4152900"/>
            <a:ext cx="3386666" cy="2044700"/>
          </a:xfrm>
          <a:prstGeom prst="rect">
            <a:avLst/>
          </a:prstGeom>
          <a:solidFill>
            <a:srgbClr val="F3F8F6"/>
          </a:solidFill>
          <a:ln w="9525">
            <a:solidFill>
              <a:srgbClr val="DD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2533" y="4152900"/>
            <a:ext cx="3386666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5733" y="4356100"/>
            <a:ext cx="2980266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4F44"/>
                </a:solidFill>
                <a:latin typeface="맑은 고딕"/>
                <a:ea typeface="맑은 고딕"/>
              </a:rPr>
              <a:t>원어민 수업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5733" y="4737100"/>
            <a:ext cx="2980266" cy="134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상·중·하 레벨 · 주 1회 45분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Writing — 에세이 쓰기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Speaking — 디베이팅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6400800"/>
            <a:ext cx="5080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D77"/>
                </a:solidFill>
                <a:latin typeface="맑은 고딕"/>
                <a:ea typeface="맑은 고딕"/>
              </a:rPr>
              <a:t>금호 메타 영어학원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9200" y="64008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D77"/>
                </a:solidFill>
                <a:latin typeface="맑은 고딕"/>
                <a:ea typeface="맑은 고딕"/>
              </a:rPr>
              <a:t>42 / 71</a:t>
            </a:r>
          </a:p>
        </p:txBody>
      </p:sp>
    </p:spTree>
    <p:extLst>
      <p:ext uri="{BB962C8B-B14F-4D97-AF65-F5344CB8AC3E}">
        <p14:creationId xmlns:p14="http://schemas.microsoft.com/office/powerpoint/2010/main" val="22249562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7937E0B-7D22-4FBC-AA01-C9F1ACA0EAE3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1277C8-6013-4473-9D55-62A7D10F2405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63BA1-CEBE-4E31-877B-01A862B75D36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 과정 개요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F3751FF-9EA3-4452-850E-79A9E4FA00BA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A13871-044A-4C35-B3EC-C7366C1949DA}"/>
              </a:ext>
            </a:extLst>
          </p:cNvPr>
          <p:cNvSpPr/>
          <p:nvPr/>
        </p:nvSpPr>
        <p:spPr>
          <a:xfrm>
            <a:off x="812800" y="1930400"/>
            <a:ext cx="3352800" cy="1320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78778E-DCA8-4801-969E-388C7C84CCD4}"/>
              </a:ext>
            </a:extLst>
          </p:cNvPr>
          <p:cNvSpPr txBox="1"/>
          <p:nvPr/>
        </p:nvSpPr>
        <p:spPr>
          <a:xfrm>
            <a:off x="1066800" y="2209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8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 </a:t>
            </a:r>
            <a:r>
              <a:rPr lang="en-US" altLang="ko-KR" sz="28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28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1E3E95-E24A-4797-BD54-73DC1A111551}"/>
              </a:ext>
            </a:extLst>
          </p:cNvPr>
          <p:cNvSpPr txBox="1"/>
          <p:nvPr/>
        </p:nvSpPr>
        <p:spPr>
          <a:xfrm>
            <a:off x="1066800" y="2717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 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 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238C86-00B6-4AD7-A1EE-5DCB223C4DED}"/>
              </a:ext>
            </a:extLst>
          </p:cNvPr>
          <p:cNvSpPr/>
          <p:nvPr/>
        </p:nvSpPr>
        <p:spPr>
          <a:xfrm>
            <a:off x="4419600" y="1930400"/>
            <a:ext cx="3352800" cy="1320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3C2CB8-1AA3-4FA6-9BE3-9B654641A4C7}"/>
              </a:ext>
            </a:extLst>
          </p:cNvPr>
          <p:cNvSpPr txBox="1"/>
          <p:nvPr/>
        </p:nvSpPr>
        <p:spPr>
          <a:xfrm>
            <a:off x="4673600" y="2209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8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저녁 </a:t>
            </a:r>
            <a:r>
              <a:rPr lang="en-US" altLang="ko-KR" sz="28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28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FB3A4D-D8CC-43E2-8076-5B38DD5783E6}"/>
              </a:ext>
            </a:extLst>
          </p:cNvPr>
          <p:cNvSpPr txBox="1"/>
          <p:nvPr/>
        </p:nvSpPr>
        <p:spPr>
          <a:xfrm>
            <a:off x="4673600" y="2717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 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 8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 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E74FFC-5B0E-45EB-8087-3F7136EE5008}"/>
              </a:ext>
            </a:extLst>
          </p:cNvPr>
          <p:cNvSpPr/>
          <p:nvPr/>
        </p:nvSpPr>
        <p:spPr>
          <a:xfrm>
            <a:off x="8026400" y="1930400"/>
            <a:ext cx="3352800" cy="1320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4A367A-7F07-4368-82B4-D48E72733F8B}"/>
              </a:ext>
            </a:extLst>
          </p:cNvPr>
          <p:cNvSpPr txBox="1"/>
          <p:nvPr/>
        </p:nvSpPr>
        <p:spPr>
          <a:xfrm>
            <a:off x="8280400" y="2209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8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135</a:t>
            </a:r>
            <a:r>
              <a:rPr lang="ko-KR" altLang="en-US" sz="28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3AFD0F-47D6-42B9-9D44-2C58399DAD29}"/>
              </a:ext>
            </a:extLst>
          </p:cNvPr>
          <p:cNvSpPr txBox="1"/>
          <p:nvPr/>
        </p:nvSpPr>
        <p:spPr>
          <a:xfrm>
            <a:off x="8280400" y="2717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하루 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교시 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45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62216F-924C-4507-AEC0-E3BDF80E21CD}"/>
              </a:ext>
            </a:extLst>
          </p:cNvPr>
          <p:cNvSpPr txBox="1"/>
          <p:nvPr/>
        </p:nvSpPr>
        <p:spPr>
          <a:xfrm>
            <a:off x="812800" y="3683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90387F-C58C-46ED-90BA-ABC4A991E488}"/>
              </a:ext>
            </a:extLst>
          </p:cNvPr>
          <p:cNvSpPr txBox="1"/>
          <p:nvPr/>
        </p:nvSpPr>
        <p:spPr>
          <a:xfrm>
            <a:off x="1041400" y="36830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듣기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문법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독해를 매 수업 모두 다룹니다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198824-5733-4D66-94C0-DEAA4F2D1315}"/>
              </a:ext>
            </a:extLst>
          </p:cNvPr>
          <p:cNvSpPr txBox="1"/>
          <p:nvPr/>
        </p:nvSpPr>
        <p:spPr>
          <a:xfrm>
            <a:off x="812800" y="4216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3E8A1B-1E3A-4DDC-8C7F-7827A880E7F8}"/>
              </a:ext>
            </a:extLst>
          </p:cNvPr>
          <p:cNvSpPr txBox="1"/>
          <p:nvPr/>
        </p:nvSpPr>
        <p:spPr>
          <a:xfrm>
            <a:off x="1041400" y="4216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원어민 수업이 주 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정규 시간 안에 들어갑니다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E54F97-64B2-447B-B3E0-3C02C23C8832}"/>
              </a:ext>
            </a:extLst>
          </p:cNvPr>
          <p:cNvSpPr txBox="1"/>
          <p:nvPr/>
        </p:nvSpPr>
        <p:spPr>
          <a:xfrm>
            <a:off x="812800" y="4749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EFBAB1-04CC-4727-808F-48966EF55F65}"/>
              </a:ext>
            </a:extLst>
          </p:cNvPr>
          <p:cNvSpPr txBox="1"/>
          <p:nvPr/>
        </p:nvSpPr>
        <p:spPr>
          <a:xfrm>
            <a:off x="1041400" y="47498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초등 리틀팍스 과정을 마친 학생이 그대로 올라옵니다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70BCC35-5071-4912-863F-E8CBCCE7A1D0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AC1B9AB-F381-4889-B23D-2A5C33ED90E5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565A1C-53EA-4803-8172-F2D6A04D2558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까지 고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수준을 끝내 놓는 것이 목표입니다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CD0AAF-98CB-49C5-8188-307D59852AEE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FF57DB-2949-432F-98E6-5F7FEF7658A1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43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80324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7EF6CE5-5D04-4BC0-AAA0-E37AFF67FF68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1020FA-5EC7-4861-B69E-63969B34469F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9ABB06-42EE-4C40-A619-FB216276EFC3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하루 수업은 이렇게 구성됩니다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82DBA3-2C18-4611-ADFD-A8F2C790A8C5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38D6606-6BA0-4F31-A167-1F7F4EAD5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938306"/>
              </p:ext>
            </p:extLst>
          </p:nvPr>
        </p:nvGraphicFramePr>
        <p:xfrm>
          <a:off x="812800" y="2133600"/>
          <a:ext cx="10566400" cy="294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054911758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68173723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744955365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241802489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 </a:t>
                      </a:r>
                      <a:r>
                        <a:rPr lang="en-US" altLang="ko-KR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542995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6:00 ~ 6:45</a:t>
                      </a:r>
                      <a:endParaRPr lang="ko-KR" altLang="en-US" sz="14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Class Card (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듣기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4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원어민 수업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Class Card (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듣기</a:t>
                      </a:r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4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138128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6:45 ~ 7:30</a:t>
                      </a:r>
                      <a:endParaRPr lang="ko-KR" altLang="en-US" sz="14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문제풀이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46796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7:30 ~ 8:15</a:t>
                      </a:r>
                      <a:endParaRPr lang="ko-KR" altLang="en-US" sz="14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독해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8381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BD38B65-89CC-4ACE-A5E1-207139E28AF9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90212A-C890-45C0-B07E-6E1760710F2A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78519-C04F-48FD-96A8-A682A16F81E8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듣기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문법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독해를 매주 반복합니다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영역이라도 빠지면 그 주에 구멍이 생깁니다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D583E2-ED25-4255-B4EC-8D3C9CDC565F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049F78-3905-4492-9671-5ABD2EBE1917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44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63109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2C1ADE7-99A1-4A98-959C-02BEBDAAE431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D9E9EB-7CA7-4004-A367-EF2DD8AFAA2A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8826D7-AC21-4B7C-97E8-49103195FC4A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원어민 수업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6AC5B8-674D-4AE3-B48F-E9186565789D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3579A-33D6-4093-AB64-163B7B20A465}"/>
              </a:ext>
            </a:extLst>
          </p:cNvPr>
          <p:cNvSpPr txBox="1"/>
          <p:nvPr/>
        </p:nvSpPr>
        <p:spPr>
          <a:xfrm>
            <a:off x="812800" y="20066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D018C4-79C7-4AE5-98F1-37637B850E99}"/>
              </a:ext>
            </a:extLst>
          </p:cNvPr>
          <p:cNvSpPr txBox="1"/>
          <p:nvPr/>
        </p:nvSpPr>
        <p:spPr>
          <a:xfrm>
            <a:off x="1041400" y="20066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 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 수업 시간 안에서 진행합니다 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비용이 없습니다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0B5286-5DE9-4FF2-8EDF-FCDE1EA1CFF4}"/>
              </a:ext>
            </a:extLst>
          </p:cNvPr>
          <p:cNvSpPr txBox="1"/>
          <p:nvPr/>
        </p:nvSpPr>
        <p:spPr>
          <a:xfrm>
            <a:off x="812800" y="2616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723E21-AD5A-49DF-9476-FC2D0C058540}"/>
              </a:ext>
            </a:extLst>
          </p:cNvPr>
          <p:cNvSpPr txBox="1"/>
          <p:nvPr/>
        </p:nvSpPr>
        <p:spPr>
          <a:xfrm>
            <a:off x="1041400" y="2616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말하기와 발표 중심입니다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서울대</a:t>
            </a:r>
            <a:r>
              <a:rPr lang="en-US" altLang="ko-KR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카이스트 면접에서 요구하는 그 능력입니다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C91FE5-9FDF-45B5-911F-AE78E8FC3554}"/>
              </a:ext>
            </a:extLst>
          </p:cNvPr>
          <p:cNvSpPr txBox="1"/>
          <p:nvPr/>
        </p:nvSpPr>
        <p:spPr>
          <a:xfrm>
            <a:off x="812800" y="3225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024EF-B9EE-4E69-AF1D-D6955049FBC8}"/>
              </a:ext>
            </a:extLst>
          </p:cNvPr>
          <p:cNvSpPr txBox="1"/>
          <p:nvPr/>
        </p:nvSpPr>
        <p:spPr>
          <a:xfrm>
            <a:off x="1041400" y="32258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한국인 선생님 수업과 같은 주제를 다뤄 배운 것을 바로 써 보게 합니다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3D8F45-67F0-4262-A84D-03F28BBEAE47}"/>
              </a:ext>
            </a:extLst>
          </p:cNvPr>
          <p:cNvSpPr txBox="1"/>
          <p:nvPr/>
        </p:nvSpPr>
        <p:spPr>
          <a:xfrm>
            <a:off x="812800" y="3835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5F4C63-6610-432E-8A85-3E110E7DD779}"/>
              </a:ext>
            </a:extLst>
          </p:cNvPr>
          <p:cNvSpPr txBox="1"/>
          <p:nvPr/>
        </p:nvSpPr>
        <p:spPr>
          <a:xfrm>
            <a:off x="1041400" y="3835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중등에서 말하기를 놓으면 고등에서 되살리기가 매우 어렵습니다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552B2D-34B9-46AB-933C-B92006BE8B85}"/>
              </a:ext>
            </a:extLst>
          </p:cNvPr>
          <p:cNvSpPr/>
          <p:nvPr/>
        </p:nvSpPr>
        <p:spPr>
          <a:xfrm>
            <a:off x="812800" y="4826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0FE0FCD-713F-4581-A4DB-386E80910129}"/>
              </a:ext>
            </a:extLst>
          </p:cNvPr>
          <p:cNvSpPr/>
          <p:nvPr/>
        </p:nvSpPr>
        <p:spPr>
          <a:xfrm>
            <a:off x="812800" y="4826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AA8286-84EB-4230-8A80-D08DF3128AC6}"/>
              </a:ext>
            </a:extLst>
          </p:cNvPr>
          <p:cNvSpPr txBox="1"/>
          <p:nvPr/>
        </p:nvSpPr>
        <p:spPr>
          <a:xfrm>
            <a:off x="1143000" y="4953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내신과 수능만 보고 말하기를 버리는 학원이 많습니다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저희는 그렇게 하지 않습니다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0F4B2A-3ADF-4D05-9DA4-B09A3C42CC7A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759211-CAC5-4501-96B0-6F2BDE2B7A5C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45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92226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D623109-BD42-4F75-A263-A6B3EA5C4291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038822-9617-465D-97D0-897F8E85C5EC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A65D8C-C40E-4820-83EA-ED9DDF9DCAF2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초등에서 중등으로 이어집니다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88E552-AE12-4A9C-8E45-DFE9591D78F0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ADB5FFB-DF8A-4108-9AFB-39640975E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192125"/>
              </p:ext>
            </p:extLst>
          </p:nvPr>
        </p:nvGraphicFramePr>
        <p:xfrm>
          <a:off x="812800" y="2133600"/>
          <a:ext cx="10566400" cy="314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821707963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1934183722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504614434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4200357337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17978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리틀팍스 어학원 금호센터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하루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스토리 기반 듣기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말하기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매일 영어 노출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57681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중등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금호 메타 영어학원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하루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듣기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문법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독해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원어민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69211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연결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레벨테스트로 배치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초등에서 쌓은 듣기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말하기를 내신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수능 체계로 전환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61897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73CB5405-AE99-4497-AFBB-20A6FFAD018C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44D134-DB7A-43E8-AAE9-92BA2C86A536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71EC7B-A2FA-4C11-9BD4-C9B1A1871162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초등에서 귀와 입을 열어 두었기 때문에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중등에서 문법과 독해에 시간을 쓸 수 있습니다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8E45C2-1DAD-49A0-B67F-7ED6F05438E5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876C79-83C6-42AE-8AB9-3F02F01050E6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46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67525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3F7E4F-AE16-4C15-A877-901369862A4B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8BC106-E390-4473-B6E4-D20F2197C7CA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CE9C48-1A6A-4839-932D-572AE6B569DF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관리 시스템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8E8CB8-CFB7-4679-BE98-A80858F128C9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E6654C-F6EA-401F-B9BB-9054BFD53B57}"/>
              </a:ext>
            </a:extLst>
          </p:cNvPr>
          <p:cNvSpPr/>
          <p:nvPr/>
        </p:nvSpPr>
        <p:spPr>
          <a:xfrm>
            <a:off x="812800" y="1905000"/>
            <a:ext cx="10566400" cy="7874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752723-7A5E-49A6-A681-DC86E0B826BD}"/>
              </a:ext>
            </a:extLst>
          </p:cNvPr>
          <p:cNvSpPr txBox="1"/>
          <p:nvPr/>
        </p:nvSpPr>
        <p:spPr>
          <a:xfrm>
            <a:off x="1092200" y="20447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Class Card</a:t>
            </a:r>
            <a:endParaRPr lang="ko-KR" altLang="en-US" sz="15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B1A822-2738-4125-BA13-E77A372972D3}"/>
              </a:ext>
            </a:extLst>
          </p:cNvPr>
          <p:cNvSpPr txBox="1"/>
          <p:nvPr/>
        </p:nvSpPr>
        <p:spPr>
          <a:xfrm>
            <a:off x="3733800" y="2070100"/>
            <a:ext cx="736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듣기를 스마트폰으로 매일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학원에서 실시간 진행 확인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A8F5CF-A7FB-49EC-B1A8-F96FCC3B032F}"/>
              </a:ext>
            </a:extLst>
          </p:cNvPr>
          <p:cNvSpPr/>
          <p:nvPr/>
        </p:nvSpPr>
        <p:spPr>
          <a:xfrm>
            <a:off x="812800" y="2844800"/>
            <a:ext cx="10566400" cy="7874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AC2F9-0FBB-4F44-AEE0-0382AD1FE83B}"/>
              </a:ext>
            </a:extLst>
          </p:cNvPr>
          <p:cNvSpPr txBox="1"/>
          <p:nvPr/>
        </p:nvSpPr>
        <p:spPr>
          <a:xfrm>
            <a:off x="1092200" y="29845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모의고사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717B94-A082-4047-A328-77E396BD6513}"/>
              </a:ext>
            </a:extLst>
          </p:cNvPr>
          <p:cNvSpPr txBox="1"/>
          <p:nvPr/>
        </p:nvSpPr>
        <p:spPr>
          <a:xfrm>
            <a:off x="3733800" y="3009900"/>
            <a:ext cx="736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이사벨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's 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모의고사 연 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학교 내신 추적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6B6BC5-223A-404D-95A7-A0C85A98E0E6}"/>
              </a:ext>
            </a:extLst>
          </p:cNvPr>
          <p:cNvSpPr/>
          <p:nvPr/>
        </p:nvSpPr>
        <p:spPr>
          <a:xfrm>
            <a:off x="812800" y="3784600"/>
            <a:ext cx="10566400" cy="7874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D37EB9-B617-4DFB-8178-D8A992D08785}"/>
              </a:ext>
            </a:extLst>
          </p:cNvPr>
          <p:cNvSpPr txBox="1"/>
          <p:nvPr/>
        </p:nvSpPr>
        <p:spPr>
          <a:xfrm>
            <a:off x="1092200" y="39243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성적 관리표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58DE4E-1B3D-4B82-8BCD-2D861BA424C1}"/>
              </a:ext>
            </a:extLst>
          </p:cNvPr>
          <p:cNvSpPr txBox="1"/>
          <p:nvPr/>
        </p:nvSpPr>
        <p:spPr>
          <a:xfrm>
            <a:off x="3733800" y="3949700"/>
            <a:ext cx="736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모의고사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기말을 한 장에 기록해 원장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강사</a:t>
            </a:r>
            <a:r>
              <a:rPr lang="en-US" altLang="ko-KR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학부모가 함께 확인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C274E2F-A60C-42F3-A12E-60C67162BD1F}"/>
              </a:ext>
            </a:extLst>
          </p:cNvPr>
          <p:cNvSpPr/>
          <p:nvPr/>
        </p:nvSpPr>
        <p:spPr>
          <a:xfrm>
            <a:off x="812800" y="4724400"/>
            <a:ext cx="10566400" cy="7874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24417D-2551-42F4-96BA-206BDB1C06E3}"/>
              </a:ext>
            </a:extLst>
          </p:cNvPr>
          <p:cNvSpPr txBox="1"/>
          <p:nvPr/>
        </p:nvSpPr>
        <p:spPr>
          <a:xfrm>
            <a:off x="1092200" y="48641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개별 상담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AFCFF8-E28A-4ADC-B310-04016B1EB89A}"/>
              </a:ext>
            </a:extLst>
          </p:cNvPr>
          <p:cNvSpPr txBox="1"/>
          <p:nvPr/>
        </p:nvSpPr>
        <p:spPr>
          <a:xfrm>
            <a:off x="3733800" y="4889500"/>
            <a:ext cx="736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성적 변화가 보이면 바로 연락드립니다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484391-013E-42AE-B912-3A00F2EED14B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987D8D-430A-4FB4-8473-44CDA539414A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47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0485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67AB1CA-FA45-496D-A83F-5270954036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0404D6-7C16-4CDD-8102-156DDC16F5DD}"/>
              </a:ext>
            </a:extLst>
          </p:cNvPr>
          <p:cNvSpPr txBox="1"/>
          <p:nvPr/>
        </p:nvSpPr>
        <p:spPr>
          <a:xfrm>
            <a:off x="1219200" y="22352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280653-F246-4E1A-A947-C4AB07255706}"/>
              </a:ext>
            </a:extLst>
          </p:cNvPr>
          <p:cNvSpPr txBox="1"/>
          <p:nvPr/>
        </p:nvSpPr>
        <p:spPr>
          <a:xfrm>
            <a:off x="1219200" y="269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무엇을 어떻게 가르치나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9E72DEC-C18F-4DDE-84D1-D9C9E95C8527}"/>
              </a:ext>
            </a:extLst>
          </p:cNvPr>
          <p:cNvSpPr/>
          <p:nvPr/>
        </p:nvSpPr>
        <p:spPr>
          <a:xfrm>
            <a:off x="1219200" y="3683000"/>
            <a:ext cx="812800" cy="50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9A7187-8EA5-4CD0-AB83-58D87501876A}"/>
              </a:ext>
            </a:extLst>
          </p:cNvPr>
          <p:cNvSpPr txBox="1"/>
          <p:nvPr/>
        </p:nvSpPr>
        <p:spPr>
          <a:xfrm>
            <a:off x="1219200" y="396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문법 </a:t>
            </a:r>
            <a:r>
              <a:rPr lang="en-US" altLang="ko-KR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독해 </a:t>
            </a:r>
            <a:r>
              <a:rPr lang="en-US" altLang="ko-KR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듣기 </a:t>
            </a:r>
            <a:r>
              <a:rPr lang="en-US" altLang="ko-KR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어휘</a:t>
            </a:r>
          </a:p>
        </p:txBody>
      </p:sp>
    </p:spTree>
    <p:extLst>
      <p:ext uri="{BB962C8B-B14F-4D97-AF65-F5344CB8AC3E}">
        <p14:creationId xmlns:p14="http://schemas.microsoft.com/office/powerpoint/2010/main" val="21976251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565150"/>
            <a:ext cx="16256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A4F44"/>
                </a:solidFill>
                <a:latin typeface="맑은 고딕"/>
                <a:ea typeface="맑은 고딕"/>
              </a:rPr>
              <a:t>9부 ·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965200"/>
            <a:ext cx="105664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3201D"/>
                </a:solidFill>
                <a:latin typeface="맑은 고딕"/>
                <a:ea typeface="맑은 고딕"/>
              </a:rPr>
              <a:t>문법이 시험의 채점 기준이 됐습니다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6400800"/>
            <a:ext cx="5080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D77"/>
                </a:solidFill>
                <a:latin typeface="맑은 고딕"/>
                <a:ea typeface="맑은 고딕"/>
              </a:rPr>
              <a:t>금호 메타 영어학원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9200" y="64008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D77"/>
                </a:solidFill>
                <a:latin typeface="맑은 고딕"/>
                <a:ea typeface="맑은 고딕"/>
              </a:rPr>
              <a:t>49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1968500"/>
            <a:ext cx="3302000" cy="40640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7600" y="266700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DEDE8"/>
                </a:solidFill>
                <a:latin typeface="맑은 고딕"/>
                <a:ea typeface="맑은 고딕"/>
              </a:rPr>
              <a:t>중간·기말고사 서술형 비중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3048000"/>
            <a:ext cx="2794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맑은 고딕"/>
                <a:ea typeface="맑은 고딕"/>
              </a:rP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43180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DDEDE8"/>
                </a:solidFill>
                <a:latin typeface="맑은 고딕"/>
                <a:ea typeface="맑은 고딕"/>
              </a:rPr>
              <a:t>시험마다 각각 약 40%가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DDEDE8"/>
                </a:solidFill>
                <a:latin typeface="맑은 고딕"/>
                <a:ea typeface="맑은 고딕"/>
              </a:rPr>
              <a:t>‘써서 답하는’ 문제입니다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800" y="1968500"/>
            <a:ext cx="7010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4F44"/>
                </a:solidFill>
                <a:latin typeface="맑은 고딕"/>
                <a:ea typeface="맑은 고딕"/>
              </a:rPr>
              <a:t>실제로 이런 문제가 나옵니다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800" y="2349500"/>
            <a:ext cx="7010400" cy="1117600"/>
          </a:xfrm>
          <a:prstGeom prst="rect">
            <a:avLst/>
          </a:prstGeom>
          <a:solidFill>
            <a:srgbClr val="F3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800" y="2349500"/>
            <a:ext cx="38100" cy="11176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0100" y="2552700"/>
            <a:ext cx="6604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3201D"/>
                </a:solidFill>
                <a:latin typeface="맑은 고딕"/>
                <a:ea typeface="맑은 고딕"/>
              </a:rPr>
              <a:t>단수·복수, 시제를 맞춰 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29718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문법 기본기가 없으면 손을 댈 수 없는 문제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8800" y="3594100"/>
            <a:ext cx="7010400" cy="1117600"/>
          </a:xfrm>
          <a:prstGeom prst="rect">
            <a:avLst/>
          </a:prstGeom>
          <a:solidFill>
            <a:srgbClr val="F3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68800" y="3594100"/>
            <a:ext cx="38100" cy="11176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0100" y="3797300"/>
            <a:ext cx="6604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3201D"/>
                </a:solidFill>
                <a:latin typeface="맑은 고딕"/>
                <a:ea typeface="맑은 고딕"/>
              </a:rPr>
              <a:t>처음 보는 지문에서 틀린 곳 고치기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0100" y="42164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교과서 밖 외부 지문 — 암기로는 못 풉니다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8800" y="4838700"/>
            <a:ext cx="7010400" cy="1117600"/>
          </a:xfrm>
          <a:prstGeom prst="rect">
            <a:avLst/>
          </a:prstGeom>
          <a:solidFill>
            <a:srgbClr val="F3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8800" y="4838700"/>
            <a:ext cx="38100" cy="11176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0100" y="5041900"/>
            <a:ext cx="6604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3201D"/>
                </a:solidFill>
                <a:latin typeface="맑은 고딕"/>
                <a:ea typeface="맑은 고딕"/>
              </a:rPr>
              <a:t>사소한 실수도 크게 감점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0100" y="5461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문법 실수라면 내용이 맞아도 점수가 깎입니다</a:t>
            </a:r>
          </a:p>
        </p:txBody>
      </p:sp>
    </p:spTree>
    <p:extLst>
      <p:ext uri="{BB962C8B-B14F-4D97-AF65-F5344CB8AC3E}">
        <p14:creationId xmlns:p14="http://schemas.microsoft.com/office/powerpoint/2010/main" val="18420467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FCF51F8-15B3-4845-A931-BD66CA6AAEE8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8FCEA3-169D-4F88-AB9A-838CC6C0C5EA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3CAB9-D67B-41A7-9140-7F91962D315F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수행평가 문제입니다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7512B6-BDC2-4169-95BC-1C80C69C0810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E604559-81FB-443D-80B5-DFFA609A5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009" y="1828800"/>
            <a:ext cx="2611582" cy="3683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C7228E-B1F6-4562-A224-10DEE64D2ECE}"/>
              </a:ext>
            </a:extLst>
          </p:cNvPr>
          <p:cNvSpPr txBox="1"/>
          <p:nvPr/>
        </p:nvSpPr>
        <p:spPr>
          <a:xfrm>
            <a:off x="6781800" y="1905000"/>
            <a:ext cx="459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채점 기준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22C2A8-CDCF-4E62-B08E-62A5EAFEAF28}"/>
              </a:ext>
            </a:extLst>
          </p:cNvPr>
          <p:cNvSpPr txBox="1"/>
          <p:nvPr/>
        </p:nvSpPr>
        <p:spPr>
          <a:xfrm>
            <a:off x="6781800" y="2286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3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7E463C-1131-4471-9AF7-329F4CACD16D}"/>
              </a:ext>
            </a:extLst>
          </p:cNvPr>
          <p:cNvSpPr txBox="1"/>
          <p:nvPr/>
        </p:nvSpPr>
        <p:spPr>
          <a:xfrm>
            <a:off x="7010400" y="2286000"/>
            <a:ext cx="436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문장 이상 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10~14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문장 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감점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9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문장 이하 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감점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251318-78BC-46EB-8104-9D54BFFD081F}"/>
              </a:ext>
            </a:extLst>
          </p:cNvPr>
          <p:cNvSpPr txBox="1"/>
          <p:nvPr/>
        </p:nvSpPr>
        <p:spPr>
          <a:xfrm>
            <a:off x="6781800" y="2921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3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E86F65-0E83-42A5-ABCD-2ECDF192F04E}"/>
              </a:ext>
            </a:extLst>
          </p:cNvPr>
          <p:cNvSpPr txBox="1"/>
          <p:nvPr/>
        </p:nvSpPr>
        <p:spPr>
          <a:xfrm>
            <a:off x="7010400" y="2921000"/>
            <a:ext cx="436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 문법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as ~ as, 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관계대명사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의문사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+to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부정사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1EE473-D4FC-4F9E-AF73-35D87C4ED702}"/>
              </a:ext>
            </a:extLst>
          </p:cNvPr>
          <p:cNvSpPr txBox="1"/>
          <p:nvPr/>
        </p:nvSpPr>
        <p:spPr>
          <a:xfrm>
            <a:off x="6781800" y="3556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3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C8C54A-5960-4393-97B3-649E566A39B2}"/>
              </a:ext>
            </a:extLst>
          </p:cNvPr>
          <p:cNvSpPr txBox="1"/>
          <p:nvPr/>
        </p:nvSpPr>
        <p:spPr>
          <a:xfrm>
            <a:off x="7010400" y="3556000"/>
            <a:ext cx="436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 어휘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이유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순서를 나타내는 접속사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698BF4-EF62-4C6D-9D3F-20CD7BF4F06A}"/>
              </a:ext>
            </a:extLst>
          </p:cNvPr>
          <p:cNvSpPr txBox="1"/>
          <p:nvPr/>
        </p:nvSpPr>
        <p:spPr>
          <a:xfrm>
            <a:off x="6781800" y="4191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3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DE2501-1DDA-41BF-85C6-C3C1EAAEAB5B}"/>
              </a:ext>
            </a:extLst>
          </p:cNvPr>
          <p:cNvSpPr txBox="1"/>
          <p:nvPr/>
        </p:nvSpPr>
        <p:spPr>
          <a:xfrm>
            <a:off x="7010400" y="4191000"/>
            <a:ext cx="436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표현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철자 오류 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3~4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5~10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</a:t>
            </a:r>
            <a:r>
              <a:rPr lang="en-US" altLang="ko-KR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3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감점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E23C5A3-F391-4B06-86F5-70BC2D162742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CC5D95F-5A6C-42EF-B869-B879AB679B10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9A6B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DF1A9E-678D-4A8A-8C11-911A4F30D029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문제에서 만점을 받을 수 있는 학생이 몇이나 될까요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문법과 작문을 따로 배워서는 안 됩니다</a:t>
            </a:r>
            <a:r>
              <a:rPr lang="en-US" altLang="ko-KR" sz="1650" b="1">
                <a:solidFill>
                  <a:srgbClr val="9A6B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9A6B0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4DCEBE-9207-44AE-81A0-B441CEEA638C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B04BA8-F203-4056-84D1-6E92602AFCBC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05666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565150"/>
            <a:ext cx="16256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A4F44"/>
                </a:solidFill>
                <a:latin typeface="맑은 고딕"/>
                <a:ea typeface="맑은 고딕"/>
              </a:rPr>
              <a:t>9부 ·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965200"/>
            <a:ext cx="105664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3201D"/>
                </a:solidFill>
                <a:latin typeface="맑은 고딕"/>
                <a:ea typeface="맑은 고딕"/>
              </a:rPr>
              <a:t>문법 교재 — Grammar TAPA (비상교육)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6400800"/>
            <a:ext cx="5080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D77"/>
                </a:solidFill>
                <a:latin typeface="맑은 고딕"/>
                <a:ea typeface="맑은 고딕"/>
              </a:rPr>
              <a:t>금호 메타 영어학원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9200" y="64008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D77"/>
                </a:solidFill>
                <a:latin typeface="맑은 고딕"/>
                <a:ea typeface="맑은 고딕"/>
              </a:rPr>
              <a:t>51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1968500"/>
            <a:ext cx="3386667" cy="12065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1400" y="2120900"/>
            <a:ext cx="2929467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  <a:ea typeface="맑은 고딕"/>
              </a:rPr>
              <a:t>3권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400" y="2781300"/>
            <a:ext cx="2929467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DEDE8"/>
                </a:solidFill>
                <a:latin typeface="맑은 고딕"/>
                <a:ea typeface="맑은 고딕"/>
              </a:rPr>
              <a:t>1년 동안 중학교 전 과정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2667" y="1968500"/>
            <a:ext cx="3386667" cy="12065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1267" y="2120900"/>
            <a:ext cx="2929467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  <a:ea typeface="맑은 고딕"/>
              </a:rPr>
              <a:t>약 3,350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1267" y="2781300"/>
            <a:ext cx="2929467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DEDE8"/>
                </a:solidFill>
                <a:latin typeface="맑은 고딕"/>
                <a:ea typeface="맑은 고딕"/>
              </a:rPr>
              <a:t>다양한 유형의 수록 문항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2533" y="1968500"/>
            <a:ext cx="3386667" cy="12065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1133" y="2120900"/>
            <a:ext cx="2929467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  <a:ea typeface="맑은 고딕"/>
              </a:rPr>
              <a:t>2회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1133" y="2781300"/>
            <a:ext cx="2929467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DEDE8"/>
                </a:solidFill>
                <a:latin typeface="맑은 고딕"/>
                <a:ea typeface="맑은 고딕"/>
              </a:rPr>
              <a:t>권마다 총괄평가로 마무리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3429000"/>
            <a:ext cx="105664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4F44"/>
                </a:solidFill>
                <a:latin typeface="맑은 고딕"/>
                <a:ea typeface="맑은 고딕"/>
              </a:rPr>
              <a:t>이 교재를 고른 이유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" y="3835400"/>
            <a:ext cx="5181600" cy="863600"/>
          </a:xfrm>
          <a:prstGeom prst="rect">
            <a:avLst/>
          </a:prstGeom>
          <a:solidFill>
            <a:srgbClr val="F3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800" y="3835400"/>
            <a:ext cx="38100" cy="8636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1400" y="3835400"/>
            <a:ext cx="48006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3A4D48"/>
                </a:solidFill>
                <a:latin typeface="맑은 고딕"/>
                <a:ea typeface="맑은 고딕"/>
              </a:rPr>
              <a:t>작게 배우고 바로 풉니다</a:t>
            </a:r>
            <a:r>
              <a:rPr sz="1400" b="0">
                <a:solidFill>
                  <a:srgbClr val="3A4D48"/>
                </a:solidFill>
                <a:latin typeface="맑은 고딕"/>
                <a:ea typeface="맑은 고딕"/>
              </a:rPr>
              <a:t> — 짧은 설명 직후 문제로 확인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7600" y="3835400"/>
            <a:ext cx="5181600" cy="863600"/>
          </a:xfrm>
          <a:prstGeom prst="rect">
            <a:avLst/>
          </a:prstGeom>
          <a:solidFill>
            <a:srgbClr val="F3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7600" y="3835400"/>
            <a:ext cx="38100" cy="8636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6200" y="3835400"/>
            <a:ext cx="48006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3A4D48"/>
                </a:solidFill>
                <a:latin typeface="맑은 고딕"/>
                <a:ea typeface="맑은 고딕"/>
              </a:rPr>
              <a:t>빠짐없이</a:t>
            </a:r>
            <a:r>
              <a:rPr sz="1400" b="0">
                <a:solidFill>
                  <a:srgbClr val="3A4D48"/>
                </a:solidFill>
                <a:latin typeface="맑은 고딕"/>
                <a:ea typeface="맑은 고딕"/>
              </a:rPr>
              <a:t> — 교육과정 문법을 학년별로 모두 수록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4826000"/>
            <a:ext cx="5181600" cy="863600"/>
          </a:xfrm>
          <a:prstGeom prst="rect">
            <a:avLst/>
          </a:prstGeom>
          <a:solidFill>
            <a:srgbClr val="F3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2800" y="4826000"/>
            <a:ext cx="38100" cy="8636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1400" y="4826000"/>
            <a:ext cx="48006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3A4D48"/>
                </a:solidFill>
                <a:latin typeface="맑은 고딕"/>
                <a:ea typeface="맑은 고딕"/>
              </a:rPr>
              <a:t>요즘 시험 그대로</a:t>
            </a:r>
            <a:r>
              <a:rPr sz="1400" b="0">
                <a:solidFill>
                  <a:srgbClr val="3A4D48"/>
                </a:solidFill>
                <a:latin typeface="맑은 고딕"/>
                <a:ea typeface="맑은 고딕"/>
              </a:rPr>
              <a:t> — 최신 출제 경향을 반영한 문제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7600" y="4826000"/>
            <a:ext cx="5181600" cy="863600"/>
          </a:xfrm>
          <a:prstGeom prst="rect">
            <a:avLst/>
          </a:prstGeom>
          <a:solidFill>
            <a:srgbClr val="F3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7600" y="4826000"/>
            <a:ext cx="38100" cy="8636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6200" y="4826000"/>
            <a:ext cx="48006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3A4D48"/>
                </a:solidFill>
                <a:latin typeface="맑은 고딕"/>
                <a:ea typeface="맑은 고딕"/>
              </a:rPr>
              <a:t>복습 장치</a:t>
            </a:r>
            <a:r>
              <a:rPr sz="1400" b="0">
                <a:solidFill>
                  <a:srgbClr val="3A4D48"/>
                </a:solidFill>
                <a:latin typeface="맑은 고딕"/>
                <a:ea typeface="맑은 고딕"/>
              </a:rPr>
              <a:t> — 워크북, 문장 해석 연습지, 추가 문제</a:t>
            </a:r>
          </a:p>
        </p:txBody>
      </p:sp>
    </p:spTree>
    <p:extLst>
      <p:ext uri="{BB962C8B-B14F-4D97-AF65-F5344CB8AC3E}">
        <p14:creationId xmlns:p14="http://schemas.microsoft.com/office/powerpoint/2010/main" val="22499743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565150"/>
            <a:ext cx="16256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A4F44"/>
                </a:solidFill>
                <a:latin typeface="맑은 고딕"/>
                <a:ea typeface="맑은 고딕"/>
              </a:rPr>
              <a:t>9부 ·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965200"/>
            <a:ext cx="105664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3201D"/>
                </a:solidFill>
                <a:latin typeface="맑은 고딕"/>
                <a:ea typeface="맑은 고딕"/>
              </a:rPr>
              <a:t>1년, 3권으로 중학 문법 한 바퀴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6400800"/>
            <a:ext cx="5080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D77"/>
                </a:solidFill>
                <a:latin typeface="맑은 고딕"/>
                <a:ea typeface="맑은 고딕"/>
              </a:rPr>
              <a:t>금호 메타 영어학원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9200" y="64008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D77"/>
                </a:solidFill>
                <a:latin typeface="맑은 고딕"/>
                <a:ea typeface="맑은 고딕"/>
              </a:rPr>
              <a:t>52 / 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1905000"/>
            <a:ext cx="105664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4D48"/>
                </a:solidFill>
                <a:latin typeface="맑은 고딕"/>
                <a:ea typeface="맑은 고딕"/>
              </a:rPr>
              <a:t>[2027]년 1월 ~ 12월 · 한 권이 끝날 때마다 총괄평가 2회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12800" y="2349500"/>
          <a:ext cx="105664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9042400"/>
              </a:tblGrid>
              <a:tr h="698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교재</a:t>
                      </a:r>
                    </a:p>
                  </a:txBody>
                  <a:tcPr anchor="ctr" marL="127000" marR="127000" marT="76200" marB="76200"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다루는 문법</a:t>
                      </a:r>
                    </a:p>
                  </a:txBody>
                  <a:tcPr anchor="ctr" marL="127000" marR="127000" marT="76200" marB="76200">
                    <a:solidFill>
                      <a:srgbClr val="0D6A5B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A4F44"/>
                          </a:solidFill>
                          <a:latin typeface="맑은 고딕"/>
                        </a:rPr>
                        <a:t>1권 · 중1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4D48"/>
                          </a:solidFill>
                          <a:latin typeface="맑은 고딕"/>
                        </a:rPr>
                        <a:t>[1~7장], 형용사와 부사, 비교, to부정사, 동명사, 문장의 종류, 문장의 형식, 접속사, 전치사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A4F44"/>
                          </a:solidFill>
                          <a:latin typeface="맑은 고딕"/>
                        </a:rPr>
                        <a:t>2권 · 중2</a:t>
                      </a:r>
                    </a:p>
                  </a:txBody>
                  <a:tcPr anchor="ctr" marL="127000" marR="127000" marT="76200" marB="76200"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4D48"/>
                          </a:solidFill>
                          <a:latin typeface="맑은 고딕"/>
                        </a:rPr>
                        <a:t>8품사·문장의 성분·구와 절, 문장의 형식, 시제, 조동사, to부정사, 동명사, 분사, 대명사, 형용사와 부사, 비교 구문, 수동태, 접속사, 관계사, 가정법</a:t>
                      </a:r>
                    </a:p>
                  </a:txBody>
                  <a:tcPr anchor="ctr" marL="127000" marR="127000" marT="76200" marB="76200">
                    <a:solidFill>
                      <a:srgbClr val="F3F8F6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A4F44"/>
                          </a:solidFill>
                          <a:latin typeface="맑은 고딕"/>
                        </a:rPr>
                        <a:t>3권 · 중3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4D48"/>
                          </a:solidFill>
                          <a:latin typeface="맑은 고딕"/>
                        </a:rPr>
                        <a:t>문장의 성분·구와 절·문장의 형식, 시제, 조동사, 수동태, to부정사, 동명사, 분사, 비교 구문, 접속사, 관계사, 가정법, 일치와 화법, 특수 구문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12800" y="5372100"/>
            <a:ext cx="10566400" cy="660400"/>
          </a:xfrm>
          <a:prstGeom prst="rect">
            <a:avLst/>
          </a:prstGeom>
          <a:solidFill>
            <a:srgbClr val="F3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2800" y="5372100"/>
            <a:ext cx="38100" cy="6604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4100" y="5372100"/>
            <a:ext cx="101600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A4F44"/>
                </a:solidFill>
                <a:latin typeface="맑은 고딕"/>
                <a:ea typeface="맑은 고딕"/>
              </a:rPr>
              <a:t>같은 문법이 학년마다 다시 나옵니다. 세 번 반복하면서 한 단계씩 깊어집니다.</a:t>
            </a:r>
          </a:p>
        </p:txBody>
      </p:sp>
    </p:spTree>
    <p:extLst>
      <p:ext uri="{BB962C8B-B14F-4D97-AF65-F5344CB8AC3E}">
        <p14:creationId xmlns:p14="http://schemas.microsoft.com/office/powerpoint/2010/main" val="26518509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0D241F1-D2C1-4A4D-BC12-A4A52DDD632E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66867A-FEF7-4086-BEB4-A3A6057D01AC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5B7611-5A9D-473D-B9BA-C54183433644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독해 교재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THE CLIP</a:t>
            </a:r>
            <a:endParaRPr lang="ko-KR" altLang="en-US" sz="270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845599-7D09-4EAB-896E-09738937B201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77A8A4-BB37-4180-8695-5E8DDFEEE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964" y="1879600"/>
            <a:ext cx="5640072" cy="381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62B20E-7BC9-4AF4-AFF4-CC35D9CF7A93}"/>
              </a:ext>
            </a:extLst>
          </p:cNvPr>
          <p:cNvSpPr txBox="1"/>
          <p:nvPr/>
        </p:nvSpPr>
        <p:spPr>
          <a:xfrm>
            <a:off x="812800" y="58166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고등 전문 교재</a:t>
            </a:r>
            <a:r>
              <a:rPr lang="en-US" altLang="ko-KR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중고등 교육과정 학습 내용을 모티브로 구성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74098E-5124-40F7-A0A0-0B40E57CC2F8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3226F5-EA9F-4875-BFF4-5D976260516D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54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63648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D7E65B1-E402-49F7-91EA-92B5D19A0430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5D8E45-5E39-410F-9420-724FE2E3A753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F39CEB-4BAA-4F5B-BBD1-C4CE84E4CCD0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 CLIP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다른 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D30401-16D6-400E-99D0-C220EDA1D850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8293C2-21F7-4F9B-803E-51EA98EAD97F}"/>
              </a:ext>
            </a:extLst>
          </p:cNvPr>
          <p:cNvSpPr/>
          <p:nvPr/>
        </p:nvSpPr>
        <p:spPr>
          <a:xfrm>
            <a:off x="812800" y="1905000"/>
            <a:ext cx="5181600" cy="9906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BE9DB-52A9-41FE-B3B9-6AF3D2DBA20F}"/>
              </a:ext>
            </a:extLst>
          </p:cNvPr>
          <p:cNvSpPr txBox="1"/>
          <p:nvPr/>
        </p:nvSpPr>
        <p:spPr>
          <a:xfrm>
            <a:off x="1066800" y="20574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교과 내용 중심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3F79CB-38E7-4A2C-81EE-09858982467D}"/>
              </a:ext>
            </a:extLst>
          </p:cNvPr>
          <p:cNvSpPr txBox="1"/>
          <p:nvPr/>
        </p:nvSpPr>
        <p:spPr>
          <a:xfrm>
            <a:off x="1066800" y="23876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고등 교육과정 학습 내용을 모티브로 구성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154036-3FE1-438D-9A46-AB6CE05B89FC}"/>
              </a:ext>
            </a:extLst>
          </p:cNvPr>
          <p:cNvSpPr/>
          <p:nvPr/>
        </p:nvSpPr>
        <p:spPr>
          <a:xfrm>
            <a:off x="6197600" y="1905000"/>
            <a:ext cx="5181600" cy="9906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87A74D-62AB-4466-BA0B-84CDB7985909}"/>
              </a:ext>
            </a:extLst>
          </p:cNvPr>
          <p:cNvSpPr txBox="1"/>
          <p:nvPr/>
        </p:nvSpPr>
        <p:spPr>
          <a:xfrm>
            <a:off x="6451600" y="20574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주제별 확장성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EC2D55-3D7B-476D-AA3A-DBAFF15B5E1B}"/>
              </a:ext>
            </a:extLst>
          </p:cNvPr>
          <p:cNvSpPr txBox="1"/>
          <p:nvPr/>
        </p:nvSpPr>
        <p:spPr>
          <a:xfrm>
            <a:off x="6451600" y="23876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토픽이 일상생활과 연관되어 다양하게 확장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F5D73B-A0F2-486C-840B-8F46E18F7537}"/>
              </a:ext>
            </a:extLst>
          </p:cNvPr>
          <p:cNvSpPr/>
          <p:nvPr/>
        </p:nvSpPr>
        <p:spPr>
          <a:xfrm>
            <a:off x="812800" y="3048000"/>
            <a:ext cx="5181600" cy="9906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9A9907-BF66-40D3-8407-5C6A9F337A49}"/>
              </a:ext>
            </a:extLst>
          </p:cNvPr>
          <p:cNvSpPr txBox="1"/>
          <p:nvPr/>
        </p:nvSpPr>
        <p:spPr>
          <a:xfrm>
            <a:off x="1066800" y="32004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주제 간 연계성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B16C4D-2EF5-4CA1-8BB4-0B4B92569B18}"/>
              </a:ext>
            </a:extLst>
          </p:cNvPr>
          <p:cNvSpPr txBox="1"/>
          <p:nvPr/>
        </p:nvSpPr>
        <p:spPr>
          <a:xfrm>
            <a:off x="1066800" y="35306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연관된 토픽으로 융합적 사고력을 기름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372D5BA-33F5-473A-AE48-71354F98C5BE}"/>
              </a:ext>
            </a:extLst>
          </p:cNvPr>
          <p:cNvSpPr/>
          <p:nvPr/>
        </p:nvSpPr>
        <p:spPr>
          <a:xfrm>
            <a:off x="6197600" y="3048000"/>
            <a:ext cx="5181600" cy="9906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47B9BA-67EA-4861-AA2C-3B7F61082465}"/>
              </a:ext>
            </a:extLst>
          </p:cNvPr>
          <p:cNvSpPr txBox="1"/>
          <p:nvPr/>
        </p:nvSpPr>
        <p:spPr>
          <a:xfrm>
            <a:off x="6451600" y="32004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심화학습 가능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D38D1A-B582-4860-B393-42E9A2C382F6}"/>
              </a:ext>
            </a:extLst>
          </p:cNvPr>
          <p:cNvSpPr txBox="1"/>
          <p:nvPr/>
        </p:nvSpPr>
        <p:spPr>
          <a:xfrm>
            <a:off x="6451600" y="35306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내용을 통해 지적 욕구와 흥미를 채움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1F047C-2112-4BB1-99BD-F5CFA2C8652B}"/>
              </a:ext>
            </a:extLst>
          </p:cNvPr>
          <p:cNvSpPr/>
          <p:nvPr/>
        </p:nvSpPr>
        <p:spPr>
          <a:xfrm>
            <a:off x="812800" y="4191000"/>
            <a:ext cx="5181600" cy="9906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1765ED-CD5F-49C0-B658-7CC5FE01F0A0}"/>
              </a:ext>
            </a:extLst>
          </p:cNvPr>
          <p:cNvSpPr txBox="1"/>
          <p:nvPr/>
        </p:nvSpPr>
        <p:spPr>
          <a:xfrm>
            <a:off x="1066800" y="43434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시험능력 향상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96A8FC-1665-4B1C-9427-259B9828B9C4}"/>
              </a:ext>
            </a:extLst>
          </p:cNvPr>
          <p:cNvSpPr txBox="1"/>
          <p:nvPr/>
        </p:nvSpPr>
        <p:spPr>
          <a:xfrm>
            <a:off x="1066800" y="46736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영역별</a:t>
            </a:r>
            <a:r>
              <a:rPr lang="en-US" altLang="ko-KR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유형별로 유형화된 문제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188E128-EC07-42AA-85BC-DA5FD5BE8C1D}"/>
              </a:ext>
            </a:extLst>
          </p:cNvPr>
          <p:cNvSpPr/>
          <p:nvPr/>
        </p:nvSpPr>
        <p:spPr>
          <a:xfrm>
            <a:off x="6197600" y="4191000"/>
            <a:ext cx="5181600" cy="9906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4716D5-6A21-44B1-A550-D86A0A44135B}"/>
              </a:ext>
            </a:extLst>
          </p:cNvPr>
          <p:cNvSpPr txBox="1"/>
          <p:nvPr/>
        </p:nvSpPr>
        <p:spPr>
          <a:xfrm>
            <a:off x="6451600" y="43434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Speaking / Writing 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확장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F2CBBD-83F6-42DB-BC0A-B2E2D4EEA537}"/>
              </a:ext>
            </a:extLst>
          </p:cNvPr>
          <p:cNvSpPr txBox="1"/>
          <p:nvPr/>
        </p:nvSpPr>
        <p:spPr>
          <a:xfrm>
            <a:off x="6451600" y="46736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읽은 것을 말하고 쓰는 데까지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68CFF0-71F6-4C3C-9348-DD348D83C432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0DE5BC-3C63-48D2-B75A-507A888501FB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55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40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551B074-589C-448D-9D4C-C47AEEA36D86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786A48-3D39-4A73-BD3F-9A862AFE76CB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F27BF2-A0FB-4448-89A8-5328DB3E79E8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INPUT → INTAKE → OUTPUT</a:t>
            </a:r>
            <a:endParaRPr lang="ko-KR" altLang="en-US" sz="270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79920D-5911-4321-807E-0FD45AC5E470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82FBB3-7D76-43FC-8713-35D585622825}"/>
              </a:ext>
            </a:extLst>
          </p:cNvPr>
          <p:cNvSpPr/>
          <p:nvPr/>
        </p:nvSpPr>
        <p:spPr>
          <a:xfrm>
            <a:off x="812800" y="2006600"/>
            <a:ext cx="3352800" cy="21590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F5E608-3C22-44B2-A16D-31F842CFA9F1}"/>
              </a:ext>
            </a:extLst>
          </p:cNvPr>
          <p:cNvSpPr txBox="1"/>
          <p:nvPr/>
        </p:nvSpPr>
        <p:spPr>
          <a:xfrm>
            <a:off x="1066800" y="2286000"/>
            <a:ext cx="2844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INPUT</a:t>
            </a:r>
            <a:endParaRPr lang="ko-KR" altLang="en-US" sz="220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53DF4D-2237-466D-A9EE-033F175FE52D}"/>
              </a:ext>
            </a:extLst>
          </p:cNvPr>
          <p:cNvSpPr txBox="1"/>
          <p:nvPr/>
        </p:nvSpPr>
        <p:spPr>
          <a:xfrm>
            <a:off x="1066800" y="2717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30%</a:t>
            </a:r>
            <a:endParaRPr lang="ko-KR" altLang="en-US" sz="2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8ADA02-A39B-4B41-B6D3-DAF35CB39709}"/>
              </a:ext>
            </a:extLst>
          </p:cNvPr>
          <p:cNvSpPr txBox="1"/>
          <p:nvPr/>
        </p:nvSpPr>
        <p:spPr>
          <a:xfrm>
            <a:off x="1066800" y="3225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Reading, Listening
Grammar, Vocabulary</a:t>
            </a:r>
            <a:endParaRPr lang="ko-KR" altLang="en-US" sz="125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177AA1-5A85-4F15-AAA4-E1FD02A6B063}"/>
              </a:ext>
            </a:extLst>
          </p:cNvPr>
          <p:cNvSpPr/>
          <p:nvPr/>
        </p:nvSpPr>
        <p:spPr>
          <a:xfrm>
            <a:off x="4419600" y="2006600"/>
            <a:ext cx="3352800" cy="2159000"/>
          </a:xfrm>
          <a:prstGeom prst="rect">
            <a:avLst/>
          </a:prstGeom>
          <a:solidFill>
            <a:srgbClr val="F6EB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1B6B44-CF6B-4751-B7B6-ADCECDE699C5}"/>
              </a:ext>
            </a:extLst>
          </p:cNvPr>
          <p:cNvSpPr txBox="1"/>
          <p:nvPr/>
        </p:nvSpPr>
        <p:spPr>
          <a:xfrm>
            <a:off x="4673600" y="2286000"/>
            <a:ext cx="2844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INTAKE</a:t>
            </a:r>
            <a:endParaRPr lang="ko-KR" altLang="en-US" sz="220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30BFC-B2E8-4E04-AB9F-E11574BBC6A5}"/>
              </a:ext>
            </a:extLst>
          </p:cNvPr>
          <p:cNvSpPr txBox="1"/>
          <p:nvPr/>
        </p:nvSpPr>
        <p:spPr>
          <a:xfrm>
            <a:off x="4673600" y="2717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50%</a:t>
            </a:r>
            <a:endParaRPr lang="ko-KR" altLang="en-US" sz="2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DC583E-4603-42FF-9AD0-B16A9CEAE137}"/>
              </a:ext>
            </a:extLst>
          </p:cNvPr>
          <p:cNvSpPr txBox="1"/>
          <p:nvPr/>
        </p:nvSpPr>
        <p:spPr>
          <a:xfrm>
            <a:off x="4673600" y="3225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Skimming, Scanning
Note-taking, Test Skill</a:t>
            </a:r>
            <a:endParaRPr lang="ko-KR" altLang="en-US" sz="125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FC2820-9A87-40B8-90DE-8CA002F3A601}"/>
              </a:ext>
            </a:extLst>
          </p:cNvPr>
          <p:cNvSpPr/>
          <p:nvPr/>
        </p:nvSpPr>
        <p:spPr>
          <a:xfrm>
            <a:off x="8026400" y="2006600"/>
            <a:ext cx="3352800" cy="21590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585477-45BA-4290-BC28-FF6D35CBE1D6}"/>
              </a:ext>
            </a:extLst>
          </p:cNvPr>
          <p:cNvSpPr txBox="1"/>
          <p:nvPr/>
        </p:nvSpPr>
        <p:spPr>
          <a:xfrm>
            <a:off x="8280400" y="2286000"/>
            <a:ext cx="2844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OUTPUT</a:t>
            </a:r>
            <a:endParaRPr lang="ko-KR" altLang="en-US" sz="220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58AA4E-3BD5-4CD4-93B4-10E4E37D0885}"/>
              </a:ext>
            </a:extLst>
          </p:cNvPr>
          <p:cNvSpPr txBox="1"/>
          <p:nvPr/>
        </p:nvSpPr>
        <p:spPr>
          <a:xfrm>
            <a:off x="8280400" y="2717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6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20%</a:t>
            </a:r>
            <a:endParaRPr lang="ko-KR" altLang="en-US" sz="26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8761F3-0683-4314-A65B-24F09FE97988}"/>
              </a:ext>
            </a:extLst>
          </p:cNvPr>
          <p:cNvSpPr txBox="1"/>
          <p:nvPr/>
        </p:nvSpPr>
        <p:spPr>
          <a:xfrm>
            <a:off x="8280400" y="3225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2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Writing, Speaking
Sentence &amp; Paragraph Building</a:t>
            </a:r>
            <a:endParaRPr lang="ko-KR" altLang="en-US" sz="1250">
              <a:solidFill>
                <a:srgbClr val="3A4D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3B90981-7E04-49CE-BFD4-C1A3CCC846A5}"/>
              </a:ext>
            </a:extLst>
          </p:cNvPr>
          <p:cNvSpPr/>
          <p:nvPr/>
        </p:nvSpPr>
        <p:spPr>
          <a:xfrm>
            <a:off x="812800" y="4572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8254F0F-4377-4AA7-A21B-9AF6AFB7E0BC}"/>
              </a:ext>
            </a:extLst>
          </p:cNvPr>
          <p:cNvSpPr/>
          <p:nvPr/>
        </p:nvSpPr>
        <p:spPr>
          <a:xfrm>
            <a:off x="812800" y="4572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919D90-FCE9-443E-923C-698308C07CC3}"/>
              </a:ext>
            </a:extLst>
          </p:cNvPr>
          <p:cNvSpPr txBox="1"/>
          <p:nvPr/>
        </p:nvSpPr>
        <p:spPr>
          <a:xfrm>
            <a:off x="1143000" y="4699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읽은 것을 자기 말로 다시 쓰게 하는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20%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서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논술형을 대비하는 구간입니다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5EDD20-A08C-4DCD-9D51-DD53D0FA4013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34EC34-9489-40BA-933B-A61657FDBD07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56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76082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03FAE3B-03AB-48B4-84A8-30865D504B60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01E720-46EF-41A0-88CB-8727D1D90C3A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7D196A-8E90-4773-BBE9-4F1C587D9B3C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레벨 체계와 학습 기간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06F6EA-BA3B-4D31-931D-F2A3DD79AC11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BCBC00B-B94D-4C66-B1A6-06680D442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368158"/>
              </p:ext>
            </p:extLst>
          </p:nvPr>
        </p:nvGraphicFramePr>
        <p:xfrm>
          <a:off x="812800" y="2006600"/>
          <a:ext cx="10566400" cy="355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3455049864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101889047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186525209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84066913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83996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Stage 1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Phonics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유치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 저학년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2093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Stage 2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Word to Sentence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파닉스를 끝내고 리딩을 시작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23664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Stage 3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Sentence Building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영어문장 기본 구성 원리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레벨별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93054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Stage 4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Sentence Combining / Paragraph Building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TOEFL 60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이하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레벨별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2159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Stage 5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Paragraph Building / Combining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TOEFL 60~70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레벨별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27904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Stage 6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Prep (TOEFL Reading)</a:t>
                      </a:r>
                      <a:endParaRPr lang="ko-KR" altLang="en-US" sz="12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TOEFL 70~99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레벨별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r>
                        <a:rPr lang="en-US" altLang="ko-KR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r>
                        <a:rPr lang="ko-KR" altLang="en-US" sz="12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4195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182CD20C-C0A0-4BFB-A9DB-BCBD6C3B986C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B0269BE-761E-40B6-B3F2-A8828438A3F6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64454-32EC-481D-8062-C7C6FAC0DF23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학년이 아니라 실력으로 배치합니다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Stage 5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있기도 하고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Stage 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시작하기도 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37ECF8-0385-4B66-9E31-E6E83A71B3F0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B69F18-4EA0-475A-8815-50536224877E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57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95746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489C50-3538-408B-B00E-7B2266DDDB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C10D8F-C4DE-42E1-94AA-B4E2A9E2689B}"/>
              </a:ext>
            </a:extLst>
          </p:cNvPr>
          <p:cNvSpPr txBox="1"/>
          <p:nvPr/>
        </p:nvSpPr>
        <p:spPr>
          <a:xfrm>
            <a:off x="1219200" y="22352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BC31FF-A8AA-4C66-92AB-503216200FDB}"/>
              </a:ext>
            </a:extLst>
          </p:cNvPr>
          <p:cNvSpPr txBox="1"/>
          <p:nvPr/>
        </p:nvSpPr>
        <p:spPr>
          <a:xfrm>
            <a:off x="1219200" y="269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Class Card</a:t>
            </a:r>
            <a:endParaRPr lang="ko-KR" altLang="en-US" sz="38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82C138-4842-470A-9EFE-18DD19E0F134}"/>
              </a:ext>
            </a:extLst>
          </p:cNvPr>
          <p:cNvSpPr/>
          <p:nvPr/>
        </p:nvSpPr>
        <p:spPr>
          <a:xfrm>
            <a:off x="1219200" y="3683000"/>
            <a:ext cx="812800" cy="50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D35736-18A1-46F2-B5BE-4EEF21D53B5F}"/>
              </a:ext>
            </a:extLst>
          </p:cNvPr>
          <p:cNvSpPr txBox="1"/>
          <p:nvPr/>
        </p:nvSpPr>
        <p:spPr>
          <a:xfrm>
            <a:off x="1219200" y="396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단어와 듣기를 매일 쌓는 도구</a:t>
            </a:r>
          </a:p>
        </p:txBody>
      </p:sp>
    </p:spTree>
    <p:extLst>
      <p:ext uri="{BB962C8B-B14F-4D97-AF65-F5344CB8AC3E}">
        <p14:creationId xmlns:p14="http://schemas.microsoft.com/office/powerpoint/2010/main" val="24975076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439A324-428B-472A-80B1-EF610D7D0F81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59FDC-0397-48E8-93CE-6A781D0C0A7D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DE447F-FBE1-4605-9D64-046A848ED320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듣기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10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년치 기출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5,277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426591B-D57E-4E86-A5A6-0777ADC77C8F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B7F93D8-0EF9-4625-BDBB-CF518D08C9FE}"/>
              </a:ext>
            </a:extLst>
          </p:cNvPr>
          <p:cNvSpPr/>
          <p:nvPr/>
        </p:nvSpPr>
        <p:spPr>
          <a:xfrm>
            <a:off x="812800" y="2006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4B4234-677D-4AC1-8155-B046D33A1F38}"/>
              </a:ext>
            </a:extLst>
          </p:cNvPr>
          <p:cNvSpPr txBox="1"/>
          <p:nvPr/>
        </p:nvSpPr>
        <p:spPr>
          <a:xfrm>
            <a:off x="812800" y="2057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04BF2B-7E78-4E8B-B009-D45FC245A2AA}"/>
              </a:ext>
            </a:extLst>
          </p:cNvPr>
          <p:cNvSpPr txBox="1"/>
          <p:nvPr/>
        </p:nvSpPr>
        <p:spPr>
          <a:xfrm>
            <a:off x="1295400" y="2019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Listening Test</a:t>
            </a:r>
            <a:endParaRPr lang="ko-KR" altLang="en-US" sz="165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47C50B-7ADE-41EF-B194-270437339BFA}"/>
              </a:ext>
            </a:extLst>
          </p:cNvPr>
          <p:cNvSpPr txBox="1"/>
          <p:nvPr/>
        </p:nvSpPr>
        <p:spPr>
          <a:xfrm>
            <a:off x="1295400" y="2324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리스닝 문제 풀기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2F1FAB5-8BD8-4F59-ACF4-AE36FDDE3CC5}"/>
              </a:ext>
            </a:extLst>
          </p:cNvPr>
          <p:cNvSpPr/>
          <p:nvPr/>
        </p:nvSpPr>
        <p:spPr>
          <a:xfrm>
            <a:off x="812800" y="29464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1B9E1C-DDC9-4811-B978-4DE76C83DE67}"/>
              </a:ext>
            </a:extLst>
          </p:cNvPr>
          <p:cNvSpPr txBox="1"/>
          <p:nvPr/>
        </p:nvSpPr>
        <p:spPr>
          <a:xfrm>
            <a:off x="812800" y="29972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8BEC14-DA12-4B5D-AAF6-52DB1842662E}"/>
              </a:ext>
            </a:extLst>
          </p:cNvPr>
          <p:cNvSpPr txBox="1"/>
          <p:nvPr/>
        </p:nvSpPr>
        <p:spPr>
          <a:xfrm>
            <a:off x="1295400" y="2959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Dictation</a:t>
            </a:r>
            <a:endParaRPr lang="ko-KR" altLang="en-US" sz="165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519267-13A6-40A8-8DBB-9E5726BCFD2D}"/>
              </a:ext>
            </a:extLst>
          </p:cNvPr>
          <p:cNvSpPr txBox="1"/>
          <p:nvPr/>
        </p:nvSpPr>
        <p:spPr>
          <a:xfrm>
            <a:off x="1295400" y="32639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영문 보고 듣기 → 해석 보고 듣기 → 듣고 쓰기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0307C2-E352-4757-9ED9-8AF2B16CD352}"/>
              </a:ext>
            </a:extLst>
          </p:cNvPr>
          <p:cNvSpPr/>
          <p:nvPr/>
        </p:nvSpPr>
        <p:spPr>
          <a:xfrm>
            <a:off x="812800" y="38862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15B2D7-F430-4694-BB6B-22CDBA6F1B2B}"/>
              </a:ext>
            </a:extLst>
          </p:cNvPr>
          <p:cNvSpPr txBox="1"/>
          <p:nvPr/>
        </p:nvSpPr>
        <p:spPr>
          <a:xfrm>
            <a:off x="812800" y="39370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1F5739-4896-4B6C-94D5-55F400F50D22}"/>
              </a:ext>
            </a:extLst>
          </p:cNvPr>
          <p:cNvSpPr txBox="1"/>
          <p:nvPr/>
        </p:nvSpPr>
        <p:spPr>
          <a:xfrm>
            <a:off x="1295400" y="38989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 듣기와 오답 학습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BFCAE9-BC25-4491-A286-B8A0459B1A12}"/>
              </a:ext>
            </a:extLst>
          </p:cNvPr>
          <p:cNvSpPr txBox="1"/>
          <p:nvPr/>
        </p:nvSpPr>
        <p:spPr>
          <a:xfrm>
            <a:off x="1295400" y="42037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 암기 후 다시 풀기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3EC315C-518E-4BED-A311-185412889FE6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F897D87-09A8-44CD-9163-3D5B7A0A68B9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914523-A5EA-417F-A946-3511C3E8555E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듣기는 반복과 노출의 결과물입니다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외고 합격생들의 듣기 학습 방법과 같은 구조입니다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8A5AA4-CC45-4398-BA8C-BE9244B7913B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2CD4B6-E497-4286-9135-0009B2E1B106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59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68659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E408F22-A690-4F69-A06D-9BD0B0B558D3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928BF4-2072-46F8-AE59-FB3245894866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4F1610-1CCC-4568-AB83-685770D335DB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틀린 문제는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받아쓰기로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2CD07A-6D1C-4DB1-822A-5E1F4DA51C79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65B12A3-DAFF-4DC9-B75E-86BA59C09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2709545"/>
            <a:ext cx="3302000" cy="6769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26526C6-30BB-4B52-BC17-3646656D1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400" y="2484596"/>
            <a:ext cx="3302000" cy="112680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5B4832E-093B-415B-A8DB-E22BDABCC7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2631123"/>
            <a:ext cx="3302000" cy="8337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8E1340-AD67-4AF9-ACCD-98DE14EA5E45}"/>
              </a:ext>
            </a:extLst>
          </p:cNvPr>
          <p:cNvSpPr txBox="1"/>
          <p:nvPr/>
        </p:nvSpPr>
        <p:spPr>
          <a:xfrm>
            <a:off x="812800" y="43180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3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1  </a:t>
            </a:r>
            <a:r>
              <a:rPr lang="ko-KR" altLang="en-US" sz="13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문장 받아쓰기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00DE24-9641-48BB-AEAC-956A40A0DC74}"/>
              </a:ext>
            </a:extLst>
          </p:cNvPr>
          <p:cNvSpPr txBox="1"/>
          <p:nvPr/>
        </p:nvSpPr>
        <p:spPr>
          <a:xfrm>
            <a:off x="4470400" y="43180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3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2  </a:t>
            </a:r>
            <a:r>
              <a:rPr lang="ko-KR" altLang="en-US" sz="13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첫 철자만 제시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D17099-A263-4C19-ADB7-E1DA8E0566D6}"/>
              </a:ext>
            </a:extLst>
          </p:cNvPr>
          <p:cNvSpPr txBox="1"/>
          <p:nvPr/>
        </p:nvSpPr>
        <p:spPr>
          <a:xfrm>
            <a:off x="8128000" y="43180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3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3  </a:t>
            </a:r>
            <a:r>
              <a:rPr lang="ko-KR" altLang="en-US" sz="13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단어 제시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63F374-25F8-4E2C-A6A7-CB1A044DFE57}"/>
              </a:ext>
            </a:extLst>
          </p:cNvPr>
          <p:cNvSpPr/>
          <p:nvPr/>
        </p:nvSpPr>
        <p:spPr>
          <a:xfrm>
            <a:off x="812800" y="4826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6ADDB5-A2E2-48B2-BA3C-980D1A36126F}"/>
              </a:ext>
            </a:extLst>
          </p:cNvPr>
          <p:cNvSpPr/>
          <p:nvPr/>
        </p:nvSpPr>
        <p:spPr>
          <a:xfrm>
            <a:off x="812800" y="4826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773533-C85C-48DD-81C2-A98CB1A0496A}"/>
              </a:ext>
            </a:extLst>
          </p:cNvPr>
          <p:cNvSpPr txBox="1"/>
          <p:nvPr/>
        </p:nvSpPr>
        <p:spPr>
          <a:xfrm>
            <a:off x="1143000" y="4953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정답을 주지 않습니다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스스로 채울 때까지 단계를 낮춰 갑니다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7D1E5B-2A3E-4BD0-845F-7C1F94EE55FB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281E7A-0EEB-4C87-BE58-9653F3E646F0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60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88819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C64712E-C0F2-4519-A163-6C7A0CCA7BA9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C58CC7-E61E-416F-A920-1E1E4A104957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805D8-44AA-4FAC-9190-6AA71E281B84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단위로 이만큼 올라갑니다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37ECED-159E-45E7-9F21-DA50C8E8F36A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69978A-9983-4FE4-85B2-553FFD130EAE}"/>
              </a:ext>
            </a:extLst>
          </p:cNvPr>
          <p:cNvSpPr/>
          <p:nvPr/>
        </p:nvSpPr>
        <p:spPr>
          <a:xfrm>
            <a:off x="812800" y="2006600"/>
            <a:ext cx="1905000" cy="711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49ECE-D786-4CCF-BB14-358BA2922346}"/>
              </a:ext>
            </a:extLst>
          </p:cNvPr>
          <p:cNvSpPr txBox="1"/>
          <p:nvPr/>
        </p:nvSpPr>
        <p:spPr>
          <a:xfrm>
            <a:off x="812800" y="22225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년차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466ECB-52AC-4C44-A887-3EAC03FEA59D}"/>
              </a:ext>
            </a:extLst>
          </p:cNvPr>
          <p:cNvSpPr/>
          <p:nvPr/>
        </p:nvSpPr>
        <p:spPr>
          <a:xfrm>
            <a:off x="2870200" y="2006600"/>
            <a:ext cx="8509000" cy="7112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7F0E20-4583-4AE3-B75C-34568B21F2CC}"/>
              </a:ext>
            </a:extLst>
          </p:cNvPr>
          <p:cNvSpPr txBox="1"/>
          <p:nvPr/>
        </p:nvSpPr>
        <p:spPr>
          <a:xfrm>
            <a:off x="3175000" y="2222500"/>
            <a:ext cx="787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어휘 및 문장 반복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814B5EB-1C6D-42BF-89BD-0BDD7A7E6857}"/>
              </a:ext>
            </a:extLst>
          </p:cNvPr>
          <p:cNvSpPr/>
          <p:nvPr/>
        </p:nvSpPr>
        <p:spPr>
          <a:xfrm>
            <a:off x="812800" y="2870200"/>
            <a:ext cx="1905000" cy="711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495E31-9C8B-46AA-A2C7-C9EB762DB93F}"/>
              </a:ext>
            </a:extLst>
          </p:cNvPr>
          <p:cNvSpPr txBox="1"/>
          <p:nvPr/>
        </p:nvSpPr>
        <p:spPr>
          <a:xfrm>
            <a:off x="812800" y="30861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년차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A3F8AAC-F066-4899-AC74-7067E44ADA70}"/>
              </a:ext>
            </a:extLst>
          </p:cNvPr>
          <p:cNvSpPr/>
          <p:nvPr/>
        </p:nvSpPr>
        <p:spPr>
          <a:xfrm>
            <a:off x="2870200" y="2870200"/>
            <a:ext cx="8509000" cy="7112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1C53CA-EE10-447A-9CD0-1B2A868354C7}"/>
              </a:ext>
            </a:extLst>
          </p:cNvPr>
          <p:cNvSpPr txBox="1"/>
          <p:nvPr/>
        </p:nvSpPr>
        <p:spPr>
          <a:xfrm>
            <a:off x="3175000" y="3086100"/>
            <a:ext cx="787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1~3 </a:t>
            </a:r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교육청 듣기평가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1FE5AA3-187C-403F-9C41-F6FCBDF30D28}"/>
              </a:ext>
            </a:extLst>
          </p:cNvPr>
          <p:cNvSpPr/>
          <p:nvPr/>
        </p:nvSpPr>
        <p:spPr>
          <a:xfrm>
            <a:off x="812800" y="3733800"/>
            <a:ext cx="1905000" cy="711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778F20-D5F9-4E70-8017-8C78A61E7A33}"/>
              </a:ext>
            </a:extLst>
          </p:cNvPr>
          <p:cNvSpPr txBox="1"/>
          <p:nvPr/>
        </p:nvSpPr>
        <p:spPr>
          <a:xfrm>
            <a:off x="812800" y="39497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DC36EA-BB75-45EC-A407-CB612FB8D9A9}"/>
              </a:ext>
            </a:extLst>
          </p:cNvPr>
          <p:cNvSpPr/>
          <p:nvPr/>
        </p:nvSpPr>
        <p:spPr>
          <a:xfrm>
            <a:off x="2870200" y="3733800"/>
            <a:ext cx="8509000" cy="7112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1A16C6-D5A8-477A-ADC1-17E2278C88FD}"/>
              </a:ext>
            </a:extLst>
          </p:cNvPr>
          <p:cNvSpPr txBox="1"/>
          <p:nvPr/>
        </p:nvSpPr>
        <p:spPr>
          <a:xfrm>
            <a:off x="3175000" y="3949700"/>
            <a:ext cx="787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</a:t>
            </a:r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모의고사 </a:t>
            </a:r>
            <a:r>
              <a:rPr lang="en-US" altLang="ko-KR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</a:t>
            </a:r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교육청 듣기평가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C08419E-2AC4-4DFC-B104-851C33648659}"/>
              </a:ext>
            </a:extLst>
          </p:cNvPr>
          <p:cNvSpPr/>
          <p:nvPr/>
        </p:nvSpPr>
        <p:spPr>
          <a:xfrm>
            <a:off x="812800" y="4597400"/>
            <a:ext cx="1905000" cy="711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DDB30B-1EC6-4730-BC50-0D13208A86FE}"/>
              </a:ext>
            </a:extLst>
          </p:cNvPr>
          <p:cNvSpPr txBox="1"/>
          <p:nvPr/>
        </p:nvSpPr>
        <p:spPr>
          <a:xfrm>
            <a:off x="812800" y="48133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90DC150-4562-4B05-97F0-1A6F7FD1B2EA}"/>
              </a:ext>
            </a:extLst>
          </p:cNvPr>
          <p:cNvSpPr/>
          <p:nvPr/>
        </p:nvSpPr>
        <p:spPr>
          <a:xfrm>
            <a:off x="2870200" y="4597400"/>
            <a:ext cx="8509000" cy="7112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2365C2-14F0-4866-B4C4-DDA3F0D3F989}"/>
              </a:ext>
            </a:extLst>
          </p:cNvPr>
          <p:cNvSpPr txBox="1"/>
          <p:nvPr/>
        </p:nvSpPr>
        <p:spPr>
          <a:xfrm>
            <a:off x="3175000" y="4813300"/>
            <a:ext cx="787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모의고사 </a:t>
            </a:r>
            <a:r>
              <a:rPr lang="en-US" altLang="ko-KR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 sz="1500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교육청 듣기평가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32D291A-8056-471E-A887-3F96AD879A92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83D1232-3775-40FF-9D6D-C4D59E17D129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0E16A9-8650-4B52-B3D2-32E2788603B8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시작하면 중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고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듣기를 풉니다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이것이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까지 고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수준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실제 모습입니다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B67B68-9BB0-4521-A89D-478A557E99EF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C97464-F87A-4467-B7B2-B35AAE159BBB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61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72730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CC8076-CDB4-4062-8E42-3288C2FAF812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3852CB-434D-432E-B615-D852D80963B8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84AC72-B237-48DA-A35D-61793F16D84F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듣기의 특성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38AE7C-EF46-4483-BA49-C644C081753B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9B457A-9E04-4B1A-A6A5-DEF6F2495448}"/>
              </a:ext>
            </a:extLst>
          </p:cNvPr>
          <p:cNvSpPr txBox="1"/>
          <p:nvPr/>
        </p:nvSpPr>
        <p:spPr>
          <a:xfrm>
            <a:off x="812800" y="20066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EDE018-F8AA-424F-BB3C-6BEA2C93709D}"/>
              </a:ext>
            </a:extLst>
          </p:cNvPr>
          <p:cNvSpPr txBox="1"/>
          <p:nvPr/>
        </p:nvSpPr>
        <p:spPr>
          <a:xfrm>
            <a:off x="1041400" y="20066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듣기는 대화형과 독해형으로 나뉩니다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913243-CD8D-426B-B202-F757E7697790}"/>
              </a:ext>
            </a:extLst>
          </p:cNvPr>
          <p:cNvSpPr txBox="1"/>
          <p:nvPr/>
        </p:nvSpPr>
        <p:spPr>
          <a:xfrm>
            <a:off x="812800" y="2616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09FFF1-FB60-459E-802E-360A336BDFD4}"/>
              </a:ext>
            </a:extLst>
          </p:cNvPr>
          <p:cNvSpPr txBox="1"/>
          <p:nvPr/>
        </p:nvSpPr>
        <p:spPr>
          <a:xfrm>
            <a:off x="1041400" y="2616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대화형은 두 사람의 대화를 듣고 푸는 문제입니다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AAF56F-C5F9-40B9-BDC7-4C102C4E60B4}"/>
              </a:ext>
            </a:extLst>
          </p:cNvPr>
          <p:cNvSpPr txBox="1"/>
          <p:nvPr/>
        </p:nvSpPr>
        <p:spPr>
          <a:xfrm>
            <a:off x="812800" y="32258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F3A7DE-9C72-49D9-9B6C-994749C6EC50}"/>
              </a:ext>
            </a:extLst>
          </p:cNvPr>
          <p:cNvSpPr txBox="1"/>
          <p:nvPr/>
        </p:nvSpPr>
        <p:spPr>
          <a:xfrm>
            <a:off x="1041400" y="32258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독해형은 한 사람이 읽어 주는 담화를 듣고 푸는 문제이고</a:t>
            </a:r>
            <a:r>
              <a:rPr lang="en-US" altLang="ko-KR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비율이 계속 늘고 있습니다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2F7A01-93B5-407F-9D31-789C0DCCC98B}"/>
              </a:ext>
            </a:extLst>
          </p:cNvPr>
          <p:cNvSpPr txBox="1"/>
          <p:nvPr/>
        </p:nvSpPr>
        <p:spPr>
          <a:xfrm>
            <a:off x="812800" y="3835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5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5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FC3EE4-83B9-42C0-9D0F-8029C06C3C5B}"/>
              </a:ext>
            </a:extLst>
          </p:cNvPr>
          <p:cNvSpPr txBox="1"/>
          <p:nvPr/>
        </p:nvSpPr>
        <p:spPr>
          <a:xfrm>
            <a:off x="1041400" y="3835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5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그래서 독해형 듣기를 많이 훈련해야 합니다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18BBEB-F800-444C-864A-3CDD0880FC10}"/>
              </a:ext>
            </a:extLst>
          </p:cNvPr>
          <p:cNvSpPr/>
          <p:nvPr/>
        </p:nvSpPr>
        <p:spPr>
          <a:xfrm>
            <a:off x="812800" y="4826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5521D1-31B3-4182-A2C7-26AB6C11BE3F}"/>
              </a:ext>
            </a:extLst>
          </p:cNvPr>
          <p:cNvSpPr/>
          <p:nvPr/>
        </p:nvSpPr>
        <p:spPr>
          <a:xfrm>
            <a:off x="812800" y="4826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FBDED6-1794-4983-A1FA-DF56B255AA6F}"/>
              </a:ext>
            </a:extLst>
          </p:cNvPr>
          <p:cNvSpPr txBox="1"/>
          <p:nvPr/>
        </p:nvSpPr>
        <p:spPr>
          <a:xfrm>
            <a:off x="1143000" y="4953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귀로 읽는 훈련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(Ear Reading)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해 두면 눈으로 읽는 것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(Eye Reading)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훨씬 쉬워집니다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A6959D-C802-4008-88A4-26D416BDAE3E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740420-E086-40E2-A05A-DF876345E88F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62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19586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22D7B0F-E0B3-4479-8D07-B4F144CFFE4A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2F0255-84EF-494D-92D7-DD5791B516A2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0E4EE-346E-48DC-B038-9C62EA154124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6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단계로 외웁니다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6BFBCD-D8DF-4C36-AF1E-01316A173E1E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28A53A-7C90-44D0-AA58-2AA25F972B2C}"/>
              </a:ext>
            </a:extLst>
          </p:cNvPr>
          <p:cNvSpPr/>
          <p:nvPr/>
        </p:nvSpPr>
        <p:spPr>
          <a:xfrm>
            <a:off x="812800" y="1930400"/>
            <a:ext cx="3352800" cy="939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C233EA-E858-4548-9203-B459443D2705}"/>
              </a:ext>
            </a:extLst>
          </p:cNvPr>
          <p:cNvSpPr/>
          <p:nvPr/>
        </p:nvSpPr>
        <p:spPr>
          <a:xfrm>
            <a:off x="812800" y="1930400"/>
            <a:ext cx="63500" cy="939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F9EE3A-AF39-4F43-B1C1-8E6994CC2541}"/>
              </a:ext>
            </a:extLst>
          </p:cNvPr>
          <p:cNvSpPr txBox="1"/>
          <p:nvPr/>
        </p:nvSpPr>
        <p:spPr>
          <a:xfrm>
            <a:off x="1117600" y="2108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 암기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3ACA32-AFCD-4B51-8219-ED2988E2BF01}"/>
              </a:ext>
            </a:extLst>
          </p:cNvPr>
          <p:cNvSpPr txBox="1"/>
          <p:nvPr/>
        </p:nvSpPr>
        <p:spPr>
          <a:xfrm>
            <a:off x="1117600" y="24638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14E54B-8B32-4500-B7FE-01B836614E91}"/>
              </a:ext>
            </a:extLst>
          </p:cNvPr>
          <p:cNvSpPr/>
          <p:nvPr/>
        </p:nvSpPr>
        <p:spPr>
          <a:xfrm>
            <a:off x="4419600" y="1930400"/>
            <a:ext cx="3352800" cy="939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CF5E96-04E1-46CC-A198-EB31C951D4C2}"/>
              </a:ext>
            </a:extLst>
          </p:cNvPr>
          <p:cNvSpPr/>
          <p:nvPr/>
        </p:nvSpPr>
        <p:spPr>
          <a:xfrm>
            <a:off x="4419600" y="1930400"/>
            <a:ext cx="63500" cy="939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C4E28-2213-483B-B28D-8C54F3AB3C24}"/>
              </a:ext>
            </a:extLst>
          </p:cNvPr>
          <p:cNvSpPr txBox="1"/>
          <p:nvPr/>
        </p:nvSpPr>
        <p:spPr>
          <a:xfrm>
            <a:off x="4724400" y="2108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 리콜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FF102D-4F1C-4C4B-9569-EDBADE17F0AF}"/>
              </a:ext>
            </a:extLst>
          </p:cNvPr>
          <p:cNvSpPr txBox="1"/>
          <p:nvPr/>
        </p:nvSpPr>
        <p:spPr>
          <a:xfrm>
            <a:off x="4724400" y="24638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4AB1561-E4A9-4337-9E99-54EC76146A9C}"/>
              </a:ext>
            </a:extLst>
          </p:cNvPr>
          <p:cNvSpPr/>
          <p:nvPr/>
        </p:nvSpPr>
        <p:spPr>
          <a:xfrm>
            <a:off x="8026400" y="1930400"/>
            <a:ext cx="3352800" cy="939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13F39A6-137C-4F64-90BA-47DF114DA7A0}"/>
              </a:ext>
            </a:extLst>
          </p:cNvPr>
          <p:cNvSpPr/>
          <p:nvPr/>
        </p:nvSpPr>
        <p:spPr>
          <a:xfrm>
            <a:off x="8026400" y="1930400"/>
            <a:ext cx="63500" cy="939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4104EC-71F0-48B9-81F0-5B34EF8ACDC4}"/>
              </a:ext>
            </a:extLst>
          </p:cNvPr>
          <p:cNvSpPr txBox="1"/>
          <p:nvPr/>
        </p:nvSpPr>
        <p:spPr>
          <a:xfrm>
            <a:off x="8331200" y="2108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스펠 쓰기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D26179-246D-4D9E-B98D-37F7E6CCC0E2}"/>
              </a:ext>
            </a:extLst>
          </p:cNvPr>
          <p:cNvSpPr txBox="1"/>
          <p:nvPr/>
        </p:nvSpPr>
        <p:spPr>
          <a:xfrm>
            <a:off x="8331200" y="24638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0A3456B-47B0-4E72-A82B-A0BAE7E37689}"/>
              </a:ext>
            </a:extLst>
          </p:cNvPr>
          <p:cNvSpPr/>
          <p:nvPr/>
        </p:nvSpPr>
        <p:spPr>
          <a:xfrm>
            <a:off x="812800" y="3022600"/>
            <a:ext cx="3352800" cy="939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81931A9-E814-4041-ACEE-7A9C2A4BB0F0}"/>
              </a:ext>
            </a:extLst>
          </p:cNvPr>
          <p:cNvSpPr/>
          <p:nvPr/>
        </p:nvSpPr>
        <p:spPr>
          <a:xfrm>
            <a:off x="812800" y="3022600"/>
            <a:ext cx="63500" cy="939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378AE9-6D9C-4FC6-8227-0D56B9CA6AB9}"/>
              </a:ext>
            </a:extLst>
          </p:cNvPr>
          <p:cNvSpPr txBox="1"/>
          <p:nvPr/>
        </p:nvSpPr>
        <p:spPr>
          <a:xfrm>
            <a:off x="1117600" y="32004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발음 훈련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66E0B5-4825-4797-849C-C30B6E033975}"/>
              </a:ext>
            </a:extLst>
          </p:cNvPr>
          <p:cNvSpPr txBox="1"/>
          <p:nvPr/>
        </p:nvSpPr>
        <p:spPr>
          <a:xfrm>
            <a:off x="1117600" y="35560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BFEEC48-80B4-4CE3-B5EC-0589D7406601}"/>
              </a:ext>
            </a:extLst>
          </p:cNvPr>
          <p:cNvSpPr/>
          <p:nvPr/>
        </p:nvSpPr>
        <p:spPr>
          <a:xfrm>
            <a:off x="4419600" y="3022600"/>
            <a:ext cx="3352800" cy="939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B043CF4-1200-4BB2-A09D-BD26A2CAC582}"/>
              </a:ext>
            </a:extLst>
          </p:cNvPr>
          <p:cNvSpPr/>
          <p:nvPr/>
        </p:nvSpPr>
        <p:spPr>
          <a:xfrm>
            <a:off x="4419600" y="3022600"/>
            <a:ext cx="63500" cy="939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31156C-2FFE-423F-891B-1323765C0FA9}"/>
              </a:ext>
            </a:extLst>
          </p:cNvPr>
          <p:cNvSpPr txBox="1"/>
          <p:nvPr/>
        </p:nvSpPr>
        <p:spPr>
          <a:xfrm>
            <a:off x="4724400" y="32004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매칭 게임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EB2639-2C82-48CD-9274-2A5D24CD2654}"/>
              </a:ext>
            </a:extLst>
          </p:cNvPr>
          <p:cNvSpPr txBox="1"/>
          <p:nvPr/>
        </p:nvSpPr>
        <p:spPr>
          <a:xfrm>
            <a:off x="4724400" y="35560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ED73D9F-C97C-4EB1-A385-5BE9C795CB16}"/>
              </a:ext>
            </a:extLst>
          </p:cNvPr>
          <p:cNvSpPr/>
          <p:nvPr/>
        </p:nvSpPr>
        <p:spPr>
          <a:xfrm>
            <a:off x="8026400" y="3022600"/>
            <a:ext cx="3352800" cy="939800"/>
          </a:xfrm>
          <a:prstGeom prst="rect">
            <a:avLst/>
          </a:prstGeom>
          <a:solidFill>
            <a:srgbClr val="F5F7F4"/>
          </a:solidFill>
          <a:ln w="12700">
            <a:solidFill>
              <a:srgbClr val="D9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437FC86-4DB7-46D1-BCC0-344F8AF3C0E2}"/>
              </a:ext>
            </a:extLst>
          </p:cNvPr>
          <p:cNvSpPr/>
          <p:nvPr/>
        </p:nvSpPr>
        <p:spPr>
          <a:xfrm>
            <a:off x="8026400" y="3022600"/>
            <a:ext cx="63500" cy="9398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D33543-401D-495E-ABC6-71ECD97A5916}"/>
              </a:ext>
            </a:extLst>
          </p:cNvPr>
          <p:cNvSpPr txBox="1"/>
          <p:nvPr/>
        </p:nvSpPr>
        <p:spPr>
          <a:xfrm>
            <a:off x="8331200" y="32004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5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테스트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956B70-4198-4C5A-B46D-822C5563B2AB}"/>
              </a:ext>
            </a:extLst>
          </p:cNvPr>
          <p:cNvSpPr txBox="1"/>
          <p:nvPr/>
        </p:nvSpPr>
        <p:spPr>
          <a:xfrm>
            <a:off x="8331200" y="35560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6E11698-E382-4453-9C93-3BEB0A500C8C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975BCBB-F789-4A54-B2F1-A0F113F4ED1C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8D8F30-A782-4E40-AB1B-9A7B1CEE8514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오답은 자동 저장되어 틀린 단어 위주로 반복됩니다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학원에서 진행 현황을 실시간으로 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EBF769-C05A-4868-8A4E-177CAAAE05AF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8D29F1-D64E-4AE9-824F-2A1B082BCC0E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63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08142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2FE9332-1896-4B0B-B033-D4B855E666CC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34CDBD-BF53-4486-9332-8D6B24264572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F3C64A-68FF-4528-A0DA-16390FEA41D5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단어장은 학생마다 다릅니다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D094F8-C1B9-4F4F-95AA-20EBDAF46B18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0623E1-5C8E-4743-8F5F-CBCB85E6C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989" y="1905000"/>
            <a:ext cx="2027621" cy="304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29721C0-6A09-49D4-8391-F6F013572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659" y="1905000"/>
            <a:ext cx="2045082" cy="30480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B860B6-C335-4CBC-827F-4417A44A44D7}"/>
              </a:ext>
            </a:extLst>
          </p:cNvPr>
          <p:cNvSpPr txBox="1"/>
          <p:nvPr/>
        </p:nvSpPr>
        <p:spPr>
          <a:xfrm>
            <a:off x="812800" y="5054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 단어장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34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C4A8E9-084D-44D1-9C68-96B5262F059A}"/>
              </a:ext>
            </a:extLst>
          </p:cNvPr>
          <p:cNvSpPr txBox="1"/>
          <p:nvPr/>
        </p:nvSpPr>
        <p:spPr>
          <a:xfrm>
            <a:off x="6299200" y="5054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고등 단어장 </a:t>
            </a:r>
            <a:r>
              <a:rPr lang="en-US" altLang="ko-KR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15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F1F5A-E389-46FB-B0B7-4475CF453A4B}"/>
              </a:ext>
            </a:extLst>
          </p:cNvPr>
          <p:cNvSpPr txBox="1"/>
          <p:nvPr/>
        </p:nvSpPr>
        <p:spPr>
          <a:xfrm>
            <a:off x="812800" y="5537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내신 필수 단어 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 빈출 단어 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듣기평가 전용 단어 </a:t>
            </a:r>
            <a:r>
              <a:rPr lang="en-US" altLang="ko-KR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아이에게 부족한 유형으로 맞춰 줍니다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6DB666-4B90-4249-8DFF-D8DFF4B39477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B06E57-75E3-41CF-B8C0-9413573BA390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64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12642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738484D-D17B-47F2-BEB8-24A874D55B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5B772A-8D9A-4E3C-A741-892F21131794}"/>
              </a:ext>
            </a:extLst>
          </p:cNvPr>
          <p:cNvSpPr txBox="1"/>
          <p:nvPr/>
        </p:nvSpPr>
        <p:spPr>
          <a:xfrm>
            <a:off x="1219200" y="22352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r>
              <a:rPr lang="ko-KR" altLang="en-US" sz="1500" b="1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554118-3119-437A-A066-410139291EAA}"/>
              </a:ext>
            </a:extLst>
          </p:cNvPr>
          <p:cNvSpPr txBox="1"/>
          <p:nvPr/>
        </p:nvSpPr>
        <p:spPr>
          <a:xfrm>
            <a:off x="1219200" y="269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학생들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DB7C6C-3CA0-4EC5-A3F3-674C2A0FF130}"/>
              </a:ext>
            </a:extLst>
          </p:cNvPr>
          <p:cNvSpPr/>
          <p:nvPr/>
        </p:nvSpPr>
        <p:spPr>
          <a:xfrm>
            <a:off x="1219200" y="3683000"/>
            <a:ext cx="812800" cy="50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98DD5C-7248-4658-8893-A6D965D15AB9}"/>
              </a:ext>
            </a:extLst>
          </p:cNvPr>
          <p:cNvSpPr txBox="1"/>
          <p:nvPr/>
        </p:nvSpPr>
        <p:spPr>
          <a:xfrm>
            <a:off x="1219200" y="3962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숫자로 보는 결과</a:t>
            </a:r>
          </a:p>
        </p:txBody>
      </p:sp>
    </p:spTree>
    <p:extLst>
      <p:ext uri="{BB962C8B-B14F-4D97-AF65-F5344CB8AC3E}">
        <p14:creationId xmlns:p14="http://schemas.microsoft.com/office/powerpoint/2010/main" val="37082671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74D56BD-1C67-456E-86CA-00FDA17F005C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4DA10E-0750-4FE5-B153-21FA1E4E7A5A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0694D6-A176-4407-8307-453B28A69F9D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모의고사와 내신을 한 장에서 관리합니다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F81006-C62C-4FC6-ADD7-D23ABE565937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50B7090-48BE-4A26-AE29-DECA333CF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4545" y="1803401"/>
            <a:ext cx="3282910" cy="38099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82B528-A583-43B9-AE8A-7E6FE498CFA4}"/>
              </a:ext>
            </a:extLst>
          </p:cNvPr>
          <p:cNvSpPr txBox="1"/>
          <p:nvPr/>
        </p:nvSpPr>
        <p:spPr>
          <a:xfrm>
            <a:off x="812800" y="57404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ko-KR" altLang="en-US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이사벨</a:t>
            </a:r>
            <a:r>
              <a:rPr lang="en-US" altLang="ko-KR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's </a:t>
            </a:r>
            <a:r>
              <a:rPr lang="ko-KR" altLang="en-US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모의고사 </a:t>
            </a:r>
            <a:r>
              <a:rPr lang="en-US" altLang="ko-KR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학교 내신 관리표 </a:t>
            </a:r>
            <a:r>
              <a:rPr lang="en-US" altLang="ko-KR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 이름은 가림</a:t>
            </a:r>
            <a:r>
              <a:rPr lang="en-US" altLang="ko-KR" sz="11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1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9B113A-40AE-4CDC-9333-10A7FAD0DBF9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B6FF88-A55E-4B6E-A6F2-84CFD81A3DB6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66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91071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5F11244-7C8B-4695-ABE6-F0E8C4E1A9EB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94B53B-7AD7-4633-94FB-0D230C84FAD6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F4248-575B-48B0-BDC3-EF379B8FC2A1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학기 중간고사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이상 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67%</a:t>
            </a:r>
            <a:endParaRPr lang="ko-KR" altLang="en-US" sz="2700" b="1">
              <a:solidFill>
                <a:srgbClr val="13201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8215A4-CAB4-4935-947C-9481B42814BC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8B7A59-AB54-4780-91F5-7A9A62B25007}"/>
              </a:ext>
            </a:extLst>
          </p:cNvPr>
          <p:cNvSpPr/>
          <p:nvPr/>
        </p:nvSpPr>
        <p:spPr>
          <a:xfrm>
            <a:off x="812800" y="2006600"/>
            <a:ext cx="10566400" cy="15240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88166-33F7-4AD9-BE78-549547C07B44}"/>
              </a:ext>
            </a:extLst>
          </p:cNvPr>
          <p:cNvSpPr txBox="1"/>
          <p:nvPr/>
        </p:nvSpPr>
        <p:spPr>
          <a:xfrm>
            <a:off x="812800" y="223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540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67%</a:t>
            </a:r>
            <a:endParaRPr lang="ko-KR" altLang="en-US" sz="540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A13D0-0CD1-427B-B440-83C4F5665D01}"/>
              </a:ext>
            </a:extLst>
          </p:cNvPr>
          <p:cNvSpPr txBox="1"/>
          <p:nvPr/>
        </p:nvSpPr>
        <p:spPr>
          <a:xfrm>
            <a:off x="812800" y="3048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중등부 학생 중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학기 중간고사 영어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이상 비중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22659E-DF3C-4DAA-ADC2-FD524328710A}"/>
              </a:ext>
            </a:extLst>
          </p:cNvPr>
          <p:cNvSpPr txBox="1"/>
          <p:nvPr/>
        </p:nvSpPr>
        <p:spPr>
          <a:xfrm>
            <a:off x="812800" y="3835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978A91-53EB-4D52-9BB4-FFE03A9327B3}"/>
              </a:ext>
            </a:extLst>
          </p:cNvPr>
          <p:cNvSpPr txBox="1"/>
          <p:nvPr/>
        </p:nvSpPr>
        <p:spPr>
          <a:xfrm>
            <a:off x="1041400" y="38354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3M-S 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반은 모의고사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1~2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내신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이상을 유지하고 있습니다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6BC135-EDC5-4DE6-8514-8F8464955837}"/>
              </a:ext>
            </a:extLst>
          </p:cNvPr>
          <p:cNvSpPr txBox="1"/>
          <p:nvPr/>
        </p:nvSpPr>
        <p:spPr>
          <a:xfrm>
            <a:off x="812800" y="43942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521FE2-A211-4426-82AE-C2BA56F07F2F}"/>
              </a:ext>
            </a:extLst>
          </p:cNvPr>
          <p:cNvSpPr txBox="1"/>
          <p:nvPr/>
        </p:nvSpPr>
        <p:spPr>
          <a:xfrm>
            <a:off x="1041400" y="43942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1M-A 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반은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사이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등급에서 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2~3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등급으로 올라온 학생이 여럿입니다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2A303F-9A3C-4A61-B127-A157B99DD9E5}"/>
              </a:ext>
            </a:extLst>
          </p:cNvPr>
          <p:cNvSpPr txBox="1"/>
          <p:nvPr/>
        </p:nvSpPr>
        <p:spPr>
          <a:xfrm>
            <a:off x="812800" y="4953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0D6A5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endParaRPr lang="ko-KR" altLang="en-US" sz="1500" b="1">
              <a:solidFill>
                <a:srgbClr val="0D6A5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C8FBBE-F0A9-47B6-8890-EE89C44A0568}"/>
              </a:ext>
            </a:extLst>
          </p:cNvPr>
          <p:cNvSpPr txBox="1"/>
          <p:nvPr/>
        </p:nvSpPr>
        <p:spPr>
          <a:xfrm>
            <a:off x="1041400" y="4953000"/>
            <a:ext cx="1033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 반이어도 출발점이 다릅니다</a:t>
            </a:r>
            <a:r>
              <a:rPr lang="en-US" altLang="ko-KR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500">
                <a:solidFill>
                  <a:srgbClr val="3A4D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그래서 개별 관리표를 씁니다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638CEE-374E-42E8-9E07-6A10172E2C1F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B6E831-815E-46B1-B9BA-A4EC0B76A305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67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66422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1962EC6-5EAA-4307-B4D5-9B957DDA4CA6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B24035-ED1E-4EAF-AB54-FC8ACC92A291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9BB52-0F87-4FAB-A642-C1099815900E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사이 이렇게 달라졌습니다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02BB6C-7A69-4151-9CEE-AC4D76DBF26E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1F09C4-D21E-448F-9C3D-E16007AC8331}"/>
              </a:ext>
            </a:extLst>
          </p:cNvPr>
          <p:cNvSpPr txBox="1"/>
          <p:nvPr/>
        </p:nvSpPr>
        <p:spPr>
          <a:xfrm>
            <a:off x="812800" y="18796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1M-A </a:t>
            </a:r>
            <a:r>
              <a:rPr lang="ko-KR" altLang="en-US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 </a:t>
            </a:r>
            <a:r>
              <a:rPr lang="en-US" altLang="ko-KR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— 1</a:t>
            </a:r>
            <a:r>
              <a:rPr lang="ko-KR" altLang="en-US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모의고사 → </a:t>
            </a:r>
            <a:r>
              <a:rPr lang="en-US" altLang="ko-KR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모의고사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EFFB26E-0761-44B0-8530-E1BB8B64F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091346"/>
              </p:ext>
            </p:extLst>
          </p:nvPr>
        </p:nvGraphicFramePr>
        <p:xfrm>
          <a:off x="812800" y="2311400"/>
          <a:ext cx="10566400" cy="3352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65852331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952926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97504124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1804544034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학생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총점 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총점 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변화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48876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 / 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78 / 3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+19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상승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17744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 / 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 / 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+6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03003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 / 4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 / 1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+24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3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상승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08428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 / 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 / 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+35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3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상승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1034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</a:t>
                      </a:r>
                      <a:endParaRPr lang="ko-KR" altLang="en-US" sz="140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 / 4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 / 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+15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2</a:t>
                      </a:r>
                      <a:r>
                        <a:rPr lang="ko-KR" altLang="en-US" sz="140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 상승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897459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2785ABAA-EB3D-4494-A9B8-B02F26442EC4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DAF402-0F9F-4D99-9DBA-89791B16C835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65C8E9-15BA-4283-ADBB-5AE4A06EEEEC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학기 만에 바뀌지는 않습니다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매주 같은 것을 반복한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년이 만든 결과입니다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F38333-1F1D-48F3-832A-6AB5A5C496BD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4AC851-C095-45BA-8E3F-5379F1295856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68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81403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70B5677-00D4-4771-932D-F659CE703318}"/>
              </a:ext>
            </a:extLst>
          </p:cNvPr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AF9D1-E79D-4332-8445-5363BFDB3FA4}"/>
              </a:ext>
            </a:extLst>
          </p:cNvPr>
          <p:cNvSpPr txBox="1"/>
          <p:nvPr/>
        </p:nvSpPr>
        <p:spPr>
          <a:xfrm>
            <a:off x="812800" y="5715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1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학원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785336-18D3-470F-8641-E4F7D91A59D6}"/>
              </a:ext>
            </a:extLst>
          </p:cNvPr>
          <p:cNvSpPr txBox="1"/>
          <p:nvPr/>
        </p:nvSpPr>
        <p:spPr>
          <a:xfrm>
            <a:off x="812800" y="96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부터 고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까지</a:t>
            </a:r>
            <a:r>
              <a:rPr lang="en-US" altLang="ko-KR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이렇게 갑니다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A9CA8A-DDEE-43EE-AD12-2DD56378DF68}"/>
              </a:ext>
            </a:extLst>
          </p:cNvPr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4AA025B-6189-42CA-BA9A-932214213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712445"/>
              </p:ext>
            </p:extLst>
          </p:nvPr>
        </p:nvGraphicFramePr>
        <p:xfrm>
          <a:off x="812800" y="2032000"/>
          <a:ext cx="105664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879626197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650855619"/>
                    </a:ext>
                  </a:extLst>
                </a:gridCol>
                <a:gridCol w="5740400">
                  <a:extLst>
                    <a:ext uri="{9D8B030D-6E8A-4147-A177-3AD203B41FA5}">
                      <a16:colId xmlns:a16="http://schemas.microsoft.com/office/drawing/2014/main" val="364073574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시기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우리가 하는 것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0D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07556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 문법 완성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듣기 시작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Grammar Inside 1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중등 듣기평가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92242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내신 서술형 대비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독해 확장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Grammar Inside 2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THE CLIP ·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듣기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77636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수준 도달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Grammar Inside 3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2~3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듣기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수능 유형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25968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1~2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내신과 모의고사 병행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학교별 내신 대비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모의고사 관리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20588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 </a:t>
                      </a:r>
                      <a:r>
                        <a:rPr lang="en-US" altLang="ko-KR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350" b="0">
                        <a:solidFill>
                          <a:srgbClr val="13201D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영어는 이미 끝나 있어야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50" b="0">
                          <a:solidFill>
                            <a:srgbClr val="13201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다른 과목에 시간을 씁니다</a:t>
                      </a:r>
                    </a:p>
                  </a:txBody>
                  <a:tcPr marL="127000" marR="76200" marT="38100" marB="38100" anchor="ctr">
                    <a:lnL w="12700" cmpd="sng">
                      <a:solidFill>
                        <a:srgbClr val="D9E1DD"/>
                      </a:solidFill>
                    </a:lnL>
                    <a:lnR w="12700" cmpd="sng">
                      <a:solidFill>
                        <a:srgbClr val="D9E1DD"/>
                      </a:solidFill>
                    </a:lnR>
                    <a:lnT w="12700" cmpd="sng">
                      <a:solidFill>
                        <a:srgbClr val="D9E1DD"/>
                      </a:solidFill>
                    </a:lnT>
                    <a:lnB w="12700" cmpd="sng">
                      <a:solidFill>
                        <a:srgbClr val="D9E1DD"/>
                      </a:solidFill>
                    </a:lnB>
                    <a:solidFill>
                      <a:srgbClr val="F5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40271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34B7ADF-5114-45C0-9163-1F1D7A256E63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55BA9B-E51D-4E74-B2A2-B67D9C8C683C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25E8EA-4C80-443E-BC90-E3C3C1751A8A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영어를 붙들고 있지 않게 하는 것 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그것이 지금 중등에게 해 줄 수 있는 가장 큰 일입니다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1353CF-58FE-4DBE-93F9-7D6620410694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A0BC43-5825-43C7-A081-21E6668B235A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69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56269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FBC6D5-3D4D-44C8-BAB8-8785C9AE646D}"/>
              </a:ext>
            </a:extLst>
          </p:cNvPr>
          <p:cNvSpPr txBox="1"/>
          <p:nvPr/>
        </p:nvSpPr>
        <p:spPr>
          <a:xfrm>
            <a:off x="812800" y="71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정리하겠습니다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F46237-21D1-4366-8768-2D9FF8F81B17}"/>
              </a:ext>
            </a:extLst>
          </p:cNvPr>
          <p:cNvSpPr/>
          <p:nvPr/>
        </p:nvSpPr>
        <p:spPr>
          <a:xfrm>
            <a:off x="812800" y="1422400"/>
            <a:ext cx="812800" cy="381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6C40BC6-4783-414F-B620-70D3651A0279}"/>
              </a:ext>
            </a:extLst>
          </p:cNvPr>
          <p:cNvSpPr/>
          <p:nvPr/>
        </p:nvSpPr>
        <p:spPr>
          <a:xfrm>
            <a:off x="812800" y="2006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7AE8D2-C5C4-4449-AD08-539B23479E5C}"/>
              </a:ext>
            </a:extLst>
          </p:cNvPr>
          <p:cNvSpPr txBox="1"/>
          <p:nvPr/>
        </p:nvSpPr>
        <p:spPr>
          <a:xfrm>
            <a:off x="812800" y="2057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1BE2D-079B-4440-8F78-9488BF259037}"/>
              </a:ext>
            </a:extLst>
          </p:cNvPr>
          <p:cNvSpPr txBox="1"/>
          <p:nvPr/>
        </p:nvSpPr>
        <p:spPr>
          <a:xfrm>
            <a:off x="1295400" y="2019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아이 제도는 </a:t>
            </a:r>
            <a:r>
              <a:rPr lang="en-US" altLang="ko-KR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월에 확정됩니다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54F515-7472-4AAA-8301-9FB5AD7F2EF7}"/>
              </a:ext>
            </a:extLst>
          </p:cNvPr>
          <p:cNvSpPr txBox="1"/>
          <p:nvPr/>
        </p:nvSpPr>
        <p:spPr>
          <a:xfrm>
            <a:off x="1295400" y="2324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2028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안은 형들 제도입니다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나오면 다시 자리를 만들어 말씀드리겠습니다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457958-ED46-4BFB-97BC-AAF1DD291067}"/>
              </a:ext>
            </a:extLst>
          </p:cNvPr>
          <p:cNvSpPr/>
          <p:nvPr/>
        </p:nvSpPr>
        <p:spPr>
          <a:xfrm>
            <a:off x="812800" y="3149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99D33-A986-4C54-AA08-00CF13F4CD6D}"/>
              </a:ext>
            </a:extLst>
          </p:cNvPr>
          <p:cNvSpPr txBox="1"/>
          <p:nvPr/>
        </p:nvSpPr>
        <p:spPr>
          <a:xfrm>
            <a:off x="812800" y="3200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932DAA-A2B8-4A8B-BAA7-43EC47623F41}"/>
              </a:ext>
            </a:extLst>
          </p:cNvPr>
          <p:cNvSpPr txBox="1"/>
          <p:nvPr/>
        </p:nvSpPr>
        <p:spPr>
          <a:xfrm>
            <a:off x="1295400" y="3162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 제도가 와도 읽고 쓰는 힘은 통합니다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A3DCFC-A08B-491D-AC7A-5BA2715D6B73}"/>
              </a:ext>
            </a:extLst>
          </p:cNvPr>
          <p:cNvSpPr txBox="1"/>
          <p:nvPr/>
        </p:nvSpPr>
        <p:spPr>
          <a:xfrm>
            <a:off x="1295400" y="3467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수능도 내신도 서</a:t>
            </a:r>
            <a:r>
              <a:rPr lang="en-US" altLang="ko-KR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논술형으로 가고 있습니다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2A9B87-45F2-4A0D-8E7B-79986266BB28}"/>
              </a:ext>
            </a:extLst>
          </p:cNvPr>
          <p:cNvSpPr/>
          <p:nvPr/>
        </p:nvSpPr>
        <p:spPr>
          <a:xfrm>
            <a:off x="812800" y="4292600"/>
            <a:ext cx="330200" cy="3302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0F7A3D-9820-40B6-9010-A4EEB1887520}"/>
              </a:ext>
            </a:extLst>
          </p:cNvPr>
          <p:cNvSpPr txBox="1"/>
          <p:nvPr/>
        </p:nvSpPr>
        <p:spPr>
          <a:xfrm>
            <a:off x="812800" y="43434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C25A12-0B8A-4C38-B01D-21F867729944}"/>
              </a:ext>
            </a:extLst>
          </p:cNvPr>
          <p:cNvSpPr txBox="1"/>
          <p:nvPr/>
        </p:nvSpPr>
        <p:spPr>
          <a:xfrm>
            <a:off x="1295400" y="43053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320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영어는 중등에서 끝내 놓는 과목입니다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F405B5-E3EC-4A60-BFFB-567106D12616}"/>
              </a:ext>
            </a:extLst>
          </p:cNvPr>
          <p:cNvSpPr txBox="1"/>
          <p:nvPr/>
        </p:nvSpPr>
        <p:spPr>
          <a:xfrm>
            <a:off x="1295400" y="4610100"/>
            <a:ext cx="10083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3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고등학교에서 다른 걸 할 시간을 벌어 주는 것이 저희 목표입니다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E8A224-CEB7-4D4F-8931-CA9A192877FE}"/>
              </a:ext>
            </a:extLst>
          </p:cNvPr>
          <p:cNvSpPr/>
          <p:nvPr/>
        </p:nvSpPr>
        <p:spPr>
          <a:xfrm>
            <a:off x="812800" y="5080000"/>
            <a:ext cx="10566400" cy="10668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1BE8CB-3849-41C9-B989-6F9B918E9530}"/>
              </a:ext>
            </a:extLst>
          </p:cNvPr>
          <p:cNvSpPr/>
          <p:nvPr/>
        </p:nvSpPr>
        <p:spPr>
          <a:xfrm>
            <a:off x="812800" y="5080000"/>
            <a:ext cx="63500" cy="1066800"/>
          </a:xfrm>
          <a:prstGeom prst="rect">
            <a:avLst/>
          </a:prstGeom>
          <a:solidFill>
            <a:srgbClr val="0A4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B3A73B-AC97-476B-A6C2-91D54FD70F12}"/>
              </a:ext>
            </a:extLst>
          </p:cNvPr>
          <p:cNvSpPr txBox="1"/>
          <p:nvPr/>
        </p:nvSpPr>
        <p:spPr>
          <a:xfrm>
            <a:off x="1143000" y="5207000"/>
            <a:ext cx="982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지금은 바꿀 때가 아니라 쌓을 때입니다</a:t>
            </a:r>
            <a:r>
              <a:rPr lang="en-US" altLang="ko-KR" sz="1650" b="1">
                <a:solidFill>
                  <a:srgbClr val="0A4F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50" b="1">
              <a:solidFill>
                <a:srgbClr val="0A4F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29006F-9F4E-485F-8A65-71B0469C4674}"/>
              </a:ext>
            </a:extLst>
          </p:cNvPr>
          <p:cNvSpPr txBox="1"/>
          <p:nvPr/>
        </p:nvSpPr>
        <p:spPr>
          <a:xfrm>
            <a:off x="812800" y="6400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금호 메타 영어학원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8613E5-3510-4B3A-BD10-B83D8C50889E}"/>
              </a:ext>
            </a:extLst>
          </p:cNvPr>
          <p:cNvSpPr txBox="1"/>
          <p:nvPr/>
        </p:nvSpPr>
        <p:spPr>
          <a:xfrm>
            <a:off x="8839200" y="6400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6B7D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70 / 71</a:t>
            </a:r>
            <a:endParaRPr lang="ko-KR" altLang="en-US" sz="950">
              <a:solidFill>
                <a:srgbClr val="6B7D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65060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FE8E184-8A0E-47A3-A69B-EFECA88493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6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7B27B-534D-44EE-9A9D-D29D7AE69220}"/>
              </a:ext>
            </a:extLst>
          </p:cNvPr>
          <p:cNvSpPr txBox="1"/>
          <p:nvPr/>
        </p:nvSpPr>
        <p:spPr>
          <a:xfrm>
            <a:off x="1219200" y="24130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4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7F7646-5353-4263-BD50-4CBB3ED30CFD}"/>
              </a:ext>
            </a:extLst>
          </p:cNvPr>
          <p:cNvSpPr/>
          <p:nvPr/>
        </p:nvSpPr>
        <p:spPr>
          <a:xfrm>
            <a:off x="5689600" y="3327400"/>
            <a:ext cx="812800" cy="38100"/>
          </a:xfrm>
          <a:prstGeom prst="rect">
            <a:avLst/>
          </a:prstGeom>
          <a:solidFill>
            <a:srgbClr val="DDED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A23B5-1DBB-4C05-A4A1-060AD85854FA}"/>
              </a:ext>
            </a:extLst>
          </p:cNvPr>
          <p:cNvSpPr txBox="1"/>
          <p:nvPr/>
        </p:nvSpPr>
        <p:spPr>
          <a:xfrm>
            <a:off x="1219200" y="37084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60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개별 상담을 원하시면 언제든 말씀해 주세요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967F0-0475-4D5F-B40F-3F7E60C1BDFE}"/>
              </a:ext>
            </a:extLst>
          </p:cNvPr>
          <p:cNvSpPr txBox="1"/>
          <p:nvPr/>
        </p:nvSpPr>
        <p:spPr>
          <a:xfrm>
            <a:off x="1219200" y="41910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3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062-655-0594</a:t>
            </a:r>
            <a:endParaRPr lang="ko-KR" altLang="en-US" sz="3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FAAE59-75B5-4873-BC73-625AB17AB793}"/>
              </a:ext>
            </a:extLst>
          </p:cNvPr>
          <p:cNvSpPr txBox="1"/>
          <p:nvPr/>
        </p:nvSpPr>
        <p:spPr>
          <a:xfrm>
            <a:off x="1219200" y="4826000"/>
            <a:ext cx="975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오전 </a:t>
            </a:r>
            <a:r>
              <a:rPr lang="en-US" altLang="ko-KR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 </a:t>
            </a:r>
            <a:r>
              <a:rPr lang="en-US" altLang="ko-KR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 </a:t>
            </a:r>
            <a:r>
              <a:rPr lang="ko-KR" altLang="en-US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오후 </a:t>
            </a:r>
            <a:r>
              <a:rPr lang="en-US" altLang="ko-KR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 </a:t>
            </a:r>
            <a:r>
              <a:rPr lang="en-US" altLang="ko-KR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   </a:t>
            </a:r>
            <a:r>
              <a:rPr lang="en-US" altLang="ko-KR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 </a:t>
            </a:r>
            <a:r>
              <a:rPr lang="ko-KR" altLang="en-US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광주 서구 풍금로</a:t>
            </a:r>
            <a:r>
              <a:rPr lang="en-US" altLang="ko-KR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177</a:t>
            </a:r>
            <a:r>
              <a:rPr lang="ko-KR" altLang="en-US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번길 </a:t>
            </a:r>
            <a:r>
              <a:rPr lang="en-US" altLang="ko-KR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9, 3</a:t>
            </a:r>
            <a:r>
              <a:rPr lang="ko-KR" altLang="en-US" sz="1350">
                <a:solidFill>
                  <a:srgbClr val="DDEDE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</a:p>
        </p:txBody>
      </p:sp>
    </p:spTree>
    <p:extLst>
      <p:ext uri="{BB962C8B-B14F-4D97-AF65-F5344CB8AC3E}">
        <p14:creationId xmlns:p14="http://schemas.microsoft.com/office/powerpoint/2010/main" val="4294111806"/>
      </p:ext>
    </p:extLst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508000"/>
            <a:ext cx="1625600" cy="330200"/>
          </a:xfrm>
          <a:prstGeom prst="rect">
            <a:avLst/>
          </a:prstGeom>
          <a:solidFill>
            <a:srgbClr val="D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565150"/>
            <a:ext cx="16256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A4F44"/>
                </a:solidFill>
                <a:latin typeface="맑은 고딕"/>
                <a:ea typeface="맑은 고딕"/>
              </a:rPr>
              <a:t>9부 ·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965200"/>
            <a:ext cx="105664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3201D"/>
                </a:solidFill>
                <a:latin typeface="맑은 고딕"/>
                <a:ea typeface="맑은 고딕"/>
              </a:rPr>
              <a:t>문법 시간 45분은 이렇게 흘러갑니다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676400"/>
            <a:ext cx="812800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6400800"/>
            <a:ext cx="5080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D77"/>
                </a:solidFill>
                <a:latin typeface="맑은 고딕"/>
                <a:ea typeface="맑은 고딕"/>
              </a:rPr>
              <a:t>금호 메타 영어학원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9200" y="64008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D77"/>
                </a:solidFill>
                <a:latin typeface="맑은 고딕"/>
                <a:ea typeface="맑은 고딕"/>
              </a:rPr>
              <a:t>53 / 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1905000"/>
            <a:ext cx="105664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4D48"/>
                </a:solidFill>
                <a:latin typeface="맑은 고딕"/>
                <a:ea typeface="맑은 고딕"/>
              </a:rPr>
              <a:t>매 수업 2교시 · 6:45 ~ 7:30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800" y="2413000"/>
            <a:ext cx="2298700" cy="1905000"/>
          </a:xfrm>
          <a:prstGeom prst="rect">
            <a:avLst/>
          </a:prstGeom>
          <a:solidFill>
            <a:srgbClr val="F3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413000"/>
            <a:ext cx="2298700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0600" y="2641600"/>
            <a:ext cx="1943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D6A5B"/>
                </a:solidFill>
                <a:latin typeface="맑은 고딕"/>
                <a:ea typeface="맑은 고딕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2984500"/>
            <a:ext cx="19431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3201D"/>
                </a:solidFill>
                <a:latin typeface="맑은 고딕"/>
                <a:ea typeface="맑은 고딕"/>
              </a:rPr>
              <a:t>짧게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492500"/>
            <a:ext cx="19431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오늘 문법 하나를 작은 단위로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13100" y="3289300"/>
            <a:ext cx="254000" cy="152400"/>
          </a:xfrm>
          <a:prstGeom prst="rightArrow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8700" y="2413000"/>
            <a:ext cx="2298700" cy="1905000"/>
          </a:xfrm>
          <a:prstGeom prst="rect">
            <a:avLst/>
          </a:prstGeom>
          <a:solidFill>
            <a:srgbClr val="F3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8700" y="2413000"/>
            <a:ext cx="2298700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6500" y="2641600"/>
            <a:ext cx="1943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D6A5B"/>
                </a:solidFill>
                <a:latin typeface="맑은 고딕"/>
                <a:ea typeface="맑은 고딕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6500" y="2984500"/>
            <a:ext cx="19431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3201D"/>
                </a:solidFill>
                <a:latin typeface="맑은 고딕"/>
                <a:ea typeface="맑은 고딕"/>
              </a:rPr>
              <a:t>바로 풀기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6500" y="3492500"/>
            <a:ext cx="19431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배운 직후 문제로 확인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69000" y="3289300"/>
            <a:ext cx="254000" cy="152400"/>
          </a:xfrm>
          <a:prstGeom prst="rightArrow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4600" y="2413000"/>
            <a:ext cx="2298700" cy="1905000"/>
          </a:xfrm>
          <a:prstGeom prst="rect">
            <a:avLst/>
          </a:prstGeom>
          <a:solidFill>
            <a:srgbClr val="F3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24600" y="2413000"/>
            <a:ext cx="2298700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2400" y="2641600"/>
            <a:ext cx="1943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D6A5B"/>
                </a:solidFill>
                <a:latin typeface="맑은 고딕"/>
                <a:ea typeface="맑은 고딕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2400" y="2984500"/>
            <a:ext cx="19431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3201D"/>
                </a:solidFill>
                <a:latin typeface="맑은 고딕"/>
                <a:ea typeface="맑은 고딕"/>
              </a:rPr>
              <a:t>문장으로 쓰기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2400" y="3492500"/>
            <a:ext cx="19431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해석 연습지 · 쎄듀 쓰작 서술형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724900" y="3289300"/>
            <a:ext cx="254000" cy="152400"/>
          </a:xfrm>
          <a:prstGeom prst="rightArrow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80500" y="2413000"/>
            <a:ext cx="2298700" cy="1905000"/>
          </a:xfrm>
          <a:prstGeom prst="rect">
            <a:avLst/>
          </a:prstGeom>
          <a:solidFill>
            <a:srgbClr val="F3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0500" y="2413000"/>
            <a:ext cx="2298700" cy="381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8300" y="2641600"/>
            <a:ext cx="1943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D6A5B"/>
                </a:solidFill>
                <a:latin typeface="맑은 고딕"/>
                <a:ea typeface="맑은 고딕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8300" y="2984500"/>
            <a:ext cx="19431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3201D"/>
                </a:solidFill>
                <a:latin typeface="맑은 고딕"/>
                <a:ea typeface="맑은 고딕"/>
              </a:rPr>
              <a:t>복습·평가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8300" y="3492500"/>
            <a:ext cx="19431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4D48"/>
                </a:solidFill>
                <a:latin typeface="맑은 고딕"/>
                <a:ea typeface="맑은 고딕"/>
              </a:rPr>
              <a:t>워크북 복습 · 주 1회 평가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5245100"/>
            <a:ext cx="10566400" cy="787400"/>
          </a:xfrm>
          <a:prstGeom prst="rect">
            <a:avLst/>
          </a:prstGeom>
          <a:solidFill>
            <a:srgbClr val="0D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400" y="5245100"/>
            <a:ext cx="10160000" cy="78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설명만 듣고 끝나는 수업은 없습니다. 그날 배운 문법은 그날 문장으로 써 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10962</Words>
  <Application>Microsoft Office PowerPoint</Application>
  <PresentationFormat>와이드스크린</PresentationFormat>
  <Paragraphs>1444</Paragraphs>
  <Slides>70</Slides>
  <Notes>47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7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user70</dc:creator>
  <cp:lastModifiedBy>user</cp:lastModifiedBy>
  <cp:revision>3</cp:revision>
  <dcterms:created xsi:type="dcterms:W3CDTF">2026-09-15T07:25:25Z</dcterms:created>
  <dcterms:modified xsi:type="dcterms:W3CDTF">2026-09-17T07:19:06Z</dcterms:modified>
</cp:coreProperties>
</file>
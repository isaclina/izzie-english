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5f2d5924-7e82-f15b-9f75-7bd42aa79deb}">
          <p14:sldIdLst>
            <p14:sldId id="256"/>
          </p14:sldIdLst>
        </p14:section>
        <p14:section name="한눈에 보기" id="{96ada481-fe64-d88a-6b8c-627b08e36893}">
          <p14:sldIdLst>
            <p14:sldId id="257"/>
            <p14:sldId id="258"/>
          </p14:sldIdLst>
        </p14:section>
        <p14:section name="1학년" id="{28dd3682-f88c-99ad-0e2c-65598b4b3c46}">
          <p14:sldIdLst>
            <p14:sldId id="259"/>
            <p14:sldId id="260"/>
            <p14:sldId id="261"/>
            <p14:sldId id="262"/>
          </p14:sldIdLst>
        </p14:section>
        <p14:section name="2학년" id="{45c5f0a1-e976-139c-a516-053befbd7727}">
          <p14:sldIdLst>
            <p14:sldId id="263"/>
            <p14:sldId id="264"/>
            <p14:sldId id="265"/>
            <p14:sldId id="266"/>
          </p14:sldIdLst>
        </p14:section>
        <p14:section name="대비 방법" id="{e47f0cec-0cdc-7b66-926b-8174160b45a9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올해 2학기 중간고사 서술형 문항을 학교별·학년별로 분석한 자료입니다.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대부분의 문항에 '시제 및 대소문자에 유의할 것', '완전한 문장 전체를 쓸 것' 같은 조건이 붙어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교과서여도 학교마다 서술형으로 고르는 문법이 다릅니다. 학교별 기출 분석이 필요한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학생 답안지에서 감점된 부분을 모았습니다.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금호 메타 영어학원  |  2026 2학기 중간고사 서술형 분석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2026 2학기 중간고사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서술형, 이렇게 나왔습니다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운리중 · 상무중 · 광주중 기출 분석  |  금호 메타 영어학원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서술형은 '문법 + 조건 지키기' 시험입니다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7160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기출 분석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 개 학교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661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운리중·상무중·광주중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1학년 · 2학년 시험지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2103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13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 문항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5661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분석한 서술형 문항 수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(사진에 담긴 문항 기준)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2103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12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 / 13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5661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&lt;조건&gt;이 붙은 문항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대소문자 · 시제 · 단어 수 등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052560" y="182880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accent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81160" y="21031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8</a:t>
            </a:r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 점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356616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한 문항 최고 배점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객관식 한 문제의 2배 이상</a:t>
            </a:r>
            <a:endParaRPr lang="en-US" sz="1500" dirty="0"/>
          </a:p>
        </p:txBody>
      </p:sp>
      <p:sp>
        <p:nvSpPr>
          <p:cNvPr id="17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문법을 알아도 조건 하나를 놓치면 감점됩니다. 서술형은 '정확하게 쓰는 힘'을 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학교별 출제 문법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7160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기출 분석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813816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학년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학교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서술형에 나온 문법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1학년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상무중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동명사(주어 · 전치사 뒤)  ·  비교급 · 최상급  ·  There is / are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1학년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광주중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비교급 · 최상급  ·  plan + to부정사  ·  접속사 that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2학년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운리중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want + 목적어 + to부정사  ·  make + 목적어 + 형용사  ·  간접의문문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2학년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상무중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수동태  ·  조건절(If)  ·  관계대명사  ·  have to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교과서(동아 윤정미) 핵심 문법이 그대로 서술형으로 나옵니다. 학교마다 고르는 문법이 다릅니다.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1학년 서술형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상무중 · 광주중  |  동명사 · 비교급과 최상급 · to부정사 · 접속사 that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틀린 곳을 고치고, 이유까지 써야 합니다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682496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1학년 · 상무중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서술형 1번: 어법상 틀린 부분을 고쳐 문장 전체를 쓰고, 이유를 한국어로 설명하시오. (각 4점)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(1) 동명사 주어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4937760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5146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✕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Writing stories are his hobby.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25146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126480" y="2514600"/>
            <a:ext cx="5486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09360" y="25146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Writing stories is his hobby.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3649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이유: 동명사가 주어이면 단수로 취급한다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49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(2) 전치사 뒤 동명사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4937760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1605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✕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My uncle is good at cook pasta.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416052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126480" y="4160520"/>
            <a:ext cx="5486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41605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My uncle is good at cooking pasta.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5010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이유: 전치사(at) 뒤에는 동명사가 온다</a:t>
            </a:r>
            <a:endParaRPr lang="en-US" sz="1400" dirty="0"/>
          </a:p>
        </p:txBody>
      </p:sp>
      <p:sp>
        <p:nvSpPr>
          <p:cNvPr id="20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정답 문장 2점 + 이유 2점. 문법 규칙을 '한국어로 설명하는 힘'까지 평가합니다.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두 학교 모두 '표 보고 비교급 · 최상급'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256032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1학년 · 상무중 · 광주중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상무중 서술형 2번 표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49377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143000"/>
                <a:gridCol w="1143000"/>
                <a:gridCol w="1143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elephant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rabbit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weight (kg)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speed (km/h)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조건: (1)과 (2)에 서로 다른 형용사를 쓸 것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35040" y="1645920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accent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17920" y="164592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상무중 (비교급)
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lion is older than the elephant.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2560320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17920" y="256032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상무중 (최상급)
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rabbit is the fastest of the three animals.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3474720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17920" y="347472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광주중 (비교급)
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dog is faster than the turtle.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4389120"/>
            <a:ext cx="55778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17920" y="438912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광주중 (최상급)
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cheetah is the fastest of the three.</a:t>
            </a:r>
            <a:endParaRPr lang="en-US" sz="1200" dirty="0"/>
          </a:p>
        </p:txBody>
      </p:sp>
      <p:sp>
        <p:nvSpPr>
          <p:cNvPr id="16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최상급 앞 the, 셋 중에서 = of the three. 관사 하나만 빠져도 감점됩니다.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우리말 뜻 그대로 옮겨야 정답입니다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682496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1학년 · 광주중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3657600"/>
          </a:xfrm>
          <a:prstGeom prst="roundRect">
            <a:avLst>
              <a:gd name="adj" fmla="val 2000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서술형 3 (5점)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나는 박물관을 방문할 계획이었다.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(the museum, visit)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017520"/>
            <a:ext cx="493776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0175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자주 나온 오답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 decided to visit the museum.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749040"/>
            <a:ext cx="493776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7490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정답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 planned to visit the museum.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26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'계획이었다' = planned (decided는 '결심했다')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394960" cy="3657600"/>
          </a:xfrm>
          <a:prstGeom prst="roundRect">
            <a:avLst>
              <a:gd name="adj" fmla="val 2000"/>
            </a:avLst>
          </a:prstGeom>
          <a:solidFill>
            <a:schemeClr val="accent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서술형 4 (5점)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148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나는 그가 영어를 잘 말한다고 생각한다.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(that 사용, well · speak 활용)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46520" y="3017520"/>
            <a:ext cx="493776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0" y="301752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자주 나온 오답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 believe that he can speak English well.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3749040"/>
            <a:ext cx="493776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7490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정답  </a:t>
            </a:r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 think that he speaks English well.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5262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'생각한다' = think, 없는 can은 넣지 않기, he → speaks</a:t>
            </a:r>
            <a:endParaRPr lang="en-US" sz="1400" dirty="0"/>
          </a:p>
        </p:txBody>
      </p:sp>
      <p:sp>
        <p:nvSpPr>
          <p:cNvPr id="21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뜻이 비슷한 다른 단어를 쓰면 감점됩니다. 우리말을 '정확히' 옮기는 연습이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2학년 서술형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운리중 · 상무중  |  to부정사 · 5형식 · 간접의문문 · 수동태 · 조건절 · 관계대명사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한 문장에 문법이 3~4개씩 겹쳐 나옵니다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682496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2학년 · 운리중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3657600"/>
          </a:xfrm>
          <a:prstGeom prst="roundRect">
            <a:avLst>
              <a:gd name="adj" fmla="val 2000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서술형 1  ·  주어진 단어로 영작 (4점, 12단어 이내)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저는 당신이 제게 함께 일할 기회를 주기를 원합니다.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(a chance, you, give, with, to, me, want)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017520"/>
            <a:ext cx="49377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30175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 want you to give me a chance to work with you.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862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want + 목적어 + to부정사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give + 사람 + 사물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chance to work (~할 기회)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94960" cy="3657600"/>
          </a:xfrm>
          <a:prstGeom prst="roundRect">
            <a:avLst>
              <a:gd name="adj" fmla="val 2000"/>
            </a:avLst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서술형 2  ·  어법상 어색한 문장 고치기 (4점)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148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ⓒ dancing in front of everyone make her confidently.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3017520"/>
            <a:ext cx="49377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301752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Dancing in front of everyone made her confident.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8862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과거 이야기 → made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make + 목적어 + 형용사 → confident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두 군데를 모두 고쳐야 만점</a:t>
            </a:r>
            <a:endParaRPr lang="en-US" sz="1400" dirty="0"/>
          </a:p>
        </p:txBody>
      </p:sp>
      <p:sp>
        <p:nvSpPr>
          <p:cNvPr id="17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문법 하나씩 따로 아는 것으로는 부족합니다. 여러 문법을 한 문장에 조합하는 연습이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문장을 바꿔 쓸 때는 형태까지 바꿔야 합니다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256032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2학년 · 운리중 · 상무중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운리중 서술형 3  ·  간접의문문 (3점)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4937760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0574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✕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Jinho, how do you study English?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0574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126480" y="2057400"/>
            <a:ext cx="5486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20574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Sumi wants to know how Jinho studies English.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9077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do 삭제  ·  you → Jinho  ·  study → studies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74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상무중 서술형 1  ·  수동태 (5점)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4937760" cy="777240"/>
          </a:xfrm>
          <a:prstGeom prst="roundRect">
            <a:avLst>
              <a:gd name="adj" fmla="val 9412"/>
            </a:avLst>
          </a:prstGeom>
          <a:solidFill>
            <a:schemeClr val="accent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8862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✕ 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famous singer wrote the song.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8862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126480" y="3886200"/>
            <a:ext cx="54864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38862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song was written by a famous singer.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47365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과거 → was  ·  write → written  ·  대소문자 주의</a:t>
            </a:r>
            <a:endParaRPr lang="en-US" sz="1400" dirty="0"/>
          </a:p>
        </p:txBody>
      </p:sp>
      <p:sp>
        <p:nvSpPr>
          <p:cNvPr id="19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어순 · 인칭 · 시제 · 동사 형태를 한꺼번에 바꿔야 정답입니다.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'시제 및 대소문자에 유의할 것'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682496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2학년 · 상무중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3657600"/>
          </a:xfrm>
          <a:prstGeom prst="roundRect">
            <a:avLst>
              <a:gd name="adj" fmla="val 2051"/>
            </a:avLst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조건절 (5점)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48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만약 지금 너의 숙제를 끝마친다면, 너는 내일 바쁘지 않을 거야.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32004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1546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If you finish your homework now, you won't be busy tomorrow.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480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If절은 미래라도 현재시제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566160" cy="3657600"/>
          </a:xfrm>
          <a:prstGeom prst="roundRect">
            <a:avLst>
              <a:gd name="adj" fmla="val 2051"/>
            </a:avLst>
          </a:prstGeom>
          <a:solidFill>
            <a:schemeClr val="accent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관계대명사 (5점)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148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기타를 연주하고 있는 그 소년은 내 사촌이다.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80560" y="3154680"/>
            <a:ext cx="32004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31546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The boy who is playing the guitar is my cousin.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4480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who + is playing, 악기 앞 the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1645920"/>
            <a:ext cx="3566160" cy="3657600"/>
          </a:xfrm>
          <a:prstGeom prst="roundRect">
            <a:avLst>
              <a:gd name="adj" fmla="val 2051"/>
            </a:avLst>
          </a:prstGeom>
          <a:solidFill>
            <a:schemeClr val="accent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have to (5점)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1488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 was Sunday, so you ____ go to school yesterday.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0" y="3154680"/>
            <a:ext cx="3200400" cy="118872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66760" y="315468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It was Sunday, so you didn't have to go to school yesterday.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480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과거 + 불필요 = didn't have to</a:t>
            </a:r>
            <a:endParaRPr lang="en-US" sz="1400" dirty="0"/>
          </a:p>
        </p:txBody>
      </p:sp>
      <p:sp>
        <p:nvSpPr>
          <p:cNvPr id="23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상무중 2학년 서술형 4문항 모두 '시제 및 대소문자에 유의할 것' 조건이 붙었습니다.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점수는 이런 곳에서 깎입니다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536192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실제 답안 분석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1645920"/>
          </a:xfrm>
          <a:prstGeom prst="roundRect">
            <a:avLst>
              <a:gd name="adj" fmla="val 4444"/>
            </a:avLst>
          </a:prstGeom>
          <a:solidFill>
            <a:schemeClr val="accent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대소문자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쉼표 뒤 문장 중간에 You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→ you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66160" cy="1645920"/>
          </a:xfrm>
          <a:prstGeom prst="roundRect">
            <a:avLst>
              <a:gd name="adj" fmla="val 4444"/>
            </a:avLst>
          </a:prstGeom>
          <a:solidFill>
            <a:schemeClr val="accent4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시제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yesterday인데 don't have to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→ didn't have to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566160" cy="1645920"/>
          </a:xfrm>
          <a:prstGeom prst="roundRect">
            <a:avLst>
              <a:gd name="adj" fmla="val 4444"/>
            </a:avLst>
          </a:prstGeom>
          <a:solidFill>
            <a:schemeClr val="accent4"/>
          </a:solidFill>
          <a:ln/>
        </p:spPr>
      </p:sp>
      <p:sp>
        <p:nvSpPr>
          <p:cNvPr id="16" name="Shape 14"/>
          <p:cNvSpPr/>
          <p:nvPr/>
        </p:nvSpPr>
        <p:spPr>
          <a:xfrm>
            <a:off x="8275320" y="1874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5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3인칭 단수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468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he speak English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→ he speaks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3566160" cy="1645920"/>
          </a:xfrm>
          <a:prstGeom prst="roundRect">
            <a:avLst>
              <a:gd name="adj" fmla="val 4444"/>
            </a:avLst>
          </a:prstGeom>
          <a:solidFill>
            <a:schemeClr val="accent4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관사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343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fastest of the three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→ the fastest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297680" y="3520440"/>
            <a:ext cx="3566160" cy="1645920"/>
          </a:xfrm>
          <a:prstGeom prst="roundRect">
            <a:avLst>
              <a:gd name="adj" fmla="val 4444"/>
            </a:avLst>
          </a:prstGeom>
          <a:solidFill>
            <a:schemeClr val="accent4"/>
          </a:solidFill>
          <a:ln/>
        </p:spPr>
      </p:sp>
      <p:sp>
        <p:nvSpPr>
          <p:cNvPr id="26" name="Shape 24"/>
          <p:cNvSpPr/>
          <p:nvPr/>
        </p:nvSpPr>
        <p:spPr>
          <a:xfrm>
            <a:off x="452628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262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철자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4343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tommorrow, tommorow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→ tomorrow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046720" y="3520440"/>
            <a:ext cx="3566160" cy="1645920"/>
          </a:xfrm>
          <a:prstGeom prst="roundRect">
            <a:avLst>
              <a:gd name="adj" fmla="val 4444"/>
            </a:avLst>
          </a:prstGeom>
          <a:solidFill>
            <a:schemeClr val="accent4"/>
          </a:solidFill>
          <a:ln/>
        </p:spPr>
      </p:sp>
      <p:sp>
        <p:nvSpPr>
          <p:cNvPr id="31" name="Shape 29"/>
          <p:cNvSpPr/>
          <p:nvPr/>
        </p:nvSpPr>
        <p:spPr>
          <a:xfrm>
            <a:off x="827532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75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91540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조건 누락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43434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빈칸만 쓰기, 단어 수 초과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→ 완전한 문장 전체</a:t>
            </a:r>
            <a:endParaRPr lang="en-US" sz="1500" dirty="0"/>
          </a:p>
        </p:txBody>
      </p:sp>
      <p:sp>
        <p:nvSpPr>
          <p:cNvPr id="35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몰라서 틀리기보다 '알면서 놓치는' 감점이 더 많습니다.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서술형은 이렇게 준비합니다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84048"/>
            <a:ext cx="1371600" cy="310896"/>
          </a:xfrm>
          <a:prstGeom prst="roundRect">
            <a:avLst>
              <a:gd name="adj" fmla="val 23529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우리 학원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291840" cy="3108960"/>
          </a:xfrm>
          <a:prstGeom prst="roundRect">
            <a:avLst>
              <a:gd name="adj" fmla="val 2353"/>
            </a:avLst>
          </a:prstGeom>
          <a:solidFill>
            <a:schemeClr val="accent4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학교별 기출 분석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학교 · 학년별로 출제된 문법과 조건 유형을 미리 정리합니다.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297680" y="1737360"/>
            <a:ext cx="3291840" cy="3108960"/>
          </a:xfrm>
          <a:prstGeom prst="roundRect">
            <a:avLst>
              <a:gd name="adj" fmla="val 2353"/>
            </a:avLst>
          </a:prstGeom>
          <a:solidFill>
            <a:schemeClr val="accent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조건 영작 훈련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5661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조건을 지키며 완전한 문장을 쓰는 연습을 반복합니다.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046720" y="1737360"/>
            <a:ext cx="3291840" cy="3108960"/>
          </a:xfrm>
          <a:prstGeom prst="roundRect">
            <a:avLst>
              <a:gd name="adj" fmla="val 2353"/>
            </a:avLst>
          </a:prstGeom>
          <a:solidFill>
            <a:schemeClr val="accent4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20116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210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첨삭과 다시 쓰기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56616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감점 체크리스트로 스스로 점검하고 틀린 문장을 다시 씁니다.</a:t>
            </a:r>
            <a:endParaRPr lang="en-US" sz="1500" dirty="0"/>
          </a:p>
        </p:txBody>
      </p:sp>
      <p:sp>
        <p:nvSpPr>
          <p:cNvPr id="22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서술형은 '아는 것'보다 '정확히 쓰는 것'에서 점수가 갈립니다.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감사합니다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금호 메타 영어학원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amorph Green">
  <a:themeElements>
    <a:clrScheme name="Metamorph Green">
      <a:dk1>
        <a:srgbClr val="13201D"/>
      </a:dk1>
      <a:lt1>
        <a:srgbClr val="FFFFFF"/>
      </a:lt1>
      <a:dk2>
        <a:srgbClr val="0A4F44"/>
      </a:dk2>
      <a:lt2>
        <a:srgbClr val="DDEDE8"/>
      </a:lt2>
      <a:accent1>
        <a:srgbClr val="0D6A5B"/>
      </a:accent1>
      <a:accent2>
        <a:srgbClr val="C0392B"/>
      </a:accent2>
      <a:accent3>
        <a:srgbClr val="6B7D77"/>
      </a:accent3>
      <a:accent4>
        <a:srgbClr val="F6F9F8"/>
      </a:accent4>
      <a:accent5>
        <a:srgbClr val="FBEAEA"/>
      </a:accent5>
      <a:accent6>
        <a:srgbClr val="E8A33D"/>
      </a:accent6>
      <a:hlink>
        <a:srgbClr val="0D6A5B"/>
      </a:hlink>
      <a:folHlink>
        <a:srgbClr val="0A4F44"/>
      </a:folHlink>
    </a:clrScheme>
    <a:fontScheme name="Metamorph Green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2학기 중간고사 서술형 분석</dc:title>
  <dc:subject>PptxGenJS Presentation</dc:subject>
  <dc:creator>PptxGenJS</dc:creator>
  <cp:lastModifiedBy>PptxGenJS</cp:lastModifiedBy>
  <cp:revision>1</cp:revision>
  <dcterms:created xsi:type="dcterms:W3CDTF">2026-10-19T04:48:29Z</dcterms:created>
  <dcterms:modified xsi:type="dcterms:W3CDTF">2026-10-19T04:48:29Z</dcterms:modified>
</cp:coreProperties>
</file>
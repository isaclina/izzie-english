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06d982a5-c075-3af6-abf4-a9bd023c8fa5}">
          <p14:sldIdLst>
            <p14:sldId id="256"/>
            <p14:sldId id="257"/>
            <p14:sldId id="258"/>
          </p14:sldIdLst>
        </p14:section>
        <p14:section name="김건희 반" id="{3d75ef77-5cf2-f7c2-425d-1c610a1b0cba}">
          <p14:sldIdLst>
            <p14:sldId id="259"/>
            <p14:sldId id="260"/>
            <p14:sldId id="261"/>
            <p14:sldId id="262"/>
          </p14:sldIdLst>
        </p14:section>
        <p14:section name="구성관 반" id="{32799144-eb3b-2674-d138-45177f2b7d31}">
          <p14:sldIdLst>
            <p14:sldId id="263"/>
            <p14:sldId id="264"/>
            <p14:sldId id="265"/>
            <p14:sldId id="266"/>
          </p14:sldIdLst>
        </p14:section>
        <p14:section name="이서연 반" id="{4b874163-e5ba-197c-eafc-4c6870c662c6}">
          <p14:sldIdLst>
            <p14:sldId id="267"/>
            <p14:sldId id="268"/>
            <p14:sldId id="269"/>
            <p14:sldId id="270"/>
          </p14:sldIdLst>
        </p14:section>
        <p14:section name="정리" id="{46ffdc7e-d6c3-d72c-04b0-eae081e89ed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 김건희 반</c:v>
                </c:pt>
              </c:strCache>
            </c:strRef>
          </c:tx>
          <c:spPr>
            <a:solidFill>
              <a:srgbClr val="1E7A7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중1 첫 시험</c:v>
                  </c:pt>
                  <c:pt idx="1">
                    <c:v>중1 마지막</c:v>
                  </c:pt>
                  <c:pt idx="2">
                    <c:v>중2 첫 시험</c:v>
                  </c:pt>
                  <c:pt idx="3">
                    <c:v>첫 고2 모의고사
(중2 3차)</c:v>
                  </c:pt>
                  <c:pt idx="4">
                    <c:v>가장 최근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62.8</c:v>
                </c:pt>
                <c:pt idx="1">
                  <c:v>78.5</c:v>
                </c:pt>
                <c:pt idx="2">
                  <c:v>79</c:v>
                </c:pt>
                <c:pt idx="3">
                  <c:v>83.3</c:v>
                </c:pt>
                <c:pt idx="4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 구성관 반</c:v>
                </c:pt>
              </c:strCache>
            </c:strRef>
          </c:tx>
          <c:spPr>
            <a:solidFill>
              <a:srgbClr val="E0A3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중1 첫 시험</c:v>
                  </c:pt>
                  <c:pt idx="1">
                    <c:v>중1 마지막</c:v>
                  </c:pt>
                  <c:pt idx="2">
                    <c:v>중2 첫 시험</c:v>
                  </c:pt>
                  <c:pt idx="3">
                    <c:v>첫 고2 모의고사
(중2 3차)</c:v>
                  </c:pt>
                  <c:pt idx="4">
                    <c:v>가장 최근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</c:v>
                </c:pt>
                <c:pt idx="1">
                  <c:v>81.8</c:v>
                </c:pt>
                <c:pt idx="2">
                  <c:v>94.5</c:v>
                </c:pt>
                <c:pt idx="3">
                  <c:v>86</c:v>
                </c:pt>
                <c:pt idx="4">
                  <c:v>86.5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 이서연 반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중1 첫 시험</c:v>
                  </c:pt>
                  <c:pt idx="1">
                    <c:v>중1 마지막</c:v>
                  </c:pt>
                  <c:pt idx="2">
                    <c:v>중2 첫 시험</c:v>
                  </c:pt>
                  <c:pt idx="3">
                    <c:v>첫 고2 모의고사
(중2 3차)</c:v>
                  </c:pt>
                  <c:pt idx="4">
                    <c:v>가장 최근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65.6</c:v>
                </c:pt>
                <c:pt idx="1">
                  <c:v>65.6</c:v>
                </c:pt>
                <c:pt idx="2">
                  <c:v>80.2</c:v>
                </c:pt>
                <c:pt idx="3">
                  <c:v>82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총점 (100점 만점)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김건희</c:v>
                </c:pt>
              </c:strCache>
            </c:strRef>
          </c:tx>
          <c:spPr>
            <a:solidFill>
              <a:srgbClr val="1E7A72"/>
            </a:solidFill>
            <a:ln w="25400" cap="flat">
              <a:solidFill>
                <a:srgbClr val="1E7A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7A72"/>
              </a:solidFill>
              <a:ln w="9525" cap="flat">
                <a:solidFill>
                  <a:srgbClr val="1E7A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  <c:pt idx="11">
                    <c:v>중3 3차</c:v>
                  </c:pt>
                  <c:pt idx="12">
                    <c:v>중3 4차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76</c:v>
                </c:pt>
                <c:pt idx="3">
                  <c:v>90</c:v>
                </c:pt>
                <c:pt idx="4">
                  <c:v>73</c:v>
                </c:pt>
                <c:pt idx="5">
                  <c:v>82</c:v>
                </c:pt>
                <c:pt idx="6">
                  <c:v>95</c:v>
                </c:pt>
                <c:pt idx="7">
                  <c:v>87</c:v>
                </c:pt>
                <c:pt idx="8">
                  <c:v>86</c:v>
                </c:pt>
                <c:pt idx="9">
                  <c:v>80</c:v>
                </c:pt>
                <c:pt idx="10">
                  <c:v>84</c:v>
                </c:pt>
                <c:pt idx="11">
                  <c:v>86</c:v>
                </c:pt>
                <c:pt idx="12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안도후</c:v>
                </c:pt>
              </c:strCache>
            </c:strRef>
          </c:tx>
          <c:spPr>
            <a:solidFill>
              <a:srgbClr val="E0A33B"/>
            </a:solidFill>
            <a:ln w="25400" cap="flat">
              <a:solidFill>
                <a:srgbClr val="E0A3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A33B"/>
              </a:solidFill>
              <a:ln w="9525" cap="flat">
                <a:solidFill>
                  <a:srgbClr val="E0A3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  <c:pt idx="11">
                    <c:v>중3 3차</c:v>
                  </c:pt>
                  <c:pt idx="12">
                    <c:v>중3 4차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67</c:v>
                </c:pt>
                <c:pt idx="1">
                  <c:v>66</c:v>
                </c:pt>
                <c:pt idx="2">
                  <c:v>72</c:v>
                </c:pt>
                <c:pt idx="3">
                  <c:v>81</c:v>
                </c:pt>
                <c:pt idx="4">
                  <c:v>84</c:v>
                </c:pt>
                <c:pt idx="5">
                  <c:v>83</c:v>
                </c:pt>
                <c:pt idx="6">
                  <c:v>93</c:v>
                </c:pt>
                <c:pt idx="7">
                  <c:v>82</c:v>
                </c:pt>
                <c:pt idx="8">
                  <c:v>77</c:v>
                </c:pt>
                <c:pt idx="9">
                  <c:v>79</c:v>
                </c:pt>
                <c:pt idx="10">
                  <c:v>80</c:v>
                </c:pt>
                <c:pt idx="11">
                  <c:v>88</c:v>
                </c:pt>
                <c:pt idx="12">
                  <c:v>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안동휘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  <c:pt idx="11">
                    <c:v>중3 3차</c:v>
                  </c:pt>
                  <c:pt idx="12">
                    <c:v>중3 4차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58</c:v>
                </c:pt>
                <c:pt idx="1">
                  <c:v>73</c:v>
                </c:pt>
                <c:pt idx="2">
                  <c:v>75</c:v>
                </c:pt>
                <c:pt idx="3">
                  <c:v>78</c:v>
                </c:pt>
                <c:pt idx="4">
                  <c:v>77</c:v>
                </c:pt>
                <c:pt idx="5">
                  <c:v>77</c:v>
                </c:pt>
                <c:pt idx="6">
                  <c:v>90</c:v>
                </c:pt>
                <c:pt idx="7">
                  <c:v>80</c:v>
                </c:pt>
                <c:pt idx="8">
                  <c:v>81</c:v>
                </c:pt>
                <c:pt idx="9">
                  <c:v>91</c:v>
                </c:pt>
                <c:pt idx="10">
                  <c:v>87</c:v>
                </c:pt>
                <c:pt idx="11">
                  <c:v>93</c:v>
                </c:pt>
                <c:pt idx="12">
                  <c:v>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나민하</c:v>
                </c:pt>
              </c:strCache>
            </c:strRef>
          </c:tx>
          <c:spPr>
            <a:solidFill>
              <a:srgbClr val="4F7CAC"/>
            </a:solidFill>
            <a:ln w="25400" cap="flat">
              <a:solidFill>
                <a:srgbClr val="4F7C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CAC"/>
              </a:solidFill>
              <a:ln w="9525" cap="flat">
                <a:solidFill>
                  <a:srgbClr val="4F7C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  <c:pt idx="11">
                    <c:v>중3 3차</c:v>
                  </c:pt>
                  <c:pt idx="12">
                    <c:v>중3 4차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57</c:v>
                </c:pt>
                <c:pt idx="1">
                  <c:v>79</c:v>
                </c:pt>
                <c:pt idx="2">
                  <c:v>76</c:v>
                </c:pt>
                <c:pt idx="3">
                  <c:v>71</c:v>
                </c:pt>
                <c:pt idx="4">
                  <c:v>80</c:v>
                </c:pt>
                <c:pt idx="5">
                  <c:v>74</c:v>
                </c:pt>
                <c:pt idx="6">
                  <c:v>87</c:v>
                </c:pt>
                <c:pt idx="7">
                  <c:v>84</c:v>
                </c:pt>
                <c:pt idx="8">
                  <c:v>89</c:v>
                </c:pt>
                <c:pt idx="9">
                  <c:v>74</c:v>
                </c:pt>
                <c:pt idx="10">
                  <c:v>86</c:v>
                </c:pt>
                <c:pt idx="11">
                  <c:v>74</c:v>
                </c:pt>
                <c:pt idx="12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맞은 개수 평균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듣기 평균 (17문항)</c:v>
                </c:pt>
              </c:strCache>
            </c:strRef>
          </c:tx>
          <c:spPr>
            <a:solidFill>
              <a:srgbClr val="4F7CA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중1 2차 고1</c:v>
                  </c:pt>
                  <c:pt idx="1">
                    <c:v>중1 3차 고1</c:v>
                  </c:pt>
                  <c:pt idx="2">
                    <c:v>중1 4차 고1</c:v>
                  </c:pt>
                  <c:pt idx="3">
                    <c:v>중1 5차 고1</c:v>
                  </c:pt>
                  <c:pt idx="4">
                    <c:v>중2 1차</c:v>
                  </c:pt>
                  <c:pt idx="5">
                    <c:v>중2 2차</c:v>
                  </c:pt>
                  <c:pt idx="6">
                    <c:v>중2 3차 고2</c:v>
                  </c:pt>
                  <c:pt idx="7">
                    <c:v>중2 4차 고2</c:v>
                  </c:pt>
                  <c:pt idx="8">
                    <c:v>중3 1차 고2</c:v>
                  </c:pt>
                  <c:pt idx="9">
                    <c:v>중3 2차 고2</c:v>
                  </c:pt>
                  <c:pt idx="10">
                    <c:v>중3 3차 고3</c:v>
                  </c:pt>
                  <c:pt idx="11">
                    <c:v>중3 4차 수능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</c:v>
                </c:pt>
                <c:pt idx="1">
                  <c:v>16.8</c:v>
                </c:pt>
                <c:pt idx="2">
                  <c:v>16.5</c:v>
                </c:pt>
                <c:pt idx="3">
                  <c:v>16.5</c:v>
                </c:pt>
                <c:pt idx="4">
                  <c:v>16.8</c:v>
                </c:pt>
                <c:pt idx="5">
                  <c:v>16.8</c:v>
                </c:pt>
                <c:pt idx="6">
                  <c:v>16.8</c:v>
                </c:pt>
                <c:pt idx="7">
                  <c:v>16.8</c:v>
                </c:pt>
                <c:pt idx="8">
                  <c:v>16</c:v>
                </c:pt>
                <c:pt idx="9">
                  <c:v>16.8</c:v>
                </c:pt>
                <c:pt idx="10">
                  <c:v>16.8</c:v>
                </c:pt>
                <c:pt idx="1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독해 평균 (28문항)</c:v>
                </c:pt>
              </c:strCache>
            </c:strRef>
          </c:tx>
          <c:spPr>
            <a:solidFill>
              <a:srgbClr val="1E7A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중1 2차 고1</c:v>
                  </c:pt>
                  <c:pt idx="1">
                    <c:v>중1 3차 고1</c:v>
                  </c:pt>
                  <c:pt idx="2">
                    <c:v>중1 4차 고1</c:v>
                  </c:pt>
                  <c:pt idx="3">
                    <c:v>중1 5차 고1</c:v>
                  </c:pt>
                  <c:pt idx="4">
                    <c:v>중2 1차</c:v>
                  </c:pt>
                  <c:pt idx="5">
                    <c:v>중2 2차</c:v>
                  </c:pt>
                  <c:pt idx="6">
                    <c:v>중2 3차 고2</c:v>
                  </c:pt>
                  <c:pt idx="7">
                    <c:v>중2 4차 고2</c:v>
                  </c:pt>
                  <c:pt idx="8">
                    <c:v>중3 1차 고2</c:v>
                  </c:pt>
                  <c:pt idx="9">
                    <c:v>중3 2차 고2</c:v>
                  </c:pt>
                  <c:pt idx="10">
                    <c:v>중3 3차 고3</c:v>
                  </c:pt>
                  <c:pt idx="11">
                    <c:v>중3 4차 수능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17.5</c:v>
                </c:pt>
                <c:pt idx="1">
                  <c:v>18.3</c:v>
                </c:pt>
                <c:pt idx="2">
                  <c:v>19.8</c:v>
                </c:pt>
                <c:pt idx="3">
                  <c:v>19.3</c:v>
                </c:pt>
                <c:pt idx="4">
                  <c:v>19.8</c:v>
                </c:pt>
                <c:pt idx="5">
                  <c:v>24.5</c:v>
                </c:pt>
                <c:pt idx="6">
                  <c:v>21.8</c:v>
                </c:pt>
                <c:pt idx="7">
                  <c:v>21.5</c:v>
                </c:pt>
                <c:pt idx="8">
                  <c:v>20.8</c:v>
                </c:pt>
                <c:pt idx="9">
                  <c:v>21.8</c:v>
                </c:pt>
                <c:pt idx="10">
                  <c:v>22.3</c:v>
                </c:pt>
                <c:pt idx="11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총점 (100점 만점)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구성관</c:v>
                </c:pt>
              </c:strCache>
            </c:strRef>
          </c:tx>
          <c:spPr>
            <a:solidFill>
              <a:srgbClr val="1E7A72"/>
            </a:solidFill>
            <a:ln w="25400" cap="flat">
              <a:solidFill>
                <a:srgbClr val="1E7A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7A72"/>
              </a:solidFill>
              <a:ln w="9525" cap="flat">
                <a:solidFill>
                  <a:srgbClr val="1E7A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71</c:v>
                </c:pt>
                <c:pt idx="1">
                  <c:v>72</c:v>
                </c:pt>
                <c:pt idx="2">
                  <c:v>73</c:v>
                </c:pt>
                <c:pt idx="3">
                  <c:v>83</c:v>
                </c:pt>
                <c:pt idx="4">
                  <c:v>83</c:v>
                </c:pt>
                <c:pt idx="5">
                  <c:v>96</c:v>
                </c:pt>
                <c:pt idx="6">
                  <c:v>97</c:v>
                </c:pt>
                <c:pt idx="7">
                  <c:v>89</c:v>
                </c:pt>
                <c:pt idx="8">
                  <c:v>100</c:v>
                </c:pt>
                <c:pt idx="9">
                  <c:v>95</c:v>
                </c:pt>
                <c:pt idx="10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송지효</c:v>
                </c:pt>
              </c:strCache>
            </c:strRef>
          </c:tx>
          <c:spPr>
            <a:solidFill>
              <a:srgbClr val="E0A33B"/>
            </a:solidFill>
            <a:ln w="25400" cap="flat">
              <a:solidFill>
                <a:srgbClr val="E0A3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A33B"/>
              </a:solidFill>
              <a:ln w="9525" cap="flat">
                <a:solidFill>
                  <a:srgbClr val="E0A3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58</c:v>
                </c:pt>
                <c:pt idx="1">
                  <c:v>81</c:v>
                </c:pt>
                <c:pt idx="2">
                  <c:v>81</c:v>
                </c:pt>
                <c:pt idx="3">
                  <c:v>92</c:v>
                </c:pt>
                <c:pt idx="4">
                  <c:v>94</c:v>
                </c:pt>
                <c:pt idx="5">
                  <c:v>100</c:v>
                </c:pt>
                <c:pt idx="6">
                  <c:v>94</c:v>
                </c:pt>
                <c:pt idx="7">
                  <c:v>92</c:v>
                </c:pt>
                <c:pt idx="8">
                  <c:v>84</c:v>
                </c:pt>
                <c:pt idx="9">
                  <c:v>95</c:v>
                </c:pt>
                <c:pt idx="10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신준섭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70</c:v>
                </c:pt>
                <c:pt idx="1">
                  <c:v>74</c:v>
                </c:pt>
                <c:pt idx="2">
                  <c:v>70</c:v>
                </c:pt>
                <c:pt idx="3">
                  <c:v>75</c:v>
                </c:pt>
                <c:pt idx="4">
                  <c:v>75</c:v>
                </c:pt>
                <c:pt idx="5">
                  <c:v>90</c:v>
                </c:pt>
                <c:pt idx="6">
                  <c:v>79</c:v>
                </c:pt>
                <c:pt idx="7">
                  <c:v>94</c:v>
                </c:pt>
                <c:pt idx="8">
                  <c:v>77</c:v>
                </c:pt>
                <c:pt idx="9">
                  <c:v>89</c:v>
                </c:pt>
                <c:pt idx="10">
                  <c:v>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박주연</c:v>
                </c:pt>
              </c:strCache>
            </c:strRef>
          </c:tx>
          <c:spPr>
            <a:solidFill>
              <a:srgbClr val="4F7CAC"/>
            </a:solidFill>
            <a:ln w="25400" cap="flat">
              <a:solidFill>
                <a:srgbClr val="4F7C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CAC"/>
              </a:solidFill>
              <a:ln w="9525" cap="flat">
                <a:solidFill>
                  <a:srgbClr val="4F7C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중1 1차</c:v>
                  </c:pt>
                  <c:pt idx="1">
                    <c:v>중1 2차</c:v>
                  </c:pt>
                  <c:pt idx="2">
                    <c:v>중1 3차</c:v>
                  </c:pt>
                  <c:pt idx="3">
                    <c:v>중1 4차</c:v>
                  </c:pt>
                  <c:pt idx="4">
                    <c:v>중1 5차</c:v>
                  </c:pt>
                  <c:pt idx="5">
                    <c:v>중2 1차</c:v>
                  </c:pt>
                  <c:pt idx="6">
                    <c:v>중2 2차</c:v>
                  </c:pt>
                  <c:pt idx="7">
                    <c:v>중2 3차</c:v>
                  </c:pt>
                  <c:pt idx="8">
                    <c:v>중2 4차</c:v>
                  </c:pt>
                  <c:pt idx="9">
                    <c:v>중3 1차</c:v>
                  </c:pt>
                  <c:pt idx="10">
                    <c:v>중3 2차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69</c:v>
                </c:pt>
                <c:pt idx="1">
                  <c:v>65</c:v>
                </c:pt>
                <c:pt idx="2">
                  <c:v>71</c:v>
                </c:pt>
                <c:pt idx="3">
                  <c:v>84</c:v>
                </c:pt>
                <c:pt idx="4">
                  <c:v>75</c:v>
                </c:pt>
                <c:pt idx="5">
                  <c:v>92</c:v>
                </c:pt>
                <c:pt idx="6">
                  <c:v>86</c:v>
                </c:pt>
                <c:pt idx="7">
                  <c:v>69</c:v>
                </c:pt>
                <c:pt idx="8">
                  <c:v>70</c:v>
                </c:pt>
                <c:pt idx="9">
                  <c:v>89</c:v>
                </c:pt>
                <c:pt idx="10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맞은 개수 평균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듣기 평균 (17문항)</c:v>
                </c:pt>
              </c:strCache>
            </c:strRef>
          </c:tx>
          <c:spPr>
            <a:solidFill>
              <a:srgbClr val="4F7CA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중1 1차 고1</c:v>
                  </c:pt>
                  <c:pt idx="1">
                    <c:v>중1 2차 고1</c:v>
                  </c:pt>
                  <c:pt idx="2">
                    <c:v>중1 3차 고1</c:v>
                  </c:pt>
                  <c:pt idx="3">
                    <c:v>중1 4차 고1</c:v>
                  </c:pt>
                  <c:pt idx="4">
                    <c:v>중1 5차 고1</c:v>
                  </c:pt>
                  <c:pt idx="5">
                    <c:v>중2 1차 고1</c:v>
                  </c:pt>
                  <c:pt idx="6">
                    <c:v>중2 2차 고1</c:v>
                  </c:pt>
                  <c:pt idx="7">
                    <c:v>중2 3차 고2</c:v>
                  </c:pt>
                  <c:pt idx="8">
                    <c:v>중2 4차 고2</c:v>
                  </c:pt>
                  <c:pt idx="9">
                    <c:v>중3 1차 고2</c:v>
                  </c:pt>
                  <c:pt idx="10">
                    <c:v>중3 2차 고2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16.3</c:v>
                </c:pt>
                <c:pt idx="1">
                  <c:v>16.5</c:v>
                </c:pt>
                <c:pt idx="2">
                  <c:v>16.5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16.5</c:v>
                </c:pt>
                <c:pt idx="8">
                  <c:v>16.5</c:v>
                </c:pt>
                <c:pt idx="9">
                  <c:v>17</c:v>
                </c:pt>
                <c:pt idx="10">
                  <c:v>16.5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독해 평균 (28문항)</c:v>
                </c:pt>
              </c:strCache>
            </c:strRef>
          </c:tx>
          <c:spPr>
            <a:solidFill>
              <a:srgbClr val="1E7A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중1 1차 고1</c:v>
                  </c:pt>
                  <c:pt idx="1">
                    <c:v>중1 2차 고1</c:v>
                  </c:pt>
                  <c:pt idx="2">
                    <c:v>중1 3차 고1</c:v>
                  </c:pt>
                  <c:pt idx="3">
                    <c:v>중1 4차 고1</c:v>
                  </c:pt>
                  <c:pt idx="4">
                    <c:v>중1 5차 고1</c:v>
                  </c:pt>
                  <c:pt idx="5">
                    <c:v>중2 1차 고1</c:v>
                  </c:pt>
                  <c:pt idx="6">
                    <c:v>중2 2차 고1</c:v>
                  </c:pt>
                  <c:pt idx="7">
                    <c:v>중2 3차 고2</c:v>
                  </c:pt>
                  <c:pt idx="8">
                    <c:v>중2 4차 고2</c:v>
                  </c:pt>
                  <c:pt idx="9">
                    <c:v>중3 1차 고2</c:v>
                  </c:pt>
                  <c:pt idx="10">
                    <c:v>중3 2차 고2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14.8</c:v>
                </c:pt>
                <c:pt idx="1">
                  <c:v>17</c:v>
                </c:pt>
                <c:pt idx="2">
                  <c:v>18</c:v>
                </c:pt>
                <c:pt idx="3">
                  <c:v>21</c:v>
                </c:pt>
                <c:pt idx="4">
                  <c:v>20.8</c:v>
                </c:pt>
                <c:pt idx="5">
                  <c:v>25.8</c:v>
                </c:pt>
                <c:pt idx="6">
                  <c:v>23.8</c:v>
                </c:pt>
                <c:pt idx="7">
                  <c:v>23.3</c:v>
                </c:pt>
                <c:pt idx="8">
                  <c:v>21.8</c:v>
                </c:pt>
                <c:pt idx="9">
                  <c:v>24.8</c:v>
                </c:pt>
                <c:pt idx="10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총점 (100점 만점)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김지수</c:v>
                </c:pt>
              </c:strCache>
            </c:strRef>
          </c:tx>
          <c:spPr>
            <a:solidFill>
              <a:srgbClr val="1E7A72"/>
            </a:solidFill>
            <a:ln w="25400" cap="flat">
              <a:solidFill>
                <a:srgbClr val="1E7A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7A72"/>
              </a:solidFill>
              <a:ln w="9525" cap="flat">
                <a:solidFill>
                  <a:srgbClr val="1E7A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중1 1차</c:v>
                  </c:pt>
                  <c:pt idx="1">
                    <c:v>중2 1차</c:v>
                  </c:pt>
                  <c:pt idx="2">
                    <c:v>중2 2차</c:v>
                  </c:pt>
                  <c:pt idx="3">
                    <c:v>중2 3차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66</c:v>
                </c:pt>
                <c:pt idx="2">
                  <c:v>75</c:v>
                </c:pt>
                <c:pt idx="3">
                  <c:v>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김채율</c:v>
                </c:pt>
              </c:strCache>
            </c:strRef>
          </c:tx>
          <c:spPr>
            <a:solidFill>
              <a:srgbClr val="E0A33B"/>
            </a:solidFill>
            <a:ln w="25400" cap="flat">
              <a:solidFill>
                <a:srgbClr val="E0A3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A33B"/>
              </a:solidFill>
              <a:ln w="9525" cap="flat">
                <a:solidFill>
                  <a:srgbClr val="E0A3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중1 1차</c:v>
                  </c:pt>
                  <c:pt idx="1">
                    <c:v>중2 1차</c:v>
                  </c:pt>
                  <c:pt idx="2">
                    <c:v>중2 2차</c:v>
                  </c:pt>
                  <c:pt idx="3">
                    <c:v>중2 3차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87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이서연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중1 1차</c:v>
                  </c:pt>
                  <c:pt idx="1">
                    <c:v>중2 1차</c:v>
                  </c:pt>
                  <c:pt idx="2">
                    <c:v>중2 2차</c:v>
                  </c:pt>
                  <c:pt idx="3">
                    <c:v>중2 3차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</c:v>
                </c:pt>
                <c:pt idx="1">
                  <c:v>87</c:v>
                </c:pt>
                <c:pt idx="2">
                  <c:v>100</c:v>
                </c:pt>
                <c:pt idx="3">
                  <c:v>95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황재성</c:v>
                </c:pt>
              </c:strCache>
            </c:strRef>
          </c:tx>
          <c:spPr>
            <a:solidFill>
              <a:srgbClr val="4F7CAC"/>
            </a:solidFill>
            <a:ln w="25400" cap="flat">
              <a:solidFill>
                <a:srgbClr val="4F7C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CAC"/>
              </a:solidFill>
              <a:ln w="9525" cap="flat">
                <a:solidFill>
                  <a:srgbClr val="4F7C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중1 1차</c:v>
                  </c:pt>
                  <c:pt idx="1">
                    <c:v>중2 1차</c:v>
                  </c:pt>
                  <c:pt idx="2">
                    <c:v>중2 2차</c:v>
                  </c:pt>
                  <c:pt idx="3">
                    <c:v>중2 3차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67</c:v>
                </c:pt>
                <c:pt idx="1">
                  <c:v>88</c:v>
                </c:pt>
                <c:pt idx="2">
                  <c:v>74</c:v>
                </c:pt>
                <c:pt idx="3">
                  <c:v>82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서예준</c:v>
                </c:pt>
              </c:strCache>
            </c:strRef>
          </c:tx>
          <c:spPr>
            <a:solidFill>
              <a:srgbClr val="8A6FA8"/>
            </a:solidFill>
            <a:ln w="25400" cap="flat">
              <a:solidFill>
                <a:srgbClr val="8A6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6FA8"/>
              </a:solidFill>
              <a:ln w="9525" cap="flat">
                <a:solidFill>
                  <a:srgbClr val="8A6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중1 1차</c:v>
                  </c:pt>
                  <c:pt idx="1">
                    <c:v>중2 1차</c:v>
                  </c:pt>
                  <c:pt idx="2">
                    <c:v>중2 2차</c:v>
                  </c:pt>
                  <c:pt idx="3">
                    <c:v>중2 3차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51</c:v>
                </c:pt>
                <c:pt idx="1">
                  <c:v>73</c:v>
                </c:pt>
                <c:pt idx="2">
                  <c:v>82</c:v>
                </c:pt>
                <c:pt idx="3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+mn-lt"/>
              </a:rPr>
              <a:t>맞은 개수 평균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듣기 평균 (17문항)</c:v>
                </c:pt>
              </c:strCache>
            </c:strRef>
          </c:tx>
          <c:spPr>
            <a:solidFill>
              <a:srgbClr val="4F7CA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중1 1차 고1</c:v>
                  </c:pt>
                  <c:pt idx="1">
                    <c:v>중2 1차 고1</c:v>
                  </c:pt>
                  <c:pt idx="2">
                    <c:v>중2 2차 고1</c:v>
                  </c:pt>
                  <c:pt idx="3">
                    <c:v>중2 3차 고2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16.6</c:v>
                </c:pt>
                <c:pt idx="2">
                  <c:v>16.4</c:v>
                </c:pt>
                <c:pt idx="3">
                  <c:v>16.8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독해 평균 (28문항)</c:v>
                </c:pt>
              </c:strCache>
            </c:strRef>
          </c:tx>
          <c:spPr>
            <a:solidFill>
              <a:srgbClr val="1E7A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중1 1차 고1</c:v>
                  </c:pt>
                  <c:pt idx="1">
                    <c:v>중2 1차 고1</c:v>
                  </c:pt>
                  <c:pt idx="2">
                    <c:v>중2 2차 고1</c:v>
                  </c:pt>
                  <c:pt idx="3">
                    <c:v>중2 3차 고2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20.8</c:v>
                </c:pt>
                <c:pt idx="2">
                  <c:v>20.8</c:v>
                </c:pt>
                <c:pt idx="3">
                  <c:v>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2020년, 2023년, 2025년에 중1로 시작한 이사벨 반 세 반의 고1·고2·고3 모의고사와 수능, 학교 내신 성적을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반을 같은 단계로 비교했습니다. 중1 첫 고1 모의고사 평균은 63~67점(4등급권)으로 비슷했고, 중2 3차에 처음 본 고2 모의고사에서는 82~86점(2등급권)이었습니다. 반 평균 기준 상승폭은 16~21점입니다.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최근 시험: 김건희 반은 2023학년도 수능(나민하 미응시로 3명 평균), 구성관 반은 중3 2차 고2 모의고사, 이서연 반은 중2 3차 고2 모의고사입니다.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1M-A 1차 모의고사 상위 4명입니다.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중1은 고1 모의고사 5회, 중2는 4회(3·4차 고2), 중3은 고2 2회, 고3 1회, 2023학년도 수능입니다. 나민하는 수능 날이 기말고사 기간이라 응시하지 않았습니다. 중2 1·2차는 성적표에 시험 수준 표기가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중1 1차는 듣기·독해 개수가 기록되지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내신은 중3 1·2학기 중간·기말 평균입니다. 나민하 2학기 기말은 성적표 작성 시점에 시험 기간이라 빠졌습니다.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1M-S부터 3년 동안 계속 다닌 4명입니다. 김의현·최리원(2023 1차만 응시), 백시우·신상훈(2025 합류)은 제외했습니다.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중1 5회는 모두 고1 모의고사, 2024년 1·2차 고1, 3·4차 고2, 2025년 1·2차 고2 모의고사입니다. 2025년 3·4차(고3)는 받은 사진에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시험(중1 4차)부터 듣기는 거의 전원 만점입니다.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내신은 2023 중1 중간·기말, 2024 중2 기말 점수의 평균입니다. 성적표에 학기 표기가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1M-A에서 2026년 2M-A까지 다닌 5명입니다. 2025년 중1은 1차 성적만 받았습니다. 이시원·한재승(2026 합류)과 김은혜·구승준·김가민(2026 미등록)은 제외했습니다.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중1 1차(고1), 2026년 중2 1·2차(고1), 3차(고2) 모의고사입니다. 중2 4차는 아직 기록이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이서연 반은 중1 기록이 1차뿐이라 중1 → 중2 변화가 크게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내신은 2026 중2 1학기 중간·기말, 2학기 중간 평균입니다.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반 모두 같은 흐름을 보였습니다. 중1에서는 고1 모의고사 4등급권에서 시작하고, 중2에 고2 모의고사 2등급권에 도달합니다. 점수 차이는 대부분 독해에서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Metta 영어 전문학원 · 이사벨 반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이사벨 반 영어 성적 분석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세 반의 중1 → 중3 고등 모의고사·내신 변화 (2020–2026)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Metta 영어 전문학원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세 반 모두 중2에 고2 모의고사 2등급권 도달</a:t>
            </a:r>
            <a:endParaRPr lang="en-US" sz="3200" dirty="0"/>
          </a:p>
        </p:txBody>
      </p:sp>
      <p:sp>
        <p:nvSpPr>
          <p:cNvPr id="3" name="card-A"/>
          <p:cNvSpPr/>
          <p:nvPr/>
        </p:nvSpPr>
        <p:spPr>
          <a:xfrm>
            <a:off x="54864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A-name"/>
          <p:cNvSpPr txBox="1"/>
          <p:nvPr/>
        </p:nvSpPr>
        <p:spPr>
          <a:xfrm>
            <a:off x="82296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2020 김건희 반</a:t>
            </a:r>
            <a:endParaRPr lang="en-US" sz="1800" dirty="0"/>
          </a:p>
        </p:txBody>
      </p:sp>
      <p:sp>
        <p:nvSpPr>
          <p:cNvPr id="5" name="card-A-years"/>
          <p:cNvSpPr txBox="1"/>
          <p:nvPr/>
        </p:nvSpPr>
        <p:spPr>
          <a:xfrm>
            <a:off x="82296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2020–2022 · 1M-A → 2M-A → 3M-A</a:t>
            </a:r>
            <a:endParaRPr lang="en-US" sz="1100" dirty="0"/>
          </a:p>
        </p:txBody>
      </p:sp>
      <p:sp>
        <p:nvSpPr>
          <p:cNvPr id="6" name="card-A-big"/>
          <p:cNvSpPr txBox="1"/>
          <p:nvPr/>
        </p:nvSpPr>
        <p:spPr>
          <a:xfrm>
            <a:off x="82296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+20.5점</a:t>
            </a:r>
            <a:endParaRPr lang="en-US" sz="4800" dirty="0"/>
          </a:p>
        </p:txBody>
      </p:sp>
      <p:sp>
        <p:nvSpPr>
          <p:cNvPr id="7" name="card-A-sub"/>
          <p:cNvSpPr txBox="1"/>
          <p:nvPr/>
        </p:nvSpPr>
        <p:spPr>
          <a:xfrm>
            <a:off x="82296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반 평균: 중1 첫 시험 → 첫 고2 모의고사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62.8 → 83.3점</a:t>
            </a:r>
            <a:endParaRPr lang="en-US" sz="1200" dirty="0"/>
          </a:p>
        </p:txBody>
      </p:sp>
      <p:sp>
        <p:nvSpPr>
          <p:cNvPr id="8" name="card-A-pts"/>
          <p:cNvSpPr txBox="1"/>
          <p:nvPr/>
        </p:nvSpPr>
        <p:spPr>
          <a:xfrm>
            <a:off x="822960" y="4069080"/>
            <a:ext cx="2926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4명 모두 중1 4~5등급에서 시작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중3 수능 평균 87.7점 (2등급)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중3 내신 평균 95~99점</a:t>
            </a:r>
            <a:endParaRPr lang="en-US" sz="1400" dirty="0"/>
          </a:p>
        </p:txBody>
      </p:sp>
      <p:sp>
        <p:nvSpPr>
          <p:cNvPr id="9" name="card-B"/>
          <p:cNvSpPr/>
          <p:nvPr/>
        </p:nvSpPr>
        <p:spPr>
          <a:xfrm>
            <a:off x="429768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B-name"/>
          <p:cNvSpPr txBox="1"/>
          <p:nvPr/>
        </p:nvSpPr>
        <p:spPr>
          <a:xfrm>
            <a:off x="457200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2023 구성관 반</a:t>
            </a:r>
            <a:endParaRPr lang="en-US" sz="1800" dirty="0"/>
          </a:p>
        </p:txBody>
      </p:sp>
      <p:sp>
        <p:nvSpPr>
          <p:cNvPr id="11" name="card-B-years"/>
          <p:cNvSpPr txBox="1"/>
          <p:nvPr/>
        </p:nvSpPr>
        <p:spPr>
          <a:xfrm>
            <a:off x="457200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2023–2025 · 1M-S → 2M-S → 3M-S</a:t>
            </a:r>
            <a:endParaRPr lang="en-US" sz="1100" dirty="0"/>
          </a:p>
        </p:txBody>
      </p:sp>
      <p:sp>
        <p:nvSpPr>
          <p:cNvPr id="12" name="card-B-big"/>
          <p:cNvSpPr txBox="1"/>
          <p:nvPr/>
        </p:nvSpPr>
        <p:spPr>
          <a:xfrm>
            <a:off x="457200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+19.0점</a:t>
            </a:r>
            <a:endParaRPr lang="en-US" sz="4800" dirty="0"/>
          </a:p>
        </p:txBody>
      </p:sp>
      <p:sp>
        <p:nvSpPr>
          <p:cNvPr id="13" name="card-B-sub"/>
          <p:cNvSpPr txBox="1"/>
          <p:nvPr/>
        </p:nvSpPr>
        <p:spPr>
          <a:xfrm>
            <a:off x="457200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반 평균: 중1 첫 시험 → 첫 고2 모의고사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67.0 → 86.0점</a:t>
            </a:r>
            <a:endParaRPr lang="en-US" sz="1200" dirty="0"/>
          </a:p>
        </p:txBody>
      </p:sp>
      <p:sp>
        <p:nvSpPr>
          <p:cNvPr id="14" name="card-B-pts"/>
          <p:cNvSpPr txBox="1"/>
          <p:nvPr/>
        </p:nvSpPr>
        <p:spPr>
          <a:xfrm>
            <a:off x="4572000" y="4069080"/>
            <a:ext cx="2926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1차 고1 모의고사 4명 모두 1등급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구성관 중2 4차 고2 100점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내신 중1·중2 95~100점</a:t>
            </a:r>
            <a:endParaRPr lang="en-US" sz="1400" dirty="0"/>
          </a:p>
        </p:txBody>
      </p:sp>
      <p:sp>
        <p:nvSpPr>
          <p:cNvPr id="15" name="card-C"/>
          <p:cNvSpPr/>
          <p:nvPr/>
        </p:nvSpPr>
        <p:spPr>
          <a:xfrm>
            <a:off x="804672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C-name"/>
          <p:cNvSpPr txBox="1"/>
          <p:nvPr/>
        </p:nvSpPr>
        <p:spPr>
          <a:xfrm>
            <a:off x="832104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2025 이서연 반</a:t>
            </a:r>
            <a:endParaRPr lang="en-US" sz="1800" dirty="0"/>
          </a:p>
        </p:txBody>
      </p:sp>
      <p:sp>
        <p:nvSpPr>
          <p:cNvPr id="17" name="card-C-years"/>
          <p:cNvSpPr txBox="1"/>
          <p:nvPr/>
        </p:nvSpPr>
        <p:spPr>
          <a:xfrm>
            <a:off x="832104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2025–2026 · 1M-A → 2M-A</a:t>
            </a:r>
            <a:endParaRPr lang="en-US" sz="1100" dirty="0"/>
          </a:p>
        </p:txBody>
      </p:sp>
      <p:sp>
        <p:nvSpPr>
          <p:cNvPr id="18" name="card-C-big"/>
          <p:cNvSpPr txBox="1"/>
          <p:nvPr/>
        </p:nvSpPr>
        <p:spPr>
          <a:xfrm>
            <a:off x="832104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+16.4점</a:t>
            </a:r>
            <a:endParaRPr lang="en-US" sz="4800" dirty="0"/>
          </a:p>
        </p:txBody>
      </p:sp>
      <p:sp>
        <p:nvSpPr>
          <p:cNvPr id="19" name="card-C-sub"/>
          <p:cNvSpPr txBox="1"/>
          <p:nvPr/>
        </p:nvSpPr>
        <p:spPr>
          <a:xfrm>
            <a:off x="832104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반 평균: 중1 첫 시험 → 첫 고2 모의고사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65.6 → 82.0점</a:t>
            </a:r>
            <a:endParaRPr lang="en-US" sz="1200" dirty="0"/>
          </a:p>
        </p:txBody>
      </p:sp>
      <p:sp>
        <p:nvSpPr>
          <p:cNvPr id="20" name="card-C-pts"/>
          <p:cNvSpPr txBox="1"/>
          <p:nvPr/>
        </p:nvSpPr>
        <p:spPr>
          <a:xfrm>
            <a:off x="8321040" y="4069080"/>
            <a:ext cx="2926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5명 중 4명이 중2에 2등급 이상 경험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서예준 51 → 80점 (+29)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내신 평균 88~100점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같은 단계에서 본 세 반의 평균 총점</a:t>
            </a:r>
            <a:endParaRPr lang="en-US" sz="3200" dirty="0"/>
          </a:p>
        </p:txBody>
      </p:sp>
      <p:graphicFrame>
        <p:nvGraphicFramePr>
          <p:cNvPr id="3" name="compare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pare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세 반 모두 중1 첫 시험은 4등급권(63~67점)에서 출발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3차, 처음 본 고2 모의고사에서 세 반 모두 82~86점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구성관 반은 중2 1차 고1 모의고사 평균 94.5점으로 가장 높음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이서연 반 중1은 1차만 기록이 있어 중1 마지막 = 중1 첫 시험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2020 중1 반 · 김건희 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김건희 · 안도후 · 안동휘 · 나민하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2020 1M-A → 2021 2M-A → 2022 3M-A · 고1 모의고사부터 수능까지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3년 동안 4~5등급에서 2등급권으로</a:t>
            </a:r>
            <a:endParaRPr lang="en-US" sz="3200" dirty="0"/>
          </a:p>
        </p:txBody>
      </p:sp>
      <p:graphicFrame>
        <p:nvGraphicFramePr>
          <p:cNvPr id="3" name="total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tal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중1 첫 시험 평균 62.8점 → 중3 수능 87.7점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2차에 4명 모두 87점 이상, 3명 1등급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안동휘 58 → 87점(+29)으로 상승폭 최대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나민하는 중3에서 74 → 86 → 74점으로 기복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듣기는 처음부터 만점권, 차이는 독해</a:t>
            </a:r>
            <a:endParaRPr lang="en-US" sz="3200" dirty="0"/>
          </a:p>
        </p:txBody>
      </p:sp>
      <p:graphicFrame>
        <p:nvGraphicFramePr>
          <p:cNvPr id="3" name="lr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r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듣기 평균은 3년 내내 16~17개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독해 평균 17.5개(중1 2차) → 23.0개(수능)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2차 독해 평균 24.5개로 최고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시험이 고2·고3으로 어려워져도 독해 21~23개 유지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학생별 변화와 중3 내신</a:t>
            </a:r>
            <a:endParaRPr lang="en-US" sz="3200" dirty="0"/>
          </a:p>
        </p:txBody>
      </p:sp>
      <p:graphicFrame>
        <p:nvGraphicFramePr>
          <p:cNvPr id="8" name="stud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2148840"/>
                <a:gridCol w="1005840"/>
                <a:gridCol w="109728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학생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중1 첫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가장 최근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변화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최고 점수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중3 내신 평균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김건희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88점 (중3 4차)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안도후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88점 (중3 4차)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+21점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93점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안동휘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58점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87점 (중3 4차)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+29점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93점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나민하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74점 (중3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4명 모두 중3 내신 평균 95점 이상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안도후 2학기 중간·기말 모두 100점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안동휘 1학기 중간 87 → 이후 98~100점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모의고사와 내신을 함께 끌어올린 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2023 중1 반 · 구성관 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구성관 · 송지효 · 신준섭 · 박주연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2023 1M-S → 2024 2M-S → 2025 3M-S · 고1·고2 모의고사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중2 1차, 4명 모두 고1 모의고사 1등급</a:t>
            </a:r>
            <a:endParaRPr lang="en-US" sz="3200" dirty="0"/>
          </a:p>
        </p:txBody>
      </p:sp>
      <p:graphicFrame>
        <p:nvGraphicFramePr>
          <p:cNvPr id="3" name="total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tal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중1 첫 시험 평균 67.0점 → 중2 1차 94.5점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송지효 58점(5등급) → 중2 1차 100점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구성관 중2 4차 고2 100점, 중3 92~95점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고2 시험부터 신준섭·박주연은 기복이 커짐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독해 평균 14.8개 → 25.8개</a:t>
            </a:r>
            <a:endParaRPr lang="en-US" sz="3200" dirty="0"/>
          </a:p>
        </p:txBody>
      </p:sp>
      <p:graphicFrame>
        <p:nvGraphicFramePr>
          <p:cNvPr id="3" name="lr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r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듣기 평균 16~17개로 안정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독해는 중1 1차 14.8개에서 중2 1차 25.8개로 증가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고2 모의고사에서는 독해 21.8~24.8개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중3 2차 신준섭 독해 17개 → 집중 관리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학생별 변화와 내신</a:t>
            </a:r>
            <a:endParaRPr lang="en-US" sz="3200" dirty="0"/>
          </a:p>
        </p:txBody>
      </p:sp>
      <p:graphicFrame>
        <p:nvGraphicFramePr>
          <p:cNvPr id="12" name="stud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2148840"/>
                <a:gridCol w="1005840"/>
                <a:gridCol w="109728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학생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중1 첫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가장 최근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변화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최고 점수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내신 평균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구성관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92점 (중3 2차)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+21점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송지효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58점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95점 (중3 2차)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+37점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신준섭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74점 (중3 2차)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+4점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94점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박주연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85점 (중3 2차)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+16점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92점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송지효 +37점으로 상승폭 최대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구성관·송지효는 중3에서도 1등급 유지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박주연은 중2 고2 시험 69~70점 → 중3 85~89점으로 회복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내신은 4명 모두 95~100점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2025 중1 반 · 이서연 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김지수 · 김채율 · 이서연 · 황재성 · 서예준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2025 1M-A → 2026 2M-A · 고1·고2 모의고사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중1 첫 시험 65.6점 → 중2 고2 모의고사 82.0점</a:t>
            </a:r>
            <a:endParaRPr lang="en-US" sz="3200" dirty="0"/>
          </a:p>
        </p:txBody>
      </p:sp>
      <p:graphicFrame>
        <p:nvGraphicFramePr>
          <p:cNvPr id="3" name="total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tal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서예준 51 → 80점(+29), 5등급에서 2등급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이서연 중2 2차 100점, 고2 시험 95점 1등급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김지수 63 → 66 → 75 → 77점 꾸준히 상승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김채율·황재성은 중2 1차 87·88점 후 70점대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독해 평균 15.0개 → 21.0개</a:t>
            </a:r>
            <a:endParaRPr lang="en-US" sz="3200" dirty="0"/>
          </a:p>
        </p:txBody>
      </p:sp>
      <p:graphicFrame>
        <p:nvGraphicFramePr>
          <p:cNvPr id="3" name="lr-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r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듣기 평균 15.8개 → 16.8개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독해는 중1 1차 15.0개에서 중2 21개 안팎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서예준 독해 8개 → 20개, 김채율 11개 → 19~23개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중2 2차부터 독해 개수 차이가 학생별로 벌어짐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학생별 변화와 중2 내신</a:t>
            </a:r>
            <a:endParaRPr lang="en-US" sz="3200" dirty="0"/>
          </a:p>
        </p:txBody>
      </p:sp>
      <p:graphicFrame>
        <p:nvGraphicFramePr>
          <p:cNvPr id="16" name="stud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2148840"/>
                <a:gridCol w="1005840"/>
                <a:gridCol w="109728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학생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중1 첫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가장 최근 시험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변화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최고 점수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중2 내신 평균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김지수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77점 (중2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+14점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김채율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76점 (중2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94.3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이서연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95점 (중2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황재성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82점 (중2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+15점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서예준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80점 (중2 3차)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+29점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s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이서연·김지수 내신 평균 99점 이상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황재성 1학기 기말 100점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서예준은 모의고사 상승폭 최대(+29), 내신 88점대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김채율은 내신 89 → 100 → 94점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정리와 앞으로의 지도 방향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듣기는 중1부터 16~17개로 안정 → 수업 시간은 독해 구문·어휘에 집중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고2·고3 시험으로 넘어갈 때 기복이 생기는 학생은 독해 유형별 오답 관리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내신 95점 이상과 모의고사 2등급권을 함께 달성할 수 있음을 세 반이 보여줌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다음 업데이트: 구성관 반 고3 모의고사, 이서연 반 중2 4차·중3 결과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abel Grades">
  <a:themeElements>
    <a:clrScheme name="Isabel Grades">
      <a:dk1>
        <a:srgbClr val="1F2A30"/>
      </a:dk1>
      <a:lt1>
        <a:srgbClr val="FFFFFF"/>
      </a:lt1>
      <a:dk2>
        <a:srgbClr val="17403D"/>
      </a:dk2>
      <a:lt2>
        <a:srgbClr val="EEF4F2"/>
      </a:lt2>
      <a:accent1>
        <a:srgbClr val="1E7A72"/>
      </a:accent1>
      <a:accent2>
        <a:srgbClr val="E0A33B"/>
      </a:accent2>
      <a:accent3>
        <a:srgbClr val="C8553D"/>
      </a:accent3>
      <a:accent4>
        <a:srgbClr val="4F7CAC"/>
      </a:accent4>
      <a:accent5>
        <a:srgbClr val="8A6FA8"/>
      </a:accent5>
      <a:accent6>
        <a:srgbClr val="7A9E7E"/>
      </a:accent6>
      <a:hlink>
        <a:srgbClr val="1E7A72"/>
      </a:hlink>
      <a:folHlink>
        <a:srgbClr val="8A6FA8"/>
      </a:folHlink>
    </a:clrScheme>
    <a:fontScheme name="Isabel Grade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이사벨 반 영어 성적 분석</dc:title>
  <dc:subject>PptxGenJS Presentation</dc:subject>
  <dc:creator>Isabel</dc:creator>
  <cp:lastModifiedBy>Isabel</cp:lastModifiedBy>
  <cp:revision>1</cp:revision>
  <dcterms:created xsi:type="dcterms:W3CDTF">2026-10-27T06:44:34Z</dcterms:created>
  <dcterms:modified xsi:type="dcterms:W3CDTF">2026-10-27T06:44:34Z</dcterms:modified>
</cp:coreProperties>
</file>
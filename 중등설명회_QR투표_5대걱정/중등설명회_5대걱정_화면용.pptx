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투표와 목록" id="{da160fab-ed26-1863-8a0c-b86f46d95cf2}">
          <p14:sldIdLst>
            <p14:sldId id="256"/>
            <p14:sldId id="257"/>
            <p14:sldId id="258"/>
            <p14:sldId id="259"/>
          </p14:sldIdLst>
        </p14:section>
        <p14:section name="1. 영어 실력" id="{c87ad2b8-177b-ff2b-bd7d-eb22fce5294a}">
          <p14:sldIdLst>
            <p14:sldId id="260"/>
            <p14:sldId id="261"/>
            <p14:sldId id="262"/>
          </p14:sldIdLst>
        </p14:section>
        <p14:section name="2. 내신" id="{deedd1da-cb86-4cef-48b8-3d5cc123686b}">
          <p14:sldIdLst>
            <p14:sldId id="263"/>
            <p14:sldId id="264"/>
            <p14:sldId id="265"/>
          </p14:sldIdLst>
        </p14:section>
        <p14:section name="3. 입시제도" id="{81c06343-84da-507e-a7d7-ef617d6b3712}">
          <p14:sldIdLst>
            <p14:sldId id="266"/>
            <p14:sldId id="267"/>
            <p14:sldId id="268"/>
            <p14:sldId id="269"/>
          </p14:sldIdLst>
        </p14:section>
        <p14:section name="4. 고교 선택" id="{dbd67834-a8b0-330a-b590-8625cae99c20}">
          <p14:sldIdLst>
            <p14:sldId id="270"/>
            <p14:sldId id="271"/>
            <p14:sldId id="272"/>
          </p14:sldIdLst>
        </p14:section>
        <p14:section name="5. 아이의 학습 태도" id="{085d71c5-8e50-50b2-7c33-2524da8aaee4}">
          <p14:sldIdLst>
            <p14:sldId id="273"/>
            <p14:sldId id="274"/>
            <p14:sldId id="275"/>
          </p14:sldIdLst>
        </p14:section>
        <p14:section name="정리" id="{4f19080c-bb20-982c-0581-bf9cdb5c102b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응답 수</c:v>
                </c:pt>
              </c:strCache>
            </c:strRef>
          </c:tx>
          <c:spPr>
            <a:solidFill>
              <a:srgbClr val="0D6A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320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 영어 실력</c:v>
                  </c:pt>
                  <c:pt idx="1">
                    <c:v>2  내신</c:v>
                  </c:pt>
                  <c:pt idx="2">
                    <c:v>3  입시제도</c:v>
                  </c:pt>
                  <c:pt idx="3">
                    <c:v>4  고교 선택</c:v>
                  </c:pt>
                  <c:pt idx="4">
                    <c:v>5  아이의 학습 태도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320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320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[인사] 바쁘신 중에 와 주셔서 감사합니다. 오늘은 1시간 30분 동안 중등 3년과 입시를 함께 보겠습니다.
[안내] 들어오시면서 QR로 '지금 가장 걱정되는 것'을 골라 주셨습니다. 오늘은 제가 준비한 순서가 아니라, 부모님들이 고르신 순서대로 설명드리겠습니다.
[팁] 아직 투표 안 하신 분이 있으면 다음 장의 QR을 1분 정도 띄워 두고 기다립니다.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[진행] 입장 때 투표하지 못하신 분은 지금 QR을 찍어 주세요. 하나만 고르시면 됩니다.
· 1 영어 실력 · 2 내신 · 3 입시제도 · 4 고교 선택 · 5 아이의 학습 태도
[준비] 이 상자 자리에 투표 도구(구글 설문·Slido·Mentimeter 등)의 QR 이미지를 붙여 넣으세요. 점선 상자는 QR을 올린 뒤 지워도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[준비] 간담회 직전, 차트를 마우스 오른쪽 클릭 → '데이터 편집'에서 1~5번 응답 수를 입력하세요. 막대와 숫자가 자동으로 바뀝니다. (투표 도구의 실시간 결과 화면을 바로 띄우셔도 됩니다.)
[첫마디] 결과를 보시죠. 가장 많이 고르신 것이 ○번입니다. 오늘 이 순서로 가겠습니다.
[팁] 1위와 꼴찌를 모두 짚어 주세요. '○번을 고르신 분이 적은데, 사실 이게 다른 걱정들의 뿌리입니다'라고 하면 모든 주제에 관심이 유지됩니다.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[사용법] 슬라이드 쇼에서 큰 번호나 주제명을 클릭하면 그 설명의 첫 장으로 바로 갑니다. 각 설명의 마지막 장 오른쪽 위 '← 다섯 가지 목록으로'를 누르면 이 장으로 돌아옵니다.
[키보드] 슬라이드 쇼 중에 번호를 누르고 Enter를 치면 그 장으로 이동합니다. 1번 영어 실력=5, 2번 내신=8, 3번 입시제도=11, 4번 고교 선택=15, 5번 학습 태도=18.
[연결] 원래 간담회 자료(60쪽)를 설명하시다가 해당 주제가 나오면 이 자료의 같은 번호로 넘어와도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영어 실력을 고르신 분이 많습니다. 영어학원이니 당연히 길게 말씀드려야 하지만, 오늘은 숫자 세 개와 계획표 하나로 정리하겠습니다.
[핵심] 결론부터: 영어는 중3까지 고3 수준을 끝내 놓는 과목입니다. 그래야 고등학교에서 국어·수학·탐구에 시간을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수능 영어는 다른 과목과 계산 방식이 다릅니다. 90점만 넘으면 1등급입니다.
· 정원이 없습니다. 우리 반 스무 명이 다 90점을 넘으면 스무 명이 다 1등급입니다. 그래서 1등급은 목표가 아니라 기본값입니다.
· 올해 9월 모의평가는 1등급이 18~19%대로 예상될 만큼 쉬웠고, 지난해는 3%대까지 떨어져 평가원이 유감을 표명했습니다. 시험마다 출렁입니다.
[대본] 그래서 저희는 96점을 목표로 합니다. 6점이 안전판입니다. 그리고 수능 점수만이 아닙니다. 서울대는 사회과학대·경영대·의대 등 여러 모집단위 면접에서 영어 지문을 씁니다. 수능 영어 90점 넘으면 끝이라고 고3에 영어를 놓으면, 면접에서 막힙니다.
Q. 수능 영어가 쉬워지면 영어를 덜 해도 되지 않나요?
A. 수능에서 영어 점수의 무게는 줄어듭니다. 솔직히 말씀드립니다. 하지만 1등급을 못 받으면 감점이고, 최저학력기준에도 영어가 빠지지 않으며, 변별은 면접·논술로 옮겨갑니다. 덜 해도 되는 게 아니라 일찍 끝내야 하는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그럼 언제까지 무엇을 하느냐. 저희 계획표입니다.
· 1년차는 어휘와 문장 반복, 2년차는 중학 교육청 듣기평가, 3년차에 고2 모의고사, 4년차에 고3 모의고사를 풉니다. 중1에 시작하면 중3에 고3 듣기를 풉니다.
· 주 3일, 하루 135분입니다. 1교시 단어·듣기, 2교시 문법, 3교시 독해, 그리고 원어민 수업이 주 1회 정규 시간 안에 들어갑니다.
[증거] 오른쪽은 실제 1M-A 반 결과입니다. D 학생은 51점 5등급에서 86점 2등급이 됐습니다. 한 학기 만에 바뀌지는 않습니다. 매주 같은 것을 반복한 1년이 만든 결과입니다.
Q. 중3까지 고3 수준이 정말 가능한가요?
A. 매일 하면 됩니다. 지금 저희 중3 학생들이 고2·고3 모의고사를 풀고 있습니다.
[이동] 설명이 끝나면 오른쪽 위 '← 다섯 가지 목록으로'를 눌러 다음 번호로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내신을 고르신 분들, 대부분 '서술형' 때문에 걱정하십니다. 맞습니다. 서술형이 핵심입니다.
[핵심] 고등학교 내신 1등급은 넓어져서 '입장권'이 됐고, 중학교 시험은 이미 서술형 40% 시대입니다. 서술형의 채점 기준은 문법입니다.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오늘 숫자 중에 가장 중요한 표입니다. 고교 내신이 9등급에서 5등급으로 바뀌었습니다.
· 1등급이 4%에서 10%로 넓어졌습니다. 2등급까지 누적 34%, 3등급까지 66%입니다. 지금 고1부터 적용 중인 확정 사항입니다.
· 성적표에 성취도 A~E와 석차등급이 함께 찍히고, 논·서술형 평가가 확대됩니다.
[대본] 1등급 받기 쉬워진 것처럼 보이시죠. 반대로 생각해 보셔야 합니다. 열 명 중 한 명이 1등급이면, 1등급끼리는 구분이 안 됩니다. 그러면 대학은 학생부를 읽습니다. 그래서 1등급은 입장권이고 그 다음이 승부입니다.
Q. 그럼 내신 공부를 덜 해도 되나요?
A. 아닙니다. 1등급 안에 들어가야 하는 건 똑같습니다. 다만 그 뒤에 세특에 쓸 내용, 즉 수업에서 한 활동이 필요해졌습니다.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이것이 실제 중학교 수행평가 채점 기준입니다.
· 15문장 이상 써야 하고, 문장이 모자라면 감점입니다. as~as, 관계대명사, 의문사+to부정사를 반드시 써야 하고, 표현·철자 오류 개수로 또 감점합니다.
· 중간·기말에서도 서술형이 각각 약 40%입니다. 교과서 밖 지문을 주고 틀린 곳을 찾아 고쳐 쓰라는 문제도 나옵니다. 사소한 실수라도 문법 실수면 크게 감점됩니다.
[우리가 하는 것] Grammar TAPA Level 1·2·3으로 중학 문법을 3단계로 학습하고, 쎄듀 『쓰작』으로 서술형을 연습합니다. 수업의 20%는 읽은 것을 자기 말로 다시 쓰는 시간입니다.
[증거] 그 결과 중등부 학생 67%가 2학기 중간고사 영어 90점 이상을 받았습니다.
[이동] '← 다섯 가지 목록으로'를 눌러 다음 번호로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입시제도가 걱정이시라는 건, 뉴스가 너무 많아서 헷갈리신다는 뜻입니다. 지금 개편이 두 개 겹쳐 있어서 그렇습니다.
[핵심] 확정된 2028 개편과 논의 중인 2033 개편을 나눠서 들으시면 됩니다. 그리고 어느 쪽이 되든 남는 방향이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이 표에서 내 아이 줄을 못 찾으면, 오늘 말씀이 전부 남의 이야기가 됩니다. 잠깐 시간을 드릴 테니 찾아 주세요.
· 고1이 되는 해에 3을 더하면 대입 학년도입니다. 수능 보는 해가 아니라 그 다음 해입니다.
· 중3·중2는 확정된 2028 개편을 그대로 적용받습니다. 중1은 2028 개편이지만 일부 바뀔 수 있고, 초6부터는 지금 논의 중인 새 제도가 유력합니다.
Q. 학년도라는 말이 헷갈립니다.
A. 대학에 입학하는 해입니다. 2027년 11월에 수능을 보고 2028년 3월에 입학하면 2028학년도입니다.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왼쪽은 확정, 오른쪽은 논의 중입니다. 섞어서 들으시면 불필요하게 불안해지십니다.
· 2028 개편은 2023년 12월 확정됐습니다. 수능 선택과목이 없어지고, 내신이 5등급이 되고, 고교학점제가 시행됩니다.
· 2033 개편은 국가교육위원회가 논의 중입니다. 2026년 10월 말 시안, 하반기 공론화, 2027년 3월 최종안 확정 일정입니다. 아직 확정된 것은 없습니다.
[주의] 찬반이 갈려 있습니다. 어느 편도 들지 않습니다. '수능이 변별을 못 하면 그 역할이 어디론가 옮겨간다'는 우려에만 동의한다고 말합니다.
[대본] 셋 다 한 방향입니다. 고르는 시험에서 쓰는 시험으로. 그래서 지금은 학원을 옮기거나 과목을 바꾸실 때가 아닙니다. 내년 3월에 윤곽이 나오면 다시 자리를 만들어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이 숫자 두 개만 기억하셔도 오늘 오신 보람이 있습니다.
· 수시 80.8%, 정시 19.2%입니다. 수시가 오히려 늘었습니다. 수시의 핵심은 내신과 학생부입니다.
· 비수도권 의·치·한·약 지역인재 선발 비율이 61.3%입니다. 호남권 지역인재 선발 인원 956명은 전국 권역 중 가장 많습니다.
[가장 중요] 2028학년도부터는 중학교도 비수도권을 졸업해야 합니다. 지금 중학생은 전원 해당됩니다. 우리 아이는 이미 자격을 갖고 있습니다. 지키기만 하면 됩니다.
Q. 정시로 가면 학교 성적은 안 보나요?
A. 서울대는 정시에서도 교과평가를 반영하고, 2028부터 비중이 커집니다(일반전형 2단계 교과 20% → 40%).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고교 선택을 고르신 분들. 고등학교가 예전과 완전히 달라졌기 때문에 이 걱정은 당연합니다.
[핵심] 고교학점제로 고등학교가 대학처럼 바뀌었고, 학교를 고를 때는 학교알리미의 숫자 네 가지를 보시면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고등학교가 대학처럼 바뀌었습니다. 2025년 고1부터 고교학점제가 전면 시행됐습니다.
· 과목이 공통·일반선택·진로선택·융합선택 네 종류로 나뉩니다. 영어는 공통영어1·2가 기준선이고, 수능 범위는 일반선택 영어Ⅰ·Ⅱ까지입니다.
· 융합선택은 석차등급이 안 나옵니다. 등급 부담 없이 진로 관련 과목을 들을 수 있다는 뜻이라, 어떤 과목을 고르느냐가 전략이 됩니다.
· 출석만 채우면 졸업하던 시대가 끝났습니다. 과목별 기준을 못 넘으면 미이수입니다.
Q. 과목을 아이가 잘 고를 수 있을까요?
A. 그래서 중학교 3년 동안 진로를 탐색합니다. 다만 부모님이 대신 골라 주시면 안 됩니다. 학생부에 그 흔적이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일반고를 고를 때도 아무 데나 가시면 안 됩니다. 학교알리미에서 네 가지를 보세요.
· 과목별 A 비율, 표준편차, 특색사업과 방과후학교, 창체 동아리 현황입니다.
· 표준편차가 낮으면 대다수가 평균에 몰려 있어 내신 관리가 어렵습니다. 일반고 평균 20~22, 특목고·자사고 10~15입니다.
[예시] 같은 지역 두 학교 1학년 1학기 영어입니다. 국제고는 평균이 높고 표준편차가 16.2로 작습니다. 일반고는 E 비율이 43.9%입니다.
[연결] 3번에서 말씀드린 지역인재 자격도 고교 선택의 기준입니다. 수도권으로 옮기면 자격이 사라집니다.
[이동] '← 다섯 가지 목록으로'를 눌러 다음 번호로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학습 태도를 고르신 분들, 사실 다른 네 가지 걱정의 뿌리가 여기 있습니다. 영어 실력도 내신도 결국 태도에서 나옵니다.
[핵심] 이제 태도는 학생부에 기록으로 남고, 그 기록이 입시가 됩니다. 그리고 습관은 의지가 아니라 매일 같은 것을 반복하는 구조가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추상적으로 들리실 수 있지만 아주 구체적인 숫자가 있습니다.
· 출결: 미인정 지각·조퇴·결과 3회가 미인정 결석 1일이 됩니다. 늦잠 세 번이 결석 한 번입니다.
· 수업 태도: 세특은 과목별 500자입니다. 선생님이 수업 참여도, 과제 집착력, 자기주도학습을 보고 씁니다. 수업 시간에 엎드려 있는 아이는 쓸 게 없습니다.
· 탐구 습관: '수업에서 관심이 생겨 → 관련 책을 찾아 → 추가로 학습했다.' 이 흐름이 학생부 모든 항목의 뼈대입니다.
[연결] 고교학점제에서는 과목별 출석률·성취율을 못 넘으면 미이수입니다. 중학교 때 습관이 안 잡힌 아이는 고등학교에서 바로 드러납니다.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[첫마디] 아이에게 '스스로 해라'는 말은 효과가 없습니다. 습관은 구조가 만듭니다.
· 학원에서는 Class Card로 매일 단어·듣기를 하고, 2개월마다 모의고사를 보고, 모의고사·중간·기말을 한 장의 관리표에 기록해 원장·강사·학부모가 같은 표를 봅니다. 성적이 흔들리면 바로 연락드립니다.
[부탁] 가정에서는 세 가지만 부탁드립니다. 출결 지키기, 매일 같은 시간에 Class Card 진행 함께 보기, 그리고 진로와 과목은 아이가 고르게 하기.
[실물] 성적 관리표 실물을 들어 보이면 좋습니다.
[이동] '← 다섯 가지 목록으로'를 눌러 남은 번호로 가거나, 다 끝났으면 다음 장 정리로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[정리] 오늘 고르신 다섯 가지 걱정을 한 줄씩 정리하겠습니다. (표를 읽어 줍니다.)
[마무리] 다섯 개가 다 다른 걱정 같지만 답은 하나입니다. 제도가 흔들릴 때 학원을 옮기거나 과목을 바꾸는 분들이 계신데, 대개 손해를 봅니다. 지금은 바꿀 때가 아니라 쌓을 때입니다.
[안내] 질문은 10분 정도 받겠습니다. 모르는 것은 '확인해서 알려드리겠습니다'로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[마무리] 투표에서 고르신 걱정을 상담 신청서에 적어 주시면, 그 주제부터 아이 성적표와 함께 말씀드리겠습니다. 참여 선물 잊지 말고 챙겨 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A4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D6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금호 메타 영어학원  |  중등 학부모 간담회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023360" y="19659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금호 메타 영어학원  |  중등 학부모 간담회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" Target="slide8.xml"/><Relationship Id="rId4" Type="http://schemas.openxmlformats.org/officeDocument/2006/relationships/slide" Target="slide8.xml"/><Relationship Id="rId5" Type="http://schemas.openxmlformats.org/officeDocument/2006/relationships/slide" Target="slide11.xml"/><Relationship Id="rId6" Type="http://schemas.openxmlformats.org/officeDocument/2006/relationships/slide" Target="slide11.xml"/><Relationship Id="rId7" Type="http://schemas.openxmlformats.org/officeDocument/2006/relationships/slide" Target="slide15.xml"/><Relationship Id="rId8" Type="http://schemas.openxmlformats.org/officeDocument/2006/relationships/slide" Target="slide15.xml"/><Relationship Id="rId9" Type="http://schemas.openxmlformats.org/officeDocument/2006/relationships/slide" Target="slide18.xml"/><Relationship Id="rId10" Type="http://schemas.openxmlformats.org/officeDocument/2006/relationships/slide" Target="slide18.xml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2027 중등과정 학부모 간담회</a:t>
            </a:r>
            <a:endParaRPr lang="en-US" sz="18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다섯 가지 걱정,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하나씩 답해 드리겠습니다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입장하실 때 해 주신 QR 투표 결과 순서대로 설명합니다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금호 메타 영어학원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지금 가장 걱정되는 것 하나를 골라 주세요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QR 투표</a:t>
            </a:r>
            <a:endParaRPr lang="en-US" sz="1400" dirty="0"/>
          </a:p>
        </p:txBody>
      </p:sp>
      <p:sp>
        <p:nvSpPr>
          <p:cNvPr id="4" name="QR-placeholder"/>
          <p:cNvSpPr/>
          <p:nvPr/>
        </p:nvSpPr>
        <p:spPr>
          <a:xfrm>
            <a:off x="548640" y="169164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9050">
            <a:solidFill>
              <a:srgbClr val="0D6A5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QR 코드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붙여 넣기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휴대폰 카메라로 비추면 바로 투표 화면이 열립니다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40680" y="1719072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영어 실력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121408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우리 아이 영어, 지금 이대로 괜찮을까요?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0" y="2523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505456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내신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907792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중학교 시험, 서술형이 너무 어렵다는데요?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33101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3310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3291840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입시제도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694176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제도가 계속 바뀐다는데 무엇을 믿어야 하나요?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409651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4078224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고교 선택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어느 고등학교에 보내야 할까요?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48828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40680" y="4864608"/>
            <a:ext cx="6172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아이의 학습 태도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266944"/>
            <a:ext cx="6172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아이가 스스로 공부하지 않아요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투표 결과 — 부모님들이 가장 걱정하시는 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투표 결과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가장 많이 고르신 번호부터 하나씩 설명드리겠습니다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결과 순서대로 하나씩 보겠습니다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목록 — 번호를 누르면 해당 설명으로 이동</a:t>
            </a:r>
            <a:endParaRPr lang="en-US" sz="1400" dirty="0"/>
          </a:p>
        </p:txBody>
      </p:sp>
      <p:sp>
        <p:nvSpPr>
          <p:cNvPr id="4" name="hub-card-1"/>
          <p:cNvSpPr/>
          <p:nvPr/>
        </p:nvSpPr>
        <p:spPr>
          <a:xfrm>
            <a:off x="548640" y="1691640"/>
            <a:ext cx="2066544" cy="36118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u="sng" dirty="0">
                <a:solidFill>
                  <a:schemeClr val="accent1"/>
                </a:solidFill>
                <a:hlinkClick r:id="rId1" action="ppaction://hlinksldjump" tooltip="영어 실력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chemeClr val="tx1"/>
                </a:solidFill>
                <a:hlinkClick r:id="rId2" action="ppaction://hlinksldjump" tooltip="영어 실력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영어 실력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749040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영어는 중3까지 고3 수준을 끝내 놓는 과목입니다</a:t>
            </a:r>
            <a:endParaRPr lang="en-US" sz="1300" dirty="0"/>
          </a:p>
        </p:txBody>
      </p:sp>
      <p:sp>
        <p:nvSpPr>
          <p:cNvPr id="8" name="hub-card-2"/>
          <p:cNvSpPr/>
          <p:nvPr/>
        </p:nvSpPr>
        <p:spPr>
          <a:xfrm>
            <a:off x="2798064" y="1691640"/>
            <a:ext cx="2066544" cy="36118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26664" y="18745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u="sng" dirty="0">
                <a:solidFill>
                  <a:schemeClr val="accent1"/>
                </a:solidFill>
                <a:hlinkClick r:id="rId3" action="ppaction://hlinksldjump" tooltip="내신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29718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chemeClr val="tx1"/>
                </a:solidFill>
                <a:hlinkClick r:id="rId4" action="ppaction://hlinksldjump" tooltip="내신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내신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026664" y="3749040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1등급은 입장권, 서술형은 문법이 채점 기준입니다</a:t>
            </a:r>
            <a:endParaRPr lang="en-US" sz="1300" dirty="0"/>
          </a:p>
        </p:txBody>
      </p:sp>
      <p:sp>
        <p:nvSpPr>
          <p:cNvPr id="12" name="hub-card-3"/>
          <p:cNvSpPr/>
          <p:nvPr/>
        </p:nvSpPr>
        <p:spPr>
          <a:xfrm>
            <a:off x="5047488" y="1691640"/>
            <a:ext cx="2066544" cy="36118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76088" y="18745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u="sng" dirty="0">
                <a:solidFill>
                  <a:schemeClr val="accent1"/>
                </a:solidFill>
                <a:hlinkClick r:id="rId5" action="ppaction://hlinksldjump" tooltip="입시제도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29718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chemeClr val="tx1"/>
                </a:solidFill>
                <a:hlinkClick r:id="rId6" action="ppaction://hlinksldjump" tooltip="입시제도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입시제도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276088" y="3749040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확정된 것과 논의 중인 것을 나눠서 들으시면 됩니다</a:t>
            </a:r>
            <a:endParaRPr lang="en-US" sz="1300" dirty="0"/>
          </a:p>
        </p:txBody>
      </p:sp>
      <p:sp>
        <p:nvSpPr>
          <p:cNvPr id="16" name="hub-card-4"/>
          <p:cNvSpPr/>
          <p:nvPr/>
        </p:nvSpPr>
        <p:spPr>
          <a:xfrm>
            <a:off x="7296912" y="1691640"/>
            <a:ext cx="2066544" cy="36118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25512" y="18745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u="sng" dirty="0">
                <a:solidFill>
                  <a:schemeClr val="accent1"/>
                </a:solidFill>
                <a:hlinkClick r:id="rId7" action="ppaction://hlinksldjump" tooltip="고교 선택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29718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chemeClr val="tx1"/>
                </a:solidFill>
                <a:hlinkClick r:id="rId8" action="ppaction://hlinksldjump" tooltip="고교 선택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고교 선택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25512" y="3749040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학교알리미의 숫자 네 가지로 판단하실 수 있습니다</a:t>
            </a:r>
            <a:endParaRPr lang="en-US" sz="1300" dirty="0"/>
          </a:p>
        </p:txBody>
      </p:sp>
      <p:sp>
        <p:nvSpPr>
          <p:cNvPr id="20" name="hub-card-5"/>
          <p:cNvSpPr/>
          <p:nvPr/>
        </p:nvSpPr>
        <p:spPr>
          <a:xfrm>
            <a:off x="9546336" y="1691640"/>
            <a:ext cx="2066544" cy="3611880"/>
          </a:xfrm>
          <a:prstGeom prst="roundRect">
            <a:avLst>
              <a:gd name="adj" fmla="val 354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74936" y="1874520"/>
            <a:ext cx="1609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u="sng" dirty="0">
                <a:solidFill>
                  <a:schemeClr val="accent1"/>
                </a:solidFill>
                <a:hlinkClick r:id="rId9" action="ppaction://hlinksldjump" tooltip="아이의 학습 태도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60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297180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u="sng" dirty="0">
                <a:solidFill>
                  <a:schemeClr val="tx1"/>
                </a:solidFill>
                <a:hlinkClick r:id="rId10" action="ppaction://hlinksldjump" tooltip="아이의 학습 태도 설명으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학습 태도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774936" y="3749040"/>
            <a:ext cx="16093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태도는 기록으로 남고, 습관은 매일의 반복이 만듭니다</a:t>
            </a:r>
            <a:endParaRPr lang="en-US" sz="1300" dirty="0"/>
          </a:p>
        </p:txBody>
      </p:sp>
      <p:sp>
        <p:nvSpPr>
          <p:cNvPr id="24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어느 번호부터 시작해도 됩니다 — 각 설명은 따로 떼어 보셔도 완결됩니다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ber"/>
          <p:cNvSpPr/>
          <p:nvPr/>
        </p:nvSpPr>
        <p:spPr>
          <a:xfrm>
            <a:off x="822960" y="1417320"/>
            <a:ext cx="2743200" cy="274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1</a:t>
            </a:r>
            <a:endParaRPr lang="en-US" sz="13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023360" y="1965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영어 실력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</a:rPr>
              <a:t>“우리 아이 영어, 지금 이대로 괜찮을까요?”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3360" y="3977640"/>
            <a:ext cx="75895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오늘의 답 — 영어는 중3까지 고3 수준을 끝내 놓는 과목입니다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영어 실력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수능 영어 1등급은 목표가 아니라 기본값입니다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90점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이상이면 1등급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다른 아이와 비교하지 않는 절대평가. 정원이 없어 반 전원이 1등급을 받을 수도 있습니다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05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4860" y="19202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18~19%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4594860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2027학년도 9월 모평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94860" y="33832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영어 1등급 예상 비율. 남들이 다 받는 것을 못 받으면 그것이 곧 감점입니다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chemeClr val="accent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9202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3%대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9718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지난해 1등급 비율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3832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난이도가 시험마다 크게 출렁입니다. 90점을 목표로 하면 어려운 해에 2등급이 됩니다</a:t>
            </a:r>
            <a:endParaRPr lang="en-US" sz="1400" dirty="0"/>
          </a:p>
        </p:txBody>
      </p:sp>
      <p:sp>
        <p:nvSpPr>
          <p:cNvPr id="18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그래서 저희 목표는 90점이 아니라 96점입니다 — 서울대는 의대 면접에서도 영어 지문을 씁니다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영어 실력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중1에 시작하면 중3에 고3 듣기를 풉니다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1" action="ppaction://hlinksldjump" tooltip="목록 슬라이드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다섯 가지 목록으로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45920" cy="26517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1년차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어휘·문장 반복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91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Class Card 매일 단어·듣기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1691640"/>
            <a:ext cx="1645920" cy="26517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6032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2년차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423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중1~3 교육청 듣기평가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3291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Grammar TAPA + THE CLIP 독해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691640"/>
            <a:ext cx="1645920" cy="265176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3년차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389120" y="2423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고2 모의고사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3291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고2 교육청 듣기평가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1645920" cy="2651760"/>
          </a:xfrm>
          <a:prstGeom prst="roundRect">
            <a:avLst>
              <a:gd name="adj" fmla="val 4444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1874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4년차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42316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고3 모의고사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2918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고3 교육청 듣기평가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720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수업 운영 — 주 3일 · 하루 135분 (3교시 × 45분) · 원어민 Writing/Speaking 주 1회 포함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16916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1M-A 반 (고1) 1년 변화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2148840"/>
          <a:ext cx="35204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4차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2등급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 txBox="1"/>
          <p:nvPr/>
        </p:nvSpPr>
        <p:spPr>
          <a:xfrm>
            <a:off x="8092440" y="43434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 학생: 51점 → 86점 (+35점)</a:t>
            </a:r>
            <a:endParaRPr lang="en-US" sz="1300" dirty="0"/>
          </a:p>
        </p:txBody>
      </p:sp>
      <p:sp>
        <p:nvSpPr>
          <p:cNvPr id="27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고3에 영어를 붙들고 있지 않게 하는 것 — 중등에게 해 줄 수 있는 가장 큰 일입니다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ber"/>
          <p:cNvSpPr/>
          <p:nvPr/>
        </p:nvSpPr>
        <p:spPr>
          <a:xfrm>
            <a:off x="822960" y="1417320"/>
            <a:ext cx="2743200" cy="274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2</a:t>
            </a:r>
            <a:endParaRPr lang="en-US" sz="13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023360" y="1965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내신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</a:rPr>
              <a:t>“중학교 시험, 서술형이 너무 어렵다는데요?”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3360" y="3977640"/>
            <a:ext cx="75895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오늘의 답 — 1등급은 입장권, 서술형은 문법이 채점 기준입니다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내신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고교 내신 1등급은 이제 ‘입장권’입니다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9등급제 1등급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지금까지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3931920" y="1691640"/>
            <a:ext cx="274320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1920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10%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971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5등급제 1등급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383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2028 개편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고1부터 적용 중 (확정)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86600" y="1737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99248" y="171907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1등급끼리는 등급으로 구분되지 않습니다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99248" y="212140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열 명 중 한 명이 1등급 — 대학은 세특과 학생부를 읽습니다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86600" y="2926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866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699248" y="290779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절대평가 성취도와 등급을 함께 표기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699248" y="331012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90점 이상 A + 석차등급이 성적표에 함께 찍힙니다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86600" y="41148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866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699248" y="409651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논·서술형 평가 확대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699248" y="4498848"/>
            <a:ext cx="3913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고교 내신은 이미 서·논술형이 최대 40%까지 반영</a:t>
            </a:r>
            <a:endParaRPr lang="en-US" sz="1300" dirty="0"/>
          </a:p>
        </p:txBody>
      </p:sp>
      <p:sp>
        <p:nvSpPr>
          <p:cNvPr id="28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1등급 안에 드는 것은 똑같이 중요합니다 — 달라진 것은 1등급을 받은 그 다음입니다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내신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중학교 서술형 40% — 문법이 채점 기준입니다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1" action="ppaction://hlinksldjump" tooltip="목록 슬라이드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다섯 가지 목록으로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3611880"/>
          </a:xfrm>
          <a:prstGeom prst="roundRect">
            <a:avLst>
              <a:gd name="adj" fmla="val 2025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실제 중학교 수행평가 채점 기준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15문장 이상 — 10~14문장 1점, 9문장 이하 2점 감점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필수 문법: as ~ as, 관계대명사, 의문사+to부정사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필수 어휘: 이유·순서를 나타내는 접속사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표현·철자 오류 3~4개 1점, 5~10개 2점 감점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2514600" cy="3611880"/>
          </a:xfrm>
          <a:prstGeom prst="roundRect">
            <a:avLst>
              <a:gd name="adj" fmla="val 2909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20240"/>
            <a:ext cx="1965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67%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9718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2학기 중간고사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383280"/>
            <a:ext cx="1965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중등부 영어 90점 이상 학생 비중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0" y="17373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068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Grammar TAPA 3단계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0" y="21214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중1~중3 문법, 약 3,350문항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2926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068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9077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쎄듀 『쓰작』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0" y="331012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문법·작문으로 서술형 연습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411480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068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0" y="40965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 20%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0" y="449884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읽은 것을 자기 말로 다시 쓰기</a:t>
            </a:r>
            <a:endParaRPr lang="en-US" sz="1200" dirty="0"/>
          </a:p>
        </p:txBody>
      </p:sp>
      <p:sp>
        <p:nvSpPr>
          <p:cNvPr id="26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제도가 서·논술형으로 간다고 말씀드렸죠 — 이미 중학교 시험지에 와 있습니다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ber"/>
          <p:cNvSpPr/>
          <p:nvPr/>
        </p:nvSpPr>
        <p:spPr>
          <a:xfrm>
            <a:off x="822960" y="1417320"/>
            <a:ext cx="2743200" cy="274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3</a:t>
            </a:r>
            <a:endParaRPr lang="en-US" sz="13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023360" y="1965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입시제도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</a:rPr>
              <a:t>“제도가 계속 바뀐다는데 무엇을 믿어야 하나요?”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3360" y="3977640"/>
            <a:ext cx="75895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오늘의 답 — 확정된 것과 논의 중인 것을 나눠서 들으시면 됩니다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입시제도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우리 아이는 몇 학년도 대입일까요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651760"/>
                <a:gridCol w="3474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지금(2026년) 학년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고1 입학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대학 입시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적용 제도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 3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2030학년도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6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 개편 (확정)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 2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2031학년도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D6A5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 개편 (확정)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 1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2032학년도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9A6B0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 개편 · 변경 가능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 6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2030년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2033학년도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9A6B0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제도 (논의 중)</a:t>
                      </a:r>
                      <a:endParaRPr lang="en-US" sz="1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709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계산법 — 고1이 되는 해 + 3 = 대입 학년도 (수능 보는 해의 다음 해)</a:t>
            </a:r>
            <a:endParaRPr lang="en-US" sz="1500" dirty="0"/>
          </a:p>
        </p:txBody>
      </p:sp>
      <p:sp>
        <p:nvSpPr>
          <p:cNvPr id="8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표에서 우리 아이 줄을 먼저 찾아 주세요 — 그래야 오늘 이야기가 내 이야기가 됩니다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입시제도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확정된 것과 논의 중인 것을 나눠 들으세요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2028 개편 · 확정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2023년 12월 확정 · 지금 고2가 첫 세대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432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수능 선택과목 폐지 — 모두 같은 시험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고교 내신 9등급 → 5등급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고교학점제 전면 시행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chemeClr val="accent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2033 개편 · 검토 중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286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국가교육위원회 논의 · 2027년 3월 확정 예정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4320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수능 전 과목 절대평가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수능에 서·논술형 문항 도입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수시·정시 시기 통합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어느 쪽이 되든 남는 것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9377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① 서·논술형은 방향으로 굳어짐   ② 절대평가 확대   ③ 변별은 학생부·대학별고사로 옮겨감</a:t>
            </a:r>
            <a:endParaRPr lang="en-US" sz="1500" dirty="0"/>
          </a:p>
        </p:txBody>
      </p:sp>
      <p:sp>
        <p:nvSpPr>
          <p:cNvPr id="16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제도를 쫓아가면 늘 늦습니다 — 어떤 제도가 와도 통하는 ‘읽고 쓰는 힘’을 쌓아야 합니다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입시제도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수시가 80%, 우리 지역은 지역인재전형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1" action="ppaction://hlinksldjump" tooltip="목록 슬라이드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다섯 가지 목록으로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80.8%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수시 모집 비율 (정시 19.2%)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정시만 보는 전략은 5명 중 1명의 문을 두드리는 것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3949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1920240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61.3%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718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비수도권 의·치·한·약 지역인재 선발 비율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2027학년도 기준 · 호남권 956명, 전국 권역 중 최다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accent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2028학년도부터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고등학교뿐 아니라 중학교도 비수도권 졸업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이어야 지역인재 자격이 생깁니다. 지금 중1~중3은 전원 적용 — 광주에서 중·고 6년을 다니면 자격이 생기고, 그 사이 수도권으로 옮기면 사라집니다.</a:t>
            </a:r>
            <a:endParaRPr lang="en-US" sz="1500" dirty="0"/>
          </a:p>
        </p:txBody>
      </p:sp>
      <p:sp>
        <p:nvSpPr>
          <p:cNvPr id="17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수시의 핵심은 내신과 학생부 — 중등 3년이 그 준비 기간입니다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ber"/>
          <p:cNvSpPr/>
          <p:nvPr/>
        </p:nvSpPr>
        <p:spPr>
          <a:xfrm>
            <a:off x="822960" y="1417320"/>
            <a:ext cx="2743200" cy="274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4</a:t>
            </a:r>
            <a:endParaRPr lang="en-US" sz="13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023360" y="1965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고교 선택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</a:rPr>
              <a:t>“어느 고등학교에 보내야 할까요?”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3360" y="3977640"/>
            <a:ext cx="75895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오늘의 답 — 학교알리미의 숫자 네 가지로 판단하실 수 있습니다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고교 선택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고교학점제 — 고1 공통영어가 기준선입니다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공통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공통영어 1·2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모든 학생 · 주로 고1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60420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9020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일반선택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589020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영어 Ⅰ·Ⅱ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영어 독해와 작문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89020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수능 범위가 여기까지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0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진로선택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심화 영어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영미문학읽기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영어발표와 토론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진로에 맞춘 심화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83980" y="1691640"/>
            <a:ext cx="2606040" cy="274320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212580" y="1874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융합선택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212580" y="2468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실생활 영어 회화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미디어 영어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212580" y="38862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석차등급 없음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01D"/>
                </a:solidFill>
              </a:rPr>
              <a:t>졸업 조건이 바뀌었습니다 —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출석에 더해 과목별 출석률·성취율 기준을 넘어야 학점이 나오고, 모자라면 미이수입니다.</a:t>
            </a:r>
            <a:endParaRPr lang="en-US" sz="1500" dirty="0"/>
          </a:p>
        </p:txBody>
      </p:sp>
      <p:sp>
        <p:nvSpPr>
          <p:cNvPr id="23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공통영어를 못 따라가면 그 위 과목을 고를 수 없습니다 — 선택의 폭은 중등 실력이 정합니다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고교 선택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학교알리미로 고등학교를 보는 네 가지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1" action="ppaction://hlinksldjump" tooltip="목록 슬라이드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다섯 가지 목록으로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673352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과목별 A 비율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61288" y="2075688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학업성취 현황에서 영어·수학 A 비율 확인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06040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표준편차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" y="3008376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일반고 20~22 · 특목·자사고 10~15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538728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특색사업 · 방과후학교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3941064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대학이 고등학교를 평가할 때 참고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" y="4471416"/>
            <a:ext cx="4507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창체 동아리 현황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" y="4873752"/>
            <a:ext cx="4507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자율동아리는 대입에 제공되지 않음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1691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1학년 1학기 영어 — 같은 지역 두 학교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48840"/>
          <a:ext cx="55778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1097280"/>
                <a:gridCol w="1005840"/>
                <a:gridCol w="1005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표준편차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6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○○일반고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62.3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24.5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16.4%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A6B0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43.9%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○○국제고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70.9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A6B0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16.2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14.4%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3201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25.2%</a:t>
                      </a:r>
                      <a:endParaRPr lang="en-US" sz="15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6035040" y="38404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국제고는 상위권이 몰려 내신 경쟁이 치열하고, 일반고는 중간층이 얇아 상위권끼리 경쟁합니다.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accent6"/>
                </a:solidFill>
              </a:rPr>
              <a:t>어느 쪽이든 영어 A는 중등에서 이미 실력이 있어야 받습니다.</a:t>
            </a:r>
            <a:endParaRPr lang="en-US" sz="1400" dirty="0"/>
          </a:p>
        </p:txBody>
      </p:sp>
      <p:sp>
        <p:nvSpPr>
          <p:cNvPr id="26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학교알리미는 누구나 볼 수 있습니다 — 원서 쓰기 전에 꼭 숫자로 확인하세요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-number"/>
          <p:cNvSpPr/>
          <p:nvPr/>
        </p:nvSpPr>
        <p:spPr>
          <a:xfrm>
            <a:off x="822960" y="1417320"/>
            <a:ext cx="2743200" cy="274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5</a:t>
            </a:r>
            <a:endParaRPr lang="en-US" sz="130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4023360" y="19659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아이의 학습 태도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3108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3"/>
                </a:solidFill>
              </a:rPr>
              <a:t>“아이가 스스로 공부하지 않아요”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023360" y="3977640"/>
            <a:ext cx="75895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3977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오늘의 답 — 태도는 기록으로 남고, 습관은 매일의 반복이 만듭니다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DEDE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아이의 학습 태도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태도는 기록으로 남고, 기록이 입시가 됩니다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3611880"/>
          </a:xfrm>
          <a:prstGeom prst="roundRect">
            <a:avLst>
              <a:gd name="adj" fmla="val 2078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출결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미인정 지각·조퇴·결과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3회 = 결석 1일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가장 기본입니다. 학생부 인성 항목의 출발점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0540" y="1691640"/>
            <a:ext cx="3520440" cy="36118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48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수업 태도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486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세부능력 및 특기사항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과목별 500자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94860" y="3977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수업 참여도, 과제 집착력, 자기주도학습을 선생님이 기록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691640"/>
            <a:ext cx="3520440" cy="36118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6760" y="19202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탐구 습관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56032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수업에서 궁금증 →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책을 찾아 → 추가 학습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9776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학생부 모든 항목의 뼈대가 되는 흐름</a:t>
            </a:r>
            <a:endParaRPr lang="en-US" sz="1400" dirty="0"/>
          </a:p>
        </p:txBody>
      </p:sp>
      <p:sp>
        <p:nvSpPr>
          <p:cNvPr id="18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내신 등급은 고등학교 3년이 아니라 중등 3년의 공부 습관이 만듭니다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ic-badge"/>
          <p:cNvSpPr/>
          <p:nvPr/>
        </p:nvSpPr>
        <p:spPr>
          <a:xfrm>
            <a:off x="548640" y="274320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아이의 학습 태도</a:t>
            </a:r>
            <a:endParaRPr lang="en-US" sz="14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습관은 매일 같은 것을 반복할 때 생깁니다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2743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chemeClr val="accent5"/>
                </a:solidFill>
                <a:hlinkClick r:id="rId1" action="ppaction://hlinksldjump" tooltip="목록 슬라이드로 이동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다섯 가지 목록으로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학원이 하는 것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2199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Class Card 매일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6243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단어 6단계 · 오답 자동 반복 · 진행 실시간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44952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26664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2개월마다 모의고사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429000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고1 모의고사 듣기·독해 (중1 연 5회)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49624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831336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성적 관리표 한 장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233672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모의고사·중간·기말을 원장·강사·학부모가 함께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6360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개별 상담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503834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성적 변화가 보이면 바로 연락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691640"/>
            <a:ext cx="5349240" cy="3611880"/>
          </a:xfrm>
          <a:prstGeom prst="roundRect">
            <a:avLst>
              <a:gd name="adj" fmla="val 2025"/>
            </a:avLst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가정에서 부탁드리는 세 가지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37960" y="2468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24505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출결은 무조건 지켜 주세요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28529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지각 3번이 결석 1일입니다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37960" y="3383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33649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매일 같은 시간, Class Card 확인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37673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‘했니?’ 대신 화면을 함께 봐 주세요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42976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3796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427939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진로·과목은 아이가 고르게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0" y="468172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부모가 고른 흔적은 학생부에 남습니다</a:t>
            </a:r>
            <a:endParaRPr lang="en-US" sz="1300" dirty="0"/>
          </a:p>
        </p:txBody>
      </p:sp>
      <p:sp>
        <p:nvSpPr>
          <p:cNvPr id="38" name="takeaway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한 학기 만에 바뀌지는 않습니다 — 매주 같은 것을 반복한 1년이 결과를 만듭니다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다섯 가지 걱정, 하나의 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정리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영어 실력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45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중3까지 고3 수준 — 목표는 96점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359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내신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35915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1등급은 입장권 — 서술형은 문법이 채점 기준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07238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0723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입시제도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07238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확정과 논의를 구분 — 2027년 3월 다시 안내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8561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고교 선택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78561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학교알리미 숫자 4가지 + 지역인재 자격 지키기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4988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4988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학습 태도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4988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6"/>
                </a:solidFill>
              </a:rPr>
              <a:t>출결·수업 태도가 기록이 되고, 반복이 습관을 만듦</a:t>
            </a:r>
            <a:endParaRPr lang="en-US" sz="1700" dirty="0"/>
          </a:p>
        </p:txBody>
      </p:sp>
      <p:sp>
        <p:nvSpPr>
          <p:cNvPr id="24" name="takeaway"/>
          <p:cNvSpPr/>
          <p:nvPr/>
        </p:nvSpPr>
        <p:spPr>
          <a:xfrm>
            <a:off x="548640" y="534924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지금은 바꿀 때가 아니라 쌓을 때입니다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D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감사합니다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오늘 투표하신 걱정, 우리 아이 기준으로 개별 상담해 드립니다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062-655-0594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49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오전 10시 ~ 오후 8시 30분   ·   광주 서구 풍금로177번길 9, 3층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금호 메타 영어학원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mho Meta Middle">
  <a:themeElements>
    <a:clrScheme name="Kumho Meta Middle">
      <a:dk1>
        <a:srgbClr val="13201D"/>
      </a:dk1>
      <a:lt1>
        <a:srgbClr val="FFFFFF"/>
      </a:lt1>
      <a:dk2>
        <a:srgbClr val="0A4F44"/>
      </a:dk2>
      <a:lt2>
        <a:srgbClr val="F5F7F4"/>
      </a:lt2>
      <a:accent1>
        <a:srgbClr val="0D6A5B"/>
      </a:accent1>
      <a:accent2>
        <a:srgbClr val="9A6B0F"/>
      </a:accent2>
      <a:accent3>
        <a:srgbClr val="DDEDE8"/>
      </a:accent3>
      <a:accent4>
        <a:srgbClr val="F6EBD4"/>
      </a:accent4>
      <a:accent5>
        <a:srgbClr val="6B7D77"/>
      </a:accent5>
      <a:accent6>
        <a:srgbClr val="3A4D48"/>
      </a:accent6>
      <a:hlink>
        <a:srgbClr val="0D6A5B"/>
      </a:hlink>
      <a:folHlink>
        <a:srgbClr val="0A4F44"/>
      </a:folHlink>
    </a:clrScheme>
    <a:fontScheme name="Kumho Meta Middl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중등 학부모 간담회 — 투표 5대 걱정</dc:title>
  <dc:subject>PptxGenJS Presentation</dc:subject>
  <dc:creator>금호 메타 영어학원</dc:creator>
  <cp:lastModifiedBy>금호 메타 영어학원</cp:lastModifiedBy>
  <cp:revision>1</cp:revision>
  <dcterms:created xsi:type="dcterms:W3CDTF">2026-10-26T05:34:53Z</dcterms:created>
  <dcterms:modified xsi:type="dcterms:W3CDTF">2026-10-26T05:34:53Z</dcterms:modified>
</cp:coreProperties>
</file>